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9" r:id="rId8"/>
    <p:sldId id="272" r:id="rId9"/>
    <p:sldId id="274" r:id="rId10"/>
    <p:sldId id="316" r:id="rId11"/>
    <p:sldId id="330" r:id="rId12"/>
    <p:sldId id="282" r:id="rId13"/>
    <p:sldId id="283" r:id="rId14"/>
    <p:sldId id="284" r:id="rId15"/>
    <p:sldId id="331" r:id="rId16"/>
    <p:sldId id="288" r:id="rId17"/>
    <p:sldId id="333" r:id="rId18"/>
    <p:sldId id="289" r:id="rId19"/>
    <p:sldId id="290" r:id="rId20"/>
    <p:sldId id="291" r:id="rId21"/>
    <p:sldId id="264" r:id="rId22"/>
    <p:sldId id="265" r:id="rId23"/>
    <p:sldId id="266" r:id="rId24"/>
    <p:sldId id="267" r:id="rId25"/>
    <p:sldId id="295" r:id="rId26"/>
    <p:sldId id="296" r:id="rId27"/>
    <p:sldId id="297" r:id="rId28"/>
    <p:sldId id="298" r:id="rId29"/>
    <p:sldId id="318" r:id="rId30"/>
    <p:sldId id="319" r:id="rId31"/>
    <p:sldId id="320" r:id="rId32"/>
    <p:sldId id="322" r:id="rId33"/>
    <p:sldId id="323" r:id="rId34"/>
    <p:sldId id="325" r:id="rId35"/>
    <p:sldId id="268" r:id="rId36"/>
    <p:sldId id="263" r:id="rId37"/>
    <p:sldId id="326" r:id="rId38"/>
    <p:sldId id="328" r:id="rId39"/>
    <p:sldId id="329" r:id="rId40"/>
  </p:sldIdLst>
  <p:sldSz cx="18288000" cy="10287000"/>
  <p:notesSz cx="6858000" cy="9144000"/>
  <p:embeddedFontLst>
    <p:embeddedFont>
      <p:font typeface="Gill Sans MT" panose="020B0502020104020203" pitchFamily="34" charset="0"/>
      <p:regular r:id="rId41"/>
      <p:bold r:id="rId42"/>
      <p:italic r:id="rId43"/>
      <p:boldItalic r:id="rId44"/>
    </p:embeddedFont>
    <p:embeddedFont>
      <p:font typeface="TT Rounds Condensed Italics" panose="020B0604020202020204" charset="0"/>
      <p:regular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6669" y="1203448"/>
            <a:ext cx="12955610" cy="3812147"/>
          </a:xfrm>
        </p:spPr>
        <p:txBody>
          <a:bodyPr bIns="0" anchor="b">
            <a:normAutofit/>
          </a:bodyPr>
          <a:lstStyle>
            <a:lvl1pPr algn="l">
              <a:defRPr sz="9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6670" y="5296807"/>
            <a:ext cx="12955608" cy="1466432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700" b="0" cap="all" baseline="0">
                <a:solidFill>
                  <a:schemeClr val="tx1"/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4751" y="493961"/>
            <a:ext cx="7460873" cy="463802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56497" y="1198460"/>
            <a:ext cx="1216529" cy="755367"/>
          </a:xfrm>
        </p:spPr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3626670" y="5292813"/>
            <a:ext cx="1295560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10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30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1359" y="2634195"/>
            <a:ext cx="12964731" cy="2831925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1359" y="5709293"/>
            <a:ext cx="12945669" cy="1519394"/>
          </a:xfrm>
        </p:spPr>
        <p:txBody>
          <a:bodyPr tIns="91440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81359" y="5707478"/>
            <a:ext cx="129456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47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826" y="1207334"/>
            <a:ext cx="14408453" cy="1588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0997" y="3016318"/>
            <a:ext cx="6967728" cy="5172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0657" y="3026015"/>
            <a:ext cx="6967728" cy="5162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91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787" y="1206245"/>
            <a:ext cx="14411492" cy="158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787" y="3029324"/>
            <a:ext cx="6967728" cy="120291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787" y="4236404"/>
            <a:ext cx="6967728" cy="3966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18543" y="3034505"/>
            <a:ext cx="6967728" cy="12033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18543" y="4232237"/>
            <a:ext cx="6967728" cy="3956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61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2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1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007" y="1198460"/>
            <a:ext cx="4909649" cy="33706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5571" y="1198461"/>
            <a:ext cx="9018705" cy="69882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7007" y="4808237"/>
            <a:ext cx="4912520" cy="3372272"/>
          </a:xfrm>
        </p:spPr>
        <p:txBody>
          <a:bodyPr/>
          <a:lstStyle>
            <a:lvl1pPr marL="0" indent="0" algn="l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2172420" y="4808237"/>
            <a:ext cx="49042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43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216081" y="723256"/>
            <a:ext cx="6111800" cy="7723652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809" y="1694270"/>
            <a:ext cx="8298492" cy="27458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86584" y="1683814"/>
            <a:ext cx="4186757" cy="5799491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5494" y="4718988"/>
            <a:ext cx="8286606" cy="3005613"/>
          </a:xfrm>
        </p:spPr>
        <p:txBody>
          <a:bodyPr>
            <a:normAutofit/>
          </a:bodyPr>
          <a:lstStyle>
            <a:lvl1pPr marL="0" indent="0" algn="l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71074" y="8204785"/>
            <a:ext cx="8291027" cy="480185"/>
          </a:xfrm>
        </p:spPr>
        <p:txBody>
          <a:bodyPr/>
          <a:lstStyle>
            <a:lvl1pPr algn="l">
              <a:defRPr/>
            </a:lvl1pPr>
          </a:lstStyle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1073" y="477961"/>
            <a:ext cx="8311506" cy="481397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2171074" y="4715408"/>
            <a:ext cx="829102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7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87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58667" y="1198460"/>
            <a:ext cx="2423613" cy="6989834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67008" y="1198460"/>
            <a:ext cx="11743245" cy="69898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158667" y="1198460"/>
            <a:ext cx="0" cy="6989834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7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029215"/>
            <a:ext cx="18288000" cy="615891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9189720"/>
            <a:ext cx="18288000" cy="11144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7369" y="3023599"/>
            <a:ext cx="14404913" cy="517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200">
                <a:solidFill>
                  <a:schemeClr val="accent1"/>
                </a:solidFill>
              </a:defRPr>
            </a:lvl1pPr>
          </a:lstStyle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192620"/>
            <a:ext cx="18288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80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8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7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0201" y="-248039"/>
            <a:ext cx="11358824" cy="4552204"/>
            <a:chOff x="-1484826" y="-1771530"/>
            <a:chExt cx="9837203" cy="3942394"/>
          </a:xfrm>
        </p:grpSpPr>
        <p:sp>
          <p:nvSpPr>
            <p:cNvPr id="3" name="Freeform 3"/>
            <p:cNvSpPr/>
            <p:nvPr/>
          </p:nvSpPr>
          <p:spPr>
            <a:xfrm>
              <a:off x="-1484826" y="-1771530"/>
              <a:ext cx="9606233" cy="2130497"/>
            </a:xfrm>
            <a:custGeom>
              <a:avLst/>
              <a:gdLst/>
              <a:ahLst/>
              <a:cxnLst/>
              <a:rect l="l" t="t" r="r" b="b"/>
              <a:pathLst>
                <a:path w="9606233" h="2130497">
                  <a:moveTo>
                    <a:pt x="0" y="0"/>
                  </a:moveTo>
                  <a:lnTo>
                    <a:pt x="9606233" y="0"/>
                  </a:lnTo>
                  <a:lnTo>
                    <a:pt x="9606233" y="2130497"/>
                  </a:lnTo>
                  <a:lnTo>
                    <a:pt x="0" y="2130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8340" r="-16764" b="-4682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088875" y="126085"/>
              <a:ext cx="9441252" cy="20447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887"/>
                </a:lnSpc>
              </a:pPr>
              <a:r>
                <a:rPr lang="en-US" sz="8000" i="1" spc="-43" dirty="0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Hospital Management </a:t>
              </a:r>
              <a:r>
                <a:rPr lang="en-US" sz="8000" i="1" spc="-44" dirty="0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System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0" y="5960354"/>
            <a:ext cx="3476448" cy="29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3549" i="1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Akash</a:t>
            </a:r>
          </a:p>
          <a:p>
            <a:pPr algn="just">
              <a:lnSpc>
                <a:spcPts val="3833"/>
              </a:lnSpc>
            </a:pPr>
            <a:r>
              <a:rPr lang="en-US" sz="3549" i="1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Ashutosh</a:t>
            </a:r>
          </a:p>
          <a:p>
            <a:pPr algn="just">
              <a:lnSpc>
                <a:spcPts val="3833"/>
              </a:lnSpc>
            </a:pPr>
            <a:r>
              <a:rPr lang="en-US" sz="3549" i="1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Elzabeth </a:t>
            </a:r>
            <a:r>
              <a:rPr lang="en-US" sz="3549" i="1" spc="-21" dirty="0" err="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Lalson</a:t>
            </a:r>
            <a:endParaRPr lang="en-US" sz="3549" i="1" spc="-21" dirty="0">
              <a:solidFill>
                <a:srgbClr val="000000"/>
              </a:solidFill>
              <a:latin typeface="TT Rounds Condensed Italics"/>
              <a:ea typeface="TT Rounds Condensed Italics"/>
              <a:cs typeface="TT Rounds Condensed Italics"/>
              <a:sym typeface="TT Rounds Condensed Italics"/>
            </a:endParaRPr>
          </a:p>
          <a:p>
            <a:pPr algn="just">
              <a:lnSpc>
                <a:spcPts val="3833"/>
              </a:lnSpc>
            </a:pPr>
            <a:r>
              <a:rPr lang="en-US" sz="3549" i="1" spc="-21" dirty="0" err="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Dhannigasree</a:t>
            </a:r>
            <a:endParaRPr lang="en-US" sz="3549" i="1" spc="-21" dirty="0">
              <a:solidFill>
                <a:srgbClr val="000000"/>
              </a:solidFill>
              <a:latin typeface="TT Rounds Condensed Italics"/>
              <a:ea typeface="TT Rounds Condensed Italics"/>
              <a:cs typeface="TT Rounds Condensed Italics"/>
              <a:sym typeface="TT Rounds Condensed Italics"/>
            </a:endParaRPr>
          </a:p>
          <a:p>
            <a:pPr algn="just">
              <a:lnSpc>
                <a:spcPts val="3833"/>
              </a:lnSpc>
              <a:spcBef>
                <a:spcPct val="0"/>
              </a:spcBef>
            </a:pPr>
            <a:r>
              <a:rPr lang="en-US" sz="3549" i="1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Vignesh</a:t>
            </a:r>
          </a:p>
          <a:p>
            <a:pPr algn="just">
              <a:lnSpc>
                <a:spcPts val="3833"/>
              </a:lnSpc>
              <a:spcBef>
                <a:spcPct val="0"/>
              </a:spcBef>
            </a:pPr>
            <a:r>
              <a:rPr lang="en-US" sz="3549" i="1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Suwetha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87200" y="5208984"/>
            <a:ext cx="3476448" cy="50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3549" i="1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Batch 4: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1931" y="5716701"/>
            <a:ext cx="7092563" cy="98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3549" i="1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Microservices-Based Architecture with Docker Containerization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4700" y="2147052"/>
            <a:ext cx="11953430" cy="438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64"/>
              </a:lnSpc>
              <a:spcBef>
                <a:spcPct val="0"/>
              </a:spcBef>
            </a:pPr>
            <a:r>
              <a:rPr lang="en-US" sz="6000" i="1" u="sng" spc="-33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Problem Statement</a:t>
            </a:r>
          </a:p>
          <a:p>
            <a:pPr algn="just">
              <a:lnSpc>
                <a:spcPts val="6064"/>
              </a:lnSpc>
              <a:spcBef>
                <a:spcPct val="0"/>
              </a:spcBef>
            </a:pPr>
            <a:endParaRPr lang="en-US" sz="5615" i="1" spc="-33" dirty="0">
              <a:solidFill>
                <a:srgbClr val="000000"/>
              </a:solidFill>
              <a:latin typeface="TT Rounds Condensed Italics"/>
              <a:ea typeface="TT Rounds Condensed Italics"/>
              <a:cs typeface="TT Rounds Condensed Italics"/>
              <a:sym typeface="TT Rounds Condensed Italics"/>
            </a:endParaRPr>
          </a:p>
          <a:p>
            <a:pPr marL="878457" lvl="1" indent="-439229" algn="l">
              <a:lnSpc>
                <a:spcPts val="4394"/>
              </a:lnSpc>
              <a:buFont typeface="Arial"/>
              <a:buChar char="•"/>
            </a:pPr>
            <a:r>
              <a:rPr lang="en-US" sz="4068" i="1" spc="-24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Traditional hospital systems are monolithic and tightly coupled</a:t>
            </a:r>
          </a:p>
          <a:p>
            <a:pPr marL="878457" lvl="1" indent="-439229" algn="l">
              <a:lnSpc>
                <a:spcPts val="4394"/>
              </a:lnSpc>
              <a:buFont typeface="Arial"/>
              <a:buChar char="•"/>
            </a:pPr>
            <a:r>
              <a:rPr lang="en-US" sz="4068" i="1" spc="-24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Difficult to scale, maintain, and update individual modules</a:t>
            </a:r>
          </a:p>
          <a:p>
            <a:pPr marL="878457" lvl="1" indent="-439229" algn="l">
              <a:lnSpc>
                <a:spcPts val="4394"/>
              </a:lnSpc>
              <a:buFont typeface="Arial"/>
              <a:buChar char="•"/>
            </a:pPr>
            <a:r>
              <a:rPr lang="en-US" sz="4068" i="1" spc="-24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Lack of deployment flexibility and service isolation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16957" y="1932379"/>
            <a:ext cx="11854085" cy="43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96"/>
              </a:lnSpc>
              <a:spcBef>
                <a:spcPct val="0"/>
              </a:spcBef>
            </a:pPr>
            <a:r>
              <a:rPr lang="en-US" sz="6600" i="1" u="sng" spc="-27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Project Objective</a:t>
            </a:r>
          </a:p>
          <a:p>
            <a:pPr algn="ctr">
              <a:lnSpc>
                <a:spcPts val="4896"/>
              </a:lnSpc>
              <a:spcBef>
                <a:spcPct val="0"/>
              </a:spcBef>
            </a:pPr>
            <a:endParaRPr lang="en-US" sz="4533" i="1" spc="-27" dirty="0">
              <a:solidFill>
                <a:srgbClr val="000000"/>
              </a:solidFill>
              <a:latin typeface="TT Rounds Condensed Italics"/>
              <a:ea typeface="TT Rounds Condensed Italics"/>
              <a:cs typeface="TT Rounds Condensed Italics"/>
              <a:sym typeface="TT Rounds Condensed Italics"/>
            </a:endParaRPr>
          </a:p>
          <a:p>
            <a:pPr algn="just">
              <a:lnSpc>
                <a:spcPts val="4136"/>
              </a:lnSpc>
              <a:spcBef>
                <a:spcPct val="0"/>
              </a:spcBef>
            </a:pPr>
            <a:r>
              <a:rPr lang="en-US" sz="3830" i="1" spc="-22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To design and implement a containerized microservices-based Hospital Management System where each core functionality (users, patients, doctors, vitals, registration, admin) runs as an independent service, enabling scalability, isolation, maintainability, and simplified deployment using Docker.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4615" y="723900"/>
            <a:ext cx="7918769" cy="931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6600" i="1" u="sng" spc="-40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6DCE8-1B4D-AF93-6059-8C2825B60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171700"/>
            <a:ext cx="16002000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4700" y="1104900"/>
            <a:ext cx="5393438" cy="187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740" i="1" u="sng" spc="-40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Microservices</a:t>
            </a:r>
          </a:p>
          <a:p>
            <a:pPr algn="ctr">
              <a:lnSpc>
                <a:spcPts val="7279"/>
              </a:lnSpc>
              <a:spcBef>
                <a:spcPct val="0"/>
              </a:spcBef>
            </a:pPr>
            <a:endParaRPr lang="en-US" sz="6740" i="1" spc="-40" dirty="0">
              <a:solidFill>
                <a:srgbClr val="000000"/>
              </a:solidFill>
              <a:latin typeface="TT Rounds Condensed Italics"/>
              <a:ea typeface="TT Rounds Condensed Italics"/>
              <a:cs typeface="TT Rounds Condensed Italics"/>
              <a:sym typeface="TT Rounds Condensed Itali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98764" y="2922698"/>
            <a:ext cx="8311725" cy="54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>
              <a:lnSpc>
                <a:spcPts val="712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5193" i="1" spc="-3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Registration-service</a:t>
            </a:r>
          </a:p>
          <a:p>
            <a:pPr marL="685800" indent="-685800">
              <a:lnSpc>
                <a:spcPts val="712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5193" i="1" spc="-3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Admin-service</a:t>
            </a:r>
          </a:p>
          <a:p>
            <a:pPr marL="685800" indent="-685800">
              <a:lnSpc>
                <a:spcPts val="712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5193" i="1" spc="-3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Patient-service</a:t>
            </a:r>
          </a:p>
          <a:p>
            <a:pPr marL="685800" indent="-685800">
              <a:lnSpc>
                <a:spcPts val="712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5193" i="1" spc="-3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Doctor-service</a:t>
            </a:r>
          </a:p>
          <a:p>
            <a:pPr marL="685800" indent="-685800">
              <a:lnSpc>
                <a:spcPts val="712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5193" i="1" spc="-3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User-service</a:t>
            </a:r>
          </a:p>
          <a:p>
            <a:pPr marL="685800" indent="-685800">
              <a:lnSpc>
                <a:spcPts val="712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5193" i="1" spc="-3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Vital-signs-service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1042399705"/>
              </p:ext>
            </p:extLst>
          </p:nvPr>
        </p:nvGraphicFramePr>
        <p:xfrm>
          <a:off x="1143000" y="777473"/>
          <a:ext cx="14325600" cy="8593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81800" imgH="6781800" progId="Excel.Sheet.12">
                  <p:embed/>
                </p:oleObj>
              </mc:Choice>
              <mc:Fallback>
                <p:oleObj name="Worksheet" r:id="rId2" imgW="6781800" imgH="6781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0" y="777473"/>
                        <a:ext cx="14325600" cy="8593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2133600" y="777473"/>
            <a:ext cx="2446697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4800" i="1" u="sng" spc="-21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369" y="1028700"/>
            <a:ext cx="14404913" cy="1573853"/>
          </a:xfrm>
        </p:spPr>
        <p:txBody>
          <a:bodyPr/>
          <a:lstStyle/>
          <a:p>
            <a:r>
              <a:rPr i="1" u="sng" dirty="0"/>
              <a:t>Registration Service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500" dirty="0"/>
              <a:t>Hospital Management System</a:t>
            </a:r>
          </a:p>
          <a:p>
            <a:r>
              <a:rPr sz="4500" dirty="0"/>
              <a:t>Port: 3004</a:t>
            </a:r>
          </a:p>
          <a:p>
            <a:r>
              <a:rPr sz="4500" dirty="0"/>
              <a:t>Handles patient registration and links patients with doctors.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sz="4000" dirty="0"/>
              <a:t>Register patient to doctor</a:t>
            </a:r>
          </a:p>
          <a:p>
            <a:r>
              <a:rPr sz="4000" dirty="0"/>
              <a:t>- Store registration details</a:t>
            </a:r>
          </a:p>
          <a:p>
            <a:r>
              <a:rPr sz="4000" dirty="0"/>
              <a:t>- Validate patient information</a:t>
            </a:r>
          </a:p>
          <a:p>
            <a:r>
              <a:rPr sz="4000" dirty="0"/>
              <a:t>- Retrieve registration records</a:t>
            </a:r>
          </a:p>
          <a:p>
            <a:r>
              <a:rPr sz="4000" dirty="0"/>
              <a:t>- Manage doctor–patient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369" y="1206779"/>
            <a:ext cx="14404913" cy="1117321"/>
          </a:xfrm>
        </p:spPr>
        <p:txBody>
          <a:bodyPr/>
          <a:lstStyle/>
          <a:p>
            <a:r>
              <a:rPr i="1" u="sng" dirty="0" err="1"/>
              <a:t>Dockerfile</a:t>
            </a:r>
            <a:r>
              <a:rPr i="1" u="sng" dirty="0"/>
              <a:t>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1" y="3086099"/>
            <a:ext cx="14524882" cy="511341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FROM node:18-alpine</a:t>
            </a:r>
          </a:p>
          <a:p>
            <a:r>
              <a:rPr lang="en-IN" dirty="0"/>
              <a:t>WORKDIR /app</a:t>
            </a:r>
          </a:p>
          <a:p>
            <a:r>
              <a:rPr lang="en-IN" dirty="0"/>
              <a:t>RUN </a:t>
            </a:r>
            <a:r>
              <a:rPr lang="en-IN" dirty="0" err="1"/>
              <a:t>apk</a:t>
            </a:r>
            <a:r>
              <a:rPr lang="en-IN" dirty="0"/>
              <a:t> add --no-cache </a:t>
            </a:r>
            <a:r>
              <a:rPr lang="en-IN" dirty="0" err="1"/>
              <a:t>netcat-openbsd</a:t>
            </a:r>
            <a:endParaRPr lang="en-IN" dirty="0"/>
          </a:p>
          <a:p>
            <a:r>
              <a:rPr lang="en-IN" dirty="0"/>
              <a:t>COPY </a:t>
            </a:r>
            <a:r>
              <a:rPr lang="en-IN" dirty="0" err="1"/>
              <a:t>package.json</a:t>
            </a:r>
            <a:r>
              <a:rPr lang="en-IN" dirty="0"/>
              <a:t> ./</a:t>
            </a:r>
          </a:p>
          <a:p>
            <a:r>
              <a:rPr lang="en-IN" dirty="0"/>
              <a:t>RUN </a:t>
            </a:r>
            <a:r>
              <a:rPr lang="en-IN" dirty="0" err="1"/>
              <a:t>npm</a:t>
            </a:r>
            <a:r>
              <a:rPr lang="en-IN" dirty="0"/>
              <a:t> install --production</a:t>
            </a:r>
          </a:p>
          <a:p>
            <a:r>
              <a:rPr lang="en-IN" dirty="0"/>
              <a:t>COPY . .</a:t>
            </a:r>
          </a:p>
          <a:p>
            <a:r>
              <a:rPr lang="en-IN" dirty="0"/>
              <a:t>EXPOSE 3004</a:t>
            </a:r>
          </a:p>
          <a:p>
            <a:r>
              <a:rPr lang="en-IN" dirty="0"/>
              <a:t>CMD </a:t>
            </a:r>
            <a:r>
              <a:rPr lang="en-IN" dirty="0" err="1"/>
              <a:t>sh</a:t>
            </a:r>
            <a:r>
              <a:rPr lang="en-IN" dirty="0"/>
              <a:t> -c 'while ! </a:t>
            </a:r>
            <a:r>
              <a:rPr lang="en-IN" dirty="0" err="1"/>
              <a:t>nc</a:t>
            </a:r>
            <a:r>
              <a:rPr lang="en-IN" dirty="0"/>
              <a:t> -z </a:t>
            </a:r>
            <a:r>
              <a:rPr lang="en-IN" dirty="0" err="1"/>
              <a:t>mysql</a:t>
            </a:r>
            <a:r>
              <a:rPr lang="en-IN" dirty="0"/>
              <a:t> 3306; do sleep 1; done; node app.js'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78DA-FB5B-E456-F3E3-DCE76B27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43100"/>
            <a:ext cx="14404913" cy="1573853"/>
          </a:xfrm>
        </p:spPr>
        <p:txBody>
          <a:bodyPr/>
          <a:lstStyle/>
          <a:p>
            <a:r>
              <a:rPr lang="en-US" dirty="0"/>
              <a:t>Docker-</a:t>
            </a:r>
            <a:r>
              <a:rPr lang="en-US" dirty="0" err="1"/>
              <a:t>compose.yaml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FA87F-1A99-9134-9286-22DBF07A3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0" y="495300"/>
            <a:ext cx="11315700" cy="6629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registration-service: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build: ./services/registration-service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</a:t>
            </a:r>
            <a:r>
              <a:rPr lang="en-IN" sz="2600" dirty="0" err="1"/>
              <a:t>container_name</a:t>
            </a:r>
            <a:r>
              <a:rPr lang="en-IN" sz="2600" dirty="0"/>
              <a:t>: hospital-registration-service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restart: always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environment: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  DB_HOST: </a:t>
            </a:r>
            <a:r>
              <a:rPr lang="en-IN" sz="2600" dirty="0" err="1"/>
              <a:t>mysql</a:t>
            </a:r>
            <a:endParaRPr lang="en-IN" sz="2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  DB_USER: root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  DB_PASSWORD: ${MYSQL_ROOT_PASSWORD:-root123}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  DB_NAME: ${MYSQL_DATABASE:-</a:t>
            </a:r>
            <a:r>
              <a:rPr lang="en-IN" sz="2600" dirty="0" err="1"/>
              <a:t>hospital_db</a:t>
            </a:r>
            <a:r>
              <a:rPr lang="en-IN" sz="2600" dirty="0"/>
              <a:t>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  JWT_SECRET: ${JWT_SECRET:-hospital_management_secret_key_2024}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</a:t>
            </a:r>
            <a:r>
              <a:rPr lang="en-IN" sz="2600" dirty="0" err="1"/>
              <a:t>depends_on</a:t>
            </a:r>
            <a:r>
              <a:rPr lang="en-IN" sz="2600" dirty="0"/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  </a:t>
            </a:r>
            <a:r>
              <a:rPr lang="en-IN" sz="2600" dirty="0" err="1"/>
              <a:t>mysql</a:t>
            </a:r>
            <a:r>
              <a:rPr lang="en-IN" sz="2600" dirty="0"/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 condition: </a:t>
            </a:r>
            <a:r>
              <a:rPr lang="en-IN" sz="2600" dirty="0" err="1"/>
              <a:t>service_healthy</a:t>
            </a:r>
            <a:endParaRPr lang="en-IN" sz="2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networks: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600" dirty="0"/>
              <a:t>    - hospital-network</a:t>
            </a:r>
          </a:p>
        </p:txBody>
      </p:sp>
    </p:spTree>
    <p:extLst>
      <p:ext uri="{BB962C8B-B14F-4D97-AF65-F5344CB8AC3E}">
        <p14:creationId xmlns:p14="http://schemas.microsoft.com/office/powerpoint/2010/main" val="106691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40E6-B276-174A-6A95-368B684C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T Rounds Condensed Italics" panose="020B0604020202020204" charset="0"/>
              </a:rPr>
              <a:t>Registration page</a:t>
            </a:r>
            <a:r>
              <a:rPr lang="en-US" u="sng" dirty="0"/>
              <a:t> 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7ADA6-B429-C948-8215-DEA5EC7D8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738438"/>
            <a:ext cx="14173199" cy="6527800"/>
          </a:xfrm>
        </p:spPr>
      </p:pic>
    </p:spTree>
    <p:extLst>
      <p:ext uri="{BB962C8B-B14F-4D97-AF65-F5344CB8AC3E}">
        <p14:creationId xmlns:p14="http://schemas.microsoft.com/office/powerpoint/2010/main" val="235292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TT Rounds Condensed Italics" panose="020B0604020202020204" charset="0"/>
              </a:rPr>
              <a:t>Admin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3009900"/>
            <a:ext cx="15773400" cy="6374607"/>
          </a:xfrm>
        </p:spPr>
        <p:txBody>
          <a:bodyPr/>
          <a:lstStyle/>
          <a:p>
            <a:pPr marL="0" indent="0">
              <a:buNone/>
            </a:pPr>
            <a:r>
              <a:rPr dirty="0">
                <a:latin typeface="TT Rounds Condensed Italics" panose="020B0604020202020204" charset="0"/>
              </a:rPr>
              <a:t>• Technology Stack: Node.js, Express.js, MySQL, Docker</a:t>
            </a:r>
          </a:p>
          <a:p>
            <a:pPr marL="0" indent="0">
              <a:buNone/>
            </a:pPr>
            <a:r>
              <a:rPr dirty="0">
                <a:latin typeface="TT Rounds Condensed Italics" panose="020B0604020202020204" charset="0"/>
              </a:rPr>
              <a:t>• Runs on Port: 3006</a:t>
            </a:r>
          </a:p>
          <a:p>
            <a:pPr marL="0" indent="0">
              <a:buNone/>
            </a:pPr>
            <a:r>
              <a:rPr dirty="0">
                <a:latin typeface="TT Rounds Condensed Italics" panose="020B0604020202020204" charset="0"/>
              </a:rPr>
              <a:t>• Handles administrative operations</a:t>
            </a:r>
          </a:p>
          <a:p>
            <a:pPr marL="0" indent="0">
              <a:buNone/>
            </a:pPr>
            <a:r>
              <a:rPr dirty="0">
                <a:latin typeface="TT Rounds Condensed Italics" panose="020B0604020202020204" charset="0"/>
              </a:rPr>
              <a:t>• Aggregates data from hospital services</a:t>
            </a:r>
          </a:p>
          <a:p>
            <a:pPr marL="0" indent="0">
              <a:buNone/>
            </a:pPr>
            <a:r>
              <a:rPr dirty="0">
                <a:latin typeface="TT Rounds Condensed Italics" panose="020B0604020202020204" charset="0"/>
              </a:rPr>
              <a:t>• Provides dashboard statistics</a:t>
            </a:r>
          </a:p>
          <a:p>
            <a:pPr marL="0" indent="0">
              <a:buNone/>
            </a:pPr>
            <a:r>
              <a:rPr dirty="0">
                <a:latin typeface="TT Rounds Condensed Italics" panose="020B0604020202020204" charset="0"/>
              </a:rPr>
              <a:t>• Uses JWT authentication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369" y="1206780"/>
            <a:ext cx="14404913" cy="1340142"/>
          </a:xfrm>
        </p:spPr>
        <p:txBody>
          <a:bodyPr/>
          <a:lstStyle/>
          <a:p>
            <a:r>
              <a:rPr u="sng" dirty="0" err="1">
                <a:latin typeface="TT Rounds Condensed Italics" panose="020B0604020202020204" charset="0"/>
              </a:rPr>
              <a:t>Dockerfile</a:t>
            </a:r>
            <a:r>
              <a:rPr u="sng" dirty="0">
                <a:latin typeface="TT Rounds Condensed Italics" panose="020B0604020202020204" charset="0"/>
              </a:rPr>
              <a:t> – Admin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933700"/>
            <a:ext cx="15773400" cy="6140228"/>
          </a:xfrm>
        </p:spPr>
        <p:txBody>
          <a:bodyPr/>
          <a:lstStyle/>
          <a:p>
            <a:r>
              <a:rPr dirty="0">
                <a:latin typeface="TT Rounds Condensed Italics" panose="020B0604020202020204" charset="0"/>
              </a:rPr>
              <a:t>FROM node:18-alpine</a:t>
            </a:r>
          </a:p>
          <a:p>
            <a:r>
              <a:rPr dirty="0">
                <a:latin typeface="TT Rounds Condensed Italics" panose="020B0604020202020204" charset="0"/>
              </a:rPr>
              <a:t>WORKDIR /app</a:t>
            </a:r>
          </a:p>
          <a:p>
            <a:r>
              <a:rPr dirty="0">
                <a:latin typeface="TT Rounds Condensed Italics" panose="020B0604020202020204" charset="0"/>
              </a:rPr>
              <a:t>RUN </a:t>
            </a:r>
            <a:r>
              <a:rPr dirty="0" err="1">
                <a:latin typeface="TT Rounds Condensed Italics" panose="020B0604020202020204" charset="0"/>
              </a:rPr>
              <a:t>apk</a:t>
            </a:r>
            <a:r>
              <a:rPr dirty="0">
                <a:latin typeface="TT Rounds Condensed Italics" panose="020B0604020202020204" charset="0"/>
              </a:rPr>
              <a:t> add --no-cache </a:t>
            </a:r>
            <a:r>
              <a:rPr dirty="0" err="1">
                <a:latin typeface="TT Rounds Condensed Italics" panose="020B0604020202020204" charset="0"/>
              </a:rPr>
              <a:t>netcat-openbsd</a:t>
            </a:r>
            <a:endParaRPr dirty="0">
              <a:latin typeface="TT Rounds Condensed Italics" panose="020B0604020202020204" charset="0"/>
            </a:endParaRPr>
          </a:p>
          <a:p>
            <a:r>
              <a:rPr dirty="0">
                <a:latin typeface="TT Rounds Condensed Italics" panose="020B0604020202020204" charset="0"/>
              </a:rPr>
              <a:t>COPY </a:t>
            </a:r>
            <a:r>
              <a:rPr dirty="0" err="1">
                <a:latin typeface="TT Rounds Condensed Italics" panose="020B0604020202020204" charset="0"/>
              </a:rPr>
              <a:t>package.json</a:t>
            </a:r>
            <a:r>
              <a:rPr dirty="0">
                <a:latin typeface="TT Rounds Condensed Italics" panose="020B0604020202020204" charset="0"/>
              </a:rPr>
              <a:t> ./</a:t>
            </a:r>
          </a:p>
          <a:p>
            <a:r>
              <a:rPr dirty="0">
                <a:latin typeface="TT Rounds Condensed Italics" panose="020B0604020202020204" charset="0"/>
              </a:rPr>
              <a:t>RUN </a:t>
            </a:r>
            <a:r>
              <a:rPr dirty="0" err="1">
                <a:latin typeface="TT Rounds Condensed Italics" panose="020B0604020202020204" charset="0"/>
              </a:rPr>
              <a:t>npm</a:t>
            </a:r>
            <a:r>
              <a:rPr dirty="0">
                <a:latin typeface="TT Rounds Condensed Italics" panose="020B0604020202020204" charset="0"/>
              </a:rPr>
              <a:t> install --production</a:t>
            </a:r>
          </a:p>
          <a:p>
            <a:r>
              <a:rPr dirty="0">
                <a:latin typeface="TT Rounds Condensed Italics" panose="020B0604020202020204" charset="0"/>
              </a:rPr>
              <a:t>COPY . .</a:t>
            </a:r>
          </a:p>
          <a:p>
            <a:r>
              <a:rPr dirty="0">
                <a:latin typeface="TT Rounds Condensed Italics" panose="020B0604020202020204" charset="0"/>
              </a:rPr>
              <a:t>EXPOSE 3006</a:t>
            </a:r>
          </a:p>
          <a:p>
            <a:r>
              <a:rPr dirty="0">
                <a:latin typeface="TT Rounds Condensed Italics" panose="020B0604020202020204" charset="0"/>
              </a:rPr>
              <a:t>CMD </a:t>
            </a:r>
            <a:r>
              <a:rPr dirty="0" err="1">
                <a:latin typeface="TT Rounds Condensed Italics" panose="020B0604020202020204" charset="0"/>
              </a:rPr>
              <a:t>sh</a:t>
            </a:r>
            <a:r>
              <a:rPr dirty="0">
                <a:latin typeface="TT Rounds Condensed Italics" panose="020B0604020202020204" charset="0"/>
              </a:rPr>
              <a:t> -c "while ! </a:t>
            </a:r>
            <a:r>
              <a:rPr dirty="0" err="1">
                <a:latin typeface="TT Rounds Condensed Italics" panose="020B0604020202020204" charset="0"/>
              </a:rPr>
              <a:t>nc</a:t>
            </a:r>
            <a:r>
              <a:rPr dirty="0">
                <a:latin typeface="TT Rounds Condensed Italics" panose="020B0604020202020204" charset="0"/>
              </a:rPr>
              <a:t> -z </a:t>
            </a:r>
            <a:r>
              <a:rPr dirty="0" err="1">
                <a:latin typeface="TT Rounds Condensed Italics" panose="020B0604020202020204" charset="0"/>
              </a:rPr>
              <a:t>mysql</a:t>
            </a:r>
            <a:r>
              <a:rPr dirty="0">
                <a:latin typeface="TT Rounds Condensed Italics" panose="020B0604020202020204" charset="0"/>
              </a:rPr>
              <a:t> 3306; do sleep 1; done; node app.js"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314700"/>
            <a:ext cx="14404913" cy="1573853"/>
          </a:xfrm>
        </p:spPr>
        <p:txBody>
          <a:bodyPr/>
          <a:lstStyle/>
          <a:p>
            <a:r>
              <a:rPr u="sng" dirty="0">
                <a:latin typeface="TT Rounds Condensed Italics" panose="020B0604020202020204" charset="0"/>
              </a:rPr>
              <a:t>Docker Compose –</a:t>
            </a:r>
            <a:br>
              <a:rPr lang="en-IN" u="sng" dirty="0">
                <a:latin typeface="TT Rounds Condensed Italics" panose="020B0604020202020204" charset="0"/>
              </a:rPr>
            </a:br>
            <a:r>
              <a:rPr u="sng" dirty="0">
                <a:latin typeface="TT Rounds Condensed Italics" panose="020B0604020202020204" charset="0"/>
              </a:rPr>
              <a:t> Admin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0" y="800100"/>
            <a:ext cx="11475325" cy="6629401"/>
          </a:xfrm>
        </p:spPr>
        <p:txBody>
          <a:bodyPr>
            <a:no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admin-service: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build: ./services/admin-service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container_name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admin-service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ports: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"3006:3006"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depends_on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environment: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DB_HOST: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DB_USER: root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DB_PASSWORD: root123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DB_NAME: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hospital_db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JWT_SECRET: hospital_management_secret_key_2024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557B-AA4E-3AED-2B7D-2A1EC1CF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103299"/>
            <a:ext cx="15773400" cy="1988345"/>
          </a:xfrm>
        </p:spPr>
        <p:txBody>
          <a:bodyPr/>
          <a:lstStyle/>
          <a:p>
            <a:r>
              <a:rPr lang="en-US" u="sng" dirty="0">
                <a:latin typeface="TT Rounds Condensed Italics" panose="020B0604020202020204" charset="0"/>
              </a:rPr>
              <a:t>DASHBOARD</a:t>
            </a:r>
            <a:endParaRPr lang="en-IN" u="sng" dirty="0">
              <a:latin typeface="TT Rounds Condensed Italics" panose="020B060402020202020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D1476-14A2-36A3-D3B9-077753EF3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7400" y="1097471"/>
            <a:ext cx="13792200" cy="7758114"/>
          </a:xfrm>
        </p:spPr>
      </p:pic>
    </p:spTree>
    <p:extLst>
      <p:ext uri="{BB962C8B-B14F-4D97-AF65-F5344CB8AC3E}">
        <p14:creationId xmlns:p14="http://schemas.microsoft.com/office/powerpoint/2010/main" val="3491150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/>
              <a:t>User </a:t>
            </a:r>
            <a:r>
              <a:rPr i="1" u="sng" dirty="0"/>
              <a:t>Service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T Rounds Condensed Italics" panose="020B0604020202020204" charset="0"/>
              </a:rPr>
              <a:t>Hospital Management System</a:t>
            </a:r>
            <a:endParaRPr lang="en-IN" dirty="0">
              <a:latin typeface="TT Rounds Condensed Italics" panose="020B0604020202020204" charset="0"/>
            </a:endParaRPr>
          </a:p>
          <a:p>
            <a:r>
              <a:rPr lang="en-IN" dirty="0">
                <a:latin typeface="TT Rounds Condensed Italics" panose="020B0604020202020204" charset="0"/>
              </a:rPr>
              <a:t> Port - 3001</a:t>
            </a:r>
            <a:endParaRPr lang="en-US" dirty="0">
              <a:latin typeface="TT Rounds Condensed Italics" panose="020B0604020202020204" charset="0"/>
            </a:endParaRPr>
          </a:p>
          <a:p>
            <a:r>
              <a:rPr lang="en-US" dirty="0">
                <a:latin typeface="TT Rounds Condensed Italics" panose="020B0604020202020204" charset="0"/>
              </a:rPr>
              <a:t>Handles user management for the Hospital Management System. This service is responsible for managing user accounts and related information used across the platform</a:t>
            </a:r>
          </a:p>
          <a:p>
            <a:r>
              <a:rPr lang="en-US" b="1" dirty="0">
                <a:latin typeface="TT Rounds Condensed Italics" panose="020B0604020202020204" charset="0"/>
              </a:rPr>
              <a:t>Problem </a:t>
            </a:r>
            <a:r>
              <a:rPr lang="en-US" dirty="0">
                <a:latin typeface="TT Rounds Condensed Italics" panose="020B0604020202020204" charset="0"/>
              </a:rPr>
              <a:t> - Hospitals need a centralized and scalable system to efficiently manage users, patients, doctors, and registrations, as traditional manual or monolithic systems lead to inefficiencies and data management challenges.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167D-7CF4-0BF5-1DD3-EE0C9305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B8B9-A413-7983-C66A-091D40A4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B9A1B-778E-80C4-210F-1A8903C91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- User registration</a:t>
            </a:r>
          </a:p>
          <a:p>
            <a:r>
              <a:rPr lang="en-IN" sz="3600" dirty="0"/>
              <a:t>- User login authentication</a:t>
            </a:r>
          </a:p>
          <a:p>
            <a:r>
              <a:rPr lang="en-IN" sz="3600" dirty="0"/>
              <a:t>- JWT token generation</a:t>
            </a:r>
          </a:p>
          <a:p>
            <a:r>
              <a:rPr lang="en-IN" sz="3600" dirty="0"/>
              <a:t>- User role management</a:t>
            </a:r>
          </a:p>
          <a:p>
            <a:r>
              <a:rPr lang="en-IN" sz="3600" dirty="0"/>
              <a:t>- User data retrieval</a:t>
            </a:r>
          </a:p>
        </p:txBody>
      </p:sp>
    </p:spTree>
    <p:extLst>
      <p:ext uri="{BB962C8B-B14F-4D97-AF65-F5344CB8AC3E}">
        <p14:creationId xmlns:p14="http://schemas.microsoft.com/office/powerpoint/2010/main" val="3212342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 err="1"/>
              <a:t>Dockerfile</a:t>
            </a:r>
            <a:r>
              <a:rPr i="1" u="sng" dirty="0"/>
              <a:t>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2780632"/>
            <a:ext cx="15773400" cy="62824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FROM node:18-alpine</a:t>
            </a:r>
          </a:p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WORKDIR /app</a:t>
            </a:r>
          </a:p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RUN </a:t>
            </a:r>
            <a:r>
              <a:rPr lang="en-IN" dirty="0" err="1">
                <a:latin typeface="TT Rounds Condensed Italics" panose="020B0604020202020204" charset="0"/>
              </a:rPr>
              <a:t>apk</a:t>
            </a:r>
            <a:r>
              <a:rPr lang="en-IN" dirty="0">
                <a:latin typeface="TT Rounds Condensed Italics" panose="020B0604020202020204" charset="0"/>
              </a:rPr>
              <a:t> add --no-cache </a:t>
            </a:r>
            <a:r>
              <a:rPr lang="en-IN" dirty="0" err="1">
                <a:latin typeface="TT Rounds Condensed Italics" panose="020B0604020202020204" charset="0"/>
              </a:rPr>
              <a:t>netcat-openbsd</a:t>
            </a:r>
            <a:endParaRPr lang="en-IN" dirty="0">
              <a:latin typeface="TT Rounds Condensed Italics" panose="020B0604020202020204" charset="0"/>
            </a:endParaRPr>
          </a:p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COPY </a:t>
            </a:r>
            <a:r>
              <a:rPr lang="en-IN" dirty="0" err="1">
                <a:latin typeface="TT Rounds Condensed Italics" panose="020B0604020202020204" charset="0"/>
              </a:rPr>
              <a:t>package.json</a:t>
            </a:r>
            <a:r>
              <a:rPr lang="en-IN" dirty="0">
                <a:latin typeface="TT Rounds Condensed Italics" panose="020B0604020202020204" charset="0"/>
              </a:rPr>
              <a:t> ./</a:t>
            </a:r>
          </a:p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RUN </a:t>
            </a:r>
            <a:r>
              <a:rPr lang="en-IN" dirty="0" err="1">
                <a:latin typeface="TT Rounds Condensed Italics" panose="020B0604020202020204" charset="0"/>
              </a:rPr>
              <a:t>npm</a:t>
            </a:r>
            <a:r>
              <a:rPr lang="en-IN" dirty="0">
                <a:latin typeface="TT Rounds Condensed Italics" panose="020B0604020202020204" charset="0"/>
              </a:rPr>
              <a:t> install --production</a:t>
            </a:r>
          </a:p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COPY . .</a:t>
            </a:r>
          </a:p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EXPOSE 3001</a:t>
            </a:r>
          </a:p>
          <a:p>
            <a:pPr marL="0" indent="0">
              <a:buNone/>
            </a:pPr>
            <a:r>
              <a:rPr lang="en-IN" dirty="0">
                <a:latin typeface="TT Rounds Condensed Italics" panose="020B0604020202020204" charset="0"/>
              </a:rPr>
              <a:t>CMD </a:t>
            </a:r>
            <a:r>
              <a:rPr lang="en-IN" dirty="0" err="1">
                <a:latin typeface="TT Rounds Condensed Italics" panose="020B0604020202020204" charset="0"/>
              </a:rPr>
              <a:t>sh</a:t>
            </a:r>
            <a:r>
              <a:rPr lang="en-IN" dirty="0">
                <a:latin typeface="TT Rounds Condensed Italics" panose="020B0604020202020204" charset="0"/>
              </a:rPr>
              <a:t> -c 'echo "Waiting for MySQL..."; while ! </a:t>
            </a:r>
            <a:r>
              <a:rPr lang="en-IN" dirty="0" err="1">
                <a:latin typeface="TT Rounds Condensed Italics" panose="020B0604020202020204" charset="0"/>
              </a:rPr>
              <a:t>nc</a:t>
            </a:r>
            <a:r>
              <a:rPr lang="en-IN" dirty="0">
                <a:latin typeface="TT Rounds Condensed Italics" panose="020B0604020202020204" charset="0"/>
              </a:rPr>
              <a:t> -z </a:t>
            </a:r>
            <a:r>
              <a:rPr lang="en-IN" dirty="0" err="1">
                <a:latin typeface="TT Rounds Condensed Italics" panose="020B0604020202020204" charset="0"/>
              </a:rPr>
              <a:t>mysql</a:t>
            </a:r>
            <a:r>
              <a:rPr lang="en-IN" dirty="0">
                <a:latin typeface="TT Rounds Condensed Italics" panose="020B0604020202020204" charset="0"/>
              </a:rPr>
              <a:t> 3306; do sleep 1; done; echo "MySQL ready"; node app.js'</a:t>
            </a:r>
            <a:endParaRPr dirty="0">
              <a:latin typeface="TT Rounds Condensed Italics" panose="020B060402020202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587" y="3569647"/>
            <a:ext cx="14404913" cy="1573853"/>
          </a:xfrm>
        </p:spPr>
        <p:txBody>
          <a:bodyPr/>
          <a:lstStyle/>
          <a:p>
            <a:r>
              <a:rPr i="1" u="sng" dirty="0"/>
              <a:t>Docker</a:t>
            </a:r>
            <a:r>
              <a:rPr lang="en-IN" i="1" u="sng" dirty="0"/>
              <a:t> Compose</a:t>
            </a:r>
            <a:endParaRPr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4713" y="800100"/>
            <a:ext cx="15773400" cy="8077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version: "3.8"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services: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user-service: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image: username/user-service:1.0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container_name</a:t>
            </a: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hospital-user-service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ports: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"3001:3001"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networks: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hospital-network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networks: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hospital-network:</a:t>
            </a:r>
          </a:p>
          <a:p>
            <a:pPr marL="0" indent="0">
              <a:buNone/>
            </a:pPr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driver: bridge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4283-1F6E-84E2-3FDF-36FEEF42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35755"/>
            <a:ext cx="15773400" cy="1988345"/>
          </a:xfrm>
        </p:spPr>
        <p:txBody>
          <a:bodyPr/>
          <a:lstStyle/>
          <a:p>
            <a:r>
              <a:rPr lang="en-IN" u="sng" dirty="0">
                <a:latin typeface="TT Rounds Condensed Italics" panose="020B0604020202020204" charset="0"/>
              </a:rPr>
              <a:t>USER LOGIN: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AEBBB8-432B-ACCE-F51A-7FFD4F3E0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08156"/>
            <a:ext cx="13182595" cy="7415210"/>
          </a:xfrm>
        </p:spPr>
      </p:pic>
    </p:spTree>
    <p:extLst>
      <p:ext uri="{BB962C8B-B14F-4D97-AF65-F5344CB8AC3E}">
        <p14:creationId xmlns:p14="http://schemas.microsoft.com/office/powerpoint/2010/main" val="1304413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1200" y="419100"/>
            <a:ext cx="11830050" cy="1988344"/>
            <a:chOff x="0" y="0"/>
            <a:chExt cx="11216640" cy="18852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16640" cy="1885239"/>
            </a:xfrm>
            <a:custGeom>
              <a:avLst/>
              <a:gdLst/>
              <a:ahLst/>
              <a:cxnLst/>
              <a:rect l="l" t="t" r="r" b="b"/>
              <a:pathLst>
                <a:path w="11216640" h="1885239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5930" b="-659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11216640" cy="1818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7"/>
                </a:lnSpc>
              </a:pPr>
              <a:r>
                <a:rPr lang="en-US" sz="6599" i="1" u="sng" spc="-40" dirty="0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Patient  Microservice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57562" y="2764624"/>
            <a:ext cx="12111038" cy="5193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0512" lvl="1" indent="-270256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Hospital Management System</a:t>
            </a:r>
          </a:p>
          <a:p>
            <a:pPr marL="540512" lvl="1" indent="-270256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Port 3002</a:t>
            </a:r>
          </a:p>
          <a:p>
            <a:pPr marL="540334" lvl="1" indent="-270167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Handles Patient CRUD operations</a:t>
            </a:r>
          </a:p>
          <a:p>
            <a:pPr marL="540512" lvl="1" indent="-270256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Stores and manages patient records</a:t>
            </a:r>
          </a:p>
          <a:p>
            <a:pPr marL="540334" lvl="1" indent="-270167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References </a:t>
            </a:r>
            <a:r>
              <a:rPr lang="en-US" sz="4199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user_id</a:t>
            </a: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from user-service</a:t>
            </a:r>
          </a:p>
          <a:p>
            <a:pPr marL="540334" lvl="1" indent="-270167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Provides </a:t>
            </a:r>
            <a:r>
              <a:rPr lang="en-US" sz="4199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patient_id</a:t>
            </a: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for other services</a:t>
            </a:r>
          </a:p>
          <a:p>
            <a:pPr marL="540334" lvl="1" indent="-270167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Central data layer for patient information</a:t>
            </a:r>
          </a:p>
          <a:p>
            <a:pPr marL="540334" lvl="1" indent="-270167" algn="l">
              <a:lnSpc>
                <a:spcPts val="4535"/>
              </a:lnSpc>
              <a:buFont typeface="Arial"/>
              <a:buChar char="•"/>
            </a:pP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Independently deployable microservice</a:t>
            </a:r>
          </a:p>
          <a:p>
            <a:pPr marL="540334" lvl="1" indent="-270167" algn="l">
              <a:lnSpc>
                <a:spcPts val="4535"/>
              </a:lnSpc>
              <a:buFont typeface="Arial"/>
              <a:buChar char="•"/>
            </a:pPr>
            <a:r>
              <a:rPr lang="en-US" sz="4199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Dockerized</a:t>
            </a:r>
            <a:r>
              <a:rPr lang="en-US" sz="4199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for container-based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28975" y="547689"/>
            <a:ext cx="11830050" cy="1988351"/>
            <a:chOff x="0" y="0"/>
            <a:chExt cx="11216640" cy="188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16640" cy="1885245"/>
            </a:xfrm>
            <a:custGeom>
              <a:avLst/>
              <a:gdLst/>
              <a:ahLst/>
              <a:cxnLst/>
              <a:rect l="l" t="t" r="r" b="b"/>
              <a:pathLst>
                <a:path w="11216640" h="1885245">
                  <a:moveTo>
                    <a:pt x="0" y="0"/>
                  </a:moveTo>
                  <a:lnTo>
                    <a:pt x="11216640" y="0"/>
                  </a:lnTo>
                  <a:lnTo>
                    <a:pt x="11216640" y="1885245"/>
                  </a:lnTo>
                  <a:lnTo>
                    <a:pt x="0" y="1885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5929" b="-659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11216640" cy="1818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7"/>
                </a:lnSpc>
              </a:pPr>
              <a:r>
                <a:rPr lang="en-US" sz="6599" i="1" u="sng" spc="-40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Dockerfile Snippet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86150" y="2821780"/>
            <a:ext cx="11995172" cy="605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FROM node:18-alpine</a:t>
            </a: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WORKDIR /app</a:t>
            </a: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RUN </a:t>
            </a:r>
            <a:r>
              <a:rPr lang="en-US" sz="4815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apk</a:t>
            </a: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add --no-cache </a:t>
            </a:r>
            <a:r>
              <a:rPr lang="en-US" sz="4815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netcat-openbsd</a:t>
            </a:r>
            <a:endParaRPr lang="en-US" sz="4815" dirty="0">
              <a:solidFill>
                <a:srgbClr val="000000"/>
              </a:solidFill>
              <a:latin typeface="TT Rounds Condensed Italics" panose="020B0604020202020204" charset="0"/>
              <a:ea typeface="Calibri (MS)"/>
              <a:cs typeface="Calibri (MS)"/>
              <a:sym typeface="Calibri (MS)"/>
            </a:endParaRP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COPY </a:t>
            </a:r>
            <a:r>
              <a:rPr lang="en-US" sz="4815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package.json</a:t>
            </a: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./</a:t>
            </a: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RUN </a:t>
            </a:r>
            <a:r>
              <a:rPr lang="en-US" sz="4815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npm</a:t>
            </a: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install --production</a:t>
            </a:r>
          </a:p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COPY . .</a:t>
            </a:r>
          </a:p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EXPOSE 3002</a:t>
            </a:r>
          </a:p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CMD </a:t>
            </a:r>
            <a:r>
              <a:rPr lang="en-US" sz="4815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sh</a:t>
            </a: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-c 'while ! </a:t>
            </a:r>
            <a:r>
              <a:rPr lang="en-US" sz="4815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nc</a:t>
            </a: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-z </a:t>
            </a:r>
            <a:r>
              <a:rPr lang="en-US" sz="4815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mysql</a:t>
            </a:r>
            <a:r>
              <a:rPr lang="en-US" sz="4815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3306; do sleep 1; done; node app.js'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04952" y="642257"/>
            <a:ext cx="9251731" cy="7848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</a:t>
            </a: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patient-service: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build: ./services/patient-service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</a:t>
            </a:r>
            <a:r>
              <a:rPr lang="en-US" sz="3288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container_name</a:t>
            </a: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: hospital-patient-service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restart: always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environment: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DB_HOST: </a:t>
            </a:r>
            <a:r>
              <a:rPr lang="en-US" sz="3288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mysql</a:t>
            </a:r>
            <a:endParaRPr lang="en-US" sz="3288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 (MS)"/>
            </a:endParaRP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DB_USER: root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DB_PASSWORD: ${MYSQL_ROOT_PASSWORD:-root123}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DB_NAME: ${MYSQL_DATABASE:-</a:t>
            </a:r>
            <a:r>
              <a:rPr lang="en-US" sz="3288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hospital_db</a:t>
            </a: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}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JWT_SECRET: ${JWT_SECRET:-hospital_management_secret_key_2024}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</a:t>
            </a:r>
            <a:r>
              <a:rPr lang="en-US" sz="3288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depends_on</a:t>
            </a: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: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</a:t>
            </a:r>
            <a:r>
              <a:rPr lang="en-US" sz="3288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mysql</a:t>
            </a: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:</a:t>
            </a: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  condition: </a:t>
            </a:r>
            <a:r>
              <a:rPr lang="en-US" sz="3288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service_healthy</a:t>
            </a:r>
            <a:endParaRPr lang="en-US" sz="3288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 (MS)"/>
            </a:endParaRPr>
          </a:p>
          <a:p>
            <a:pPr>
              <a:lnSpc>
                <a:spcPts val="3551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networks:</a:t>
            </a:r>
          </a:p>
          <a:p>
            <a:pPr>
              <a:lnSpc>
                <a:spcPts val="3552"/>
              </a:lnSpc>
            </a:pPr>
            <a:r>
              <a:rPr lang="en-US" sz="3288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/>
              </a:rPr>
              <a:t>      - hospital-network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695" y="3314700"/>
            <a:ext cx="7923952" cy="931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6600" i="1" u="sng" spc="-40" dirty="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docker-</a:t>
            </a:r>
            <a:r>
              <a:rPr lang="en-US" sz="6600" i="1" u="sng" spc="-40" dirty="0" err="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compose.yml</a:t>
            </a:r>
            <a:endParaRPr lang="en-US" sz="6600" i="1" u="sng" spc="-40" dirty="0">
              <a:solidFill>
                <a:srgbClr val="000000"/>
              </a:solidFill>
              <a:latin typeface="TT Rounds Condensed Italics"/>
              <a:ea typeface="TT Rounds Condensed Italics"/>
              <a:cs typeface="TT Rounds Condensed Italics"/>
              <a:sym typeface="TT Rounds Condensed Itali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71600" y="-23741"/>
            <a:ext cx="11830050" cy="18121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127"/>
              </a:lnSpc>
            </a:pPr>
            <a:r>
              <a:rPr lang="en-US" sz="6599" u="sng" spc="-40" dirty="0">
                <a:solidFill>
                  <a:srgbClr val="000000"/>
                </a:solidFill>
                <a:latin typeface="TT Rounds Condensed Italics" panose="020B0604020202020204" charset="0"/>
                <a:ea typeface="TT Rounds Condensed"/>
                <a:cs typeface="TT Rounds Condensed"/>
                <a:sym typeface="TT Rounds Condensed"/>
              </a:rPr>
              <a:t>Patients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2D55AB-61EB-55FE-1B8C-3E16A732D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491929"/>
            <a:ext cx="13129548" cy="73853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latin typeface="TT Rounds Condensed Italics" panose="020B0604020202020204" charset="0"/>
              </a:rPr>
              <a:t>Vital-Sign-Service</a:t>
            </a:r>
            <a:r>
              <a:rPr lang="en-US" b="1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459495"/>
            <a:ext cx="15773400" cy="65270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3800" dirty="0">
                <a:latin typeface="TT Rounds Condensed Italics" panose="020B0604020202020204" charset="0"/>
              </a:rPr>
              <a:t>Responsible for managing patient health metrics inside the Hospital Management System</a:t>
            </a:r>
            <a:endParaRPr lang="en-IN" sz="3800" dirty="0">
              <a:latin typeface="TT Rounds Condensed Italics" panose="020B0604020202020204" charset="0"/>
            </a:endParaRPr>
          </a:p>
          <a:p>
            <a:r>
              <a:rPr lang="en-US" sz="3800" dirty="0">
                <a:latin typeface="TT Rounds Condensed Italics" panose="020B0604020202020204" charset="0"/>
              </a:rPr>
              <a:t>Manages patient health vital records</a:t>
            </a:r>
            <a:br>
              <a:rPr lang="en-US" sz="3800" dirty="0">
                <a:latin typeface="TT Rounds Condensed Italics" panose="020B0604020202020204" charset="0"/>
              </a:rPr>
            </a:br>
            <a:r>
              <a:rPr lang="en-US" sz="3800" dirty="0">
                <a:latin typeface="TT Rounds Condensed Italics" panose="020B0604020202020204" charset="0"/>
              </a:rPr>
              <a:t>• Performs CRUD operations on vitals</a:t>
            </a:r>
            <a:br>
              <a:rPr lang="en-US" sz="3800" dirty="0">
                <a:latin typeface="TT Rounds Condensed Italics" panose="020B0604020202020204" charset="0"/>
              </a:rPr>
            </a:br>
            <a:r>
              <a:rPr lang="en-US" sz="3800" dirty="0">
                <a:latin typeface="TT Rounds Condensed Italics" panose="020B0604020202020204" charset="0"/>
              </a:rPr>
              <a:t>• Stores heart rate and blood pressure</a:t>
            </a:r>
            <a:br>
              <a:rPr lang="en-US" sz="3800" dirty="0">
                <a:latin typeface="TT Rounds Condensed Italics" panose="020B0604020202020204" charset="0"/>
              </a:rPr>
            </a:br>
            <a:r>
              <a:rPr lang="en-US" sz="3800" dirty="0">
                <a:latin typeface="TT Rounds Condensed Italics" panose="020B0604020202020204" charset="0"/>
              </a:rPr>
              <a:t>• Links records using </a:t>
            </a:r>
            <a:r>
              <a:rPr lang="en-US" sz="3800" dirty="0" err="1">
                <a:latin typeface="TT Rounds Condensed Italics" panose="020B0604020202020204" charset="0"/>
              </a:rPr>
              <a:t>patient_id</a:t>
            </a:r>
            <a:r>
              <a:rPr lang="en-US" sz="3800" dirty="0">
                <a:latin typeface="TT Rounds Condensed Italics" panose="020B0604020202020204" charset="0"/>
              </a:rPr>
              <a:t>, </a:t>
            </a:r>
            <a:r>
              <a:rPr lang="en-US" sz="3800" dirty="0" err="1">
                <a:latin typeface="TT Rounds Condensed Italics" panose="020B0604020202020204" charset="0"/>
              </a:rPr>
              <a:t>user_id</a:t>
            </a:r>
            <a:br>
              <a:rPr lang="en-US" sz="3800" dirty="0">
                <a:latin typeface="TT Rounds Condensed Italics" panose="020B0604020202020204" charset="0"/>
              </a:rPr>
            </a:br>
            <a:r>
              <a:rPr lang="en-US" sz="3800" dirty="0">
                <a:latin typeface="TT Rounds Condensed Italics" panose="020B0604020202020204" charset="0"/>
              </a:rPr>
              <a:t>• Validates JWT before saving data</a:t>
            </a:r>
          </a:p>
          <a:p>
            <a:r>
              <a:rPr lang="en-US" sz="3800" dirty="0">
                <a:latin typeface="TT Rounds Condensed Italics" panose="020B0604020202020204" charset="0"/>
              </a:rPr>
              <a:t>It ensures every vital record belongs to a valid patient and authenticated doctor/nurse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120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419100"/>
            <a:ext cx="13716000" cy="1216410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TT Rounds Condensed Italics" panose="020B0604020202020204" charset="0"/>
              </a:rPr>
              <a:t>Docker file snippet</a:t>
            </a:r>
            <a:endParaRPr lang="en-IN" u="sng" dirty="0">
              <a:latin typeface="TT Rounds Condensed Italics" panose="020B060402020202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171700"/>
            <a:ext cx="13716000" cy="5576207"/>
          </a:xfrm>
        </p:spPr>
        <p:txBody>
          <a:bodyPr>
            <a:normAutofit fontScale="25000" lnSpcReduction="20000"/>
          </a:bodyPr>
          <a:lstStyle/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FROM node:18-alpine</a:t>
            </a: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WORKDIR /app</a:t>
            </a: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RUN </a:t>
            </a:r>
            <a:r>
              <a:rPr lang="en-US" sz="12800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apk</a:t>
            </a: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add --no-cache </a:t>
            </a:r>
            <a:r>
              <a:rPr lang="en-US" sz="12800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netcat-openbsd</a:t>
            </a:r>
            <a:endParaRPr lang="en-US" sz="12800" dirty="0">
              <a:solidFill>
                <a:srgbClr val="000000"/>
              </a:solidFill>
              <a:latin typeface="TT Rounds Condensed Italics" panose="020B0604020202020204" charset="0"/>
              <a:ea typeface="Calibri (MS)"/>
              <a:cs typeface="Calibri (MS)"/>
              <a:sym typeface="Calibri (MS)"/>
            </a:endParaRP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COPY </a:t>
            </a:r>
            <a:r>
              <a:rPr lang="en-US" sz="12800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package.json</a:t>
            </a: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./</a:t>
            </a:r>
          </a:p>
          <a:p>
            <a:pPr marL="619540" lvl="1" indent="-309770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RUN </a:t>
            </a:r>
            <a:r>
              <a:rPr lang="en-US" sz="12800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npm</a:t>
            </a: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install --production</a:t>
            </a:r>
          </a:p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COPY . .</a:t>
            </a:r>
          </a:p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EXPOSE 3002</a:t>
            </a:r>
          </a:p>
          <a:p>
            <a:pPr marL="619745" lvl="1" indent="-309872" algn="l">
              <a:lnSpc>
                <a:spcPts val="5200"/>
              </a:lnSpc>
              <a:buFont typeface="Arial"/>
              <a:buChar char="•"/>
            </a:pP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CMD </a:t>
            </a:r>
            <a:r>
              <a:rPr lang="en-US" sz="12800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sh</a:t>
            </a: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-c 'while ! </a:t>
            </a:r>
            <a:r>
              <a:rPr lang="en-US" sz="12800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nc</a:t>
            </a: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-z </a:t>
            </a:r>
            <a:r>
              <a:rPr lang="en-US" sz="12800" dirty="0" err="1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mysql</a:t>
            </a:r>
            <a:r>
              <a:rPr lang="en-US" sz="12800" dirty="0">
                <a:solidFill>
                  <a:srgbClr val="000000"/>
                </a:solidFill>
                <a:latin typeface="TT Rounds Condensed Italics" panose="020B0604020202020204" charset="0"/>
                <a:ea typeface="Calibri (MS)"/>
                <a:cs typeface="Calibri (MS)"/>
                <a:sym typeface="Calibri (MS)"/>
              </a:rPr>
              <a:t> 3306; do sleep 1; done; node app.js'</a:t>
            </a:r>
          </a:p>
          <a:p>
            <a:endParaRPr lang="en-IN" dirty="0">
              <a:latin typeface="TT Rounds Condensed Italic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889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" y="3162300"/>
            <a:ext cx="14404913" cy="1573853"/>
          </a:xfrm>
        </p:spPr>
        <p:txBody>
          <a:bodyPr/>
          <a:lstStyle/>
          <a:p>
            <a:r>
              <a:rPr lang="en-US" u="sng" dirty="0">
                <a:latin typeface="TT Rounds Condensed Italics" panose="020B0604020202020204" charset="0"/>
              </a:rPr>
              <a:t>Docker compose vital service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6400" y="266700"/>
            <a:ext cx="12573000" cy="7720012"/>
          </a:xfrm>
        </p:spPr>
        <p:txBody>
          <a:bodyPr>
            <a:noAutofit/>
          </a:bodyPr>
          <a:lstStyle/>
          <a:p>
            <a:r>
              <a:rPr lang="en-IN" sz="2300" dirty="0">
                <a:latin typeface="TT Rounds Condensed Italics" panose="020B0604020202020204" charset="0"/>
              </a:rPr>
              <a:t>vital-sign-service: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build: ./services/vital-sign-service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</a:t>
            </a:r>
            <a:r>
              <a:rPr lang="en-IN" sz="2300" dirty="0" err="1">
                <a:latin typeface="TT Rounds Condensed Italics" panose="020B0604020202020204" charset="0"/>
              </a:rPr>
              <a:t>container_name</a:t>
            </a:r>
            <a:r>
              <a:rPr lang="en-IN" sz="2300" dirty="0">
                <a:latin typeface="TT Rounds Condensed Italics" panose="020B0604020202020204" charset="0"/>
              </a:rPr>
              <a:t>: hospital-vital-sign-service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restart: always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environment: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  DB_HOST: </a:t>
            </a:r>
            <a:r>
              <a:rPr lang="en-IN" sz="2300" dirty="0" err="1">
                <a:latin typeface="TT Rounds Condensed Italics" panose="020B0604020202020204" charset="0"/>
              </a:rPr>
              <a:t>mysql</a:t>
            </a:r>
            <a:endParaRPr lang="en-IN" sz="2300" dirty="0">
              <a:latin typeface="TT Rounds Condensed Italics" panose="020B0604020202020204" charset="0"/>
            </a:endParaRPr>
          </a:p>
          <a:p>
            <a:r>
              <a:rPr lang="en-IN" sz="2300" dirty="0">
                <a:latin typeface="TT Rounds Condensed Italics" panose="020B0604020202020204" charset="0"/>
              </a:rPr>
              <a:t>      DB_USER: root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  DB_PASSWORD: ${MYSQL_ROOT_PASSWORD:-root123}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  DB_NAME: ${MYSQL_DATABASE:-</a:t>
            </a:r>
            <a:r>
              <a:rPr lang="en-IN" sz="2300" dirty="0" err="1">
                <a:latin typeface="TT Rounds Condensed Italics" panose="020B0604020202020204" charset="0"/>
              </a:rPr>
              <a:t>hospital_db</a:t>
            </a:r>
            <a:r>
              <a:rPr lang="en-IN" sz="2300" dirty="0">
                <a:latin typeface="TT Rounds Condensed Italics" panose="020B0604020202020204" charset="0"/>
              </a:rPr>
              <a:t>}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  JWT_SECRET: ${JWT_SECRET:-hospital_management_secret_key_2025}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</a:t>
            </a:r>
            <a:r>
              <a:rPr lang="en-IN" sz="2300" dirty="0" err="1">
                <a:latin typeface="TT Rounds Condensed Italics" panose="020B0604020202020204" charset="0"/>
              </a:rPr>
              <a:t>depends_on</a:t>
            </a:r>
            <a:r>
              <a:rPr lang="en-IN" sz="2300" dirty="0">
                <a:latin typeface="TT Rounds Condensed Italics" panose="020B0604020202020204" charset="0"/>
              </a:rPr>
              <a:t>: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  </a:t>
            </a:r>
            <a:r>
              <a:rPr lang="en-IN" sz="2300" dirty="0" err="1">
                <a:latin typeface="TT Rounds Condensed Italics" panose="020B0604020202020204" charset="0"/>
              </a:rPr>
              <a:t>mysql</a:t>
            </a:r>
            <a:r>
              <a:rPr lang="en-IN" sz="2300" dirty="0">
                <a:latin typeface="TT Rounds Condensed Italics" panose="020B0604020202020204" charset="0"/>
              </a:rPr>
              <a:t>: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    condition: </a:t>
            </a:r>
            <a:r>
              <a:rPr lang="en-IN" sz="2300" dirty="0" err="1">
                <a:latin typeface="TT Rounds Condensed Italics" panose="020B0604020202020204" charset="0"/>
              </a:rPr>
              <a:t>service_healthy</a:t>
            </a:r>
            <a:endParaRPr lang="en-IN" sz="2300" dirty="0">
              <a:latin typeface="TT Rounds Condensed Italics" panose="020B0604020202020204" charset="0"/>
            </a:endParaRPr>
          </a:p>
          <a:p>
            <a:r>
              <a:rPr lang="en-IN" sz="2300" dirty="0">
                <a:latin typeface="TT Rounds Condensed Italics" panose="020B0604020202020204" charset="0"/>
              </a:rPr>
              <a:t>   networks:</a:t>
            </a:r>
          </a:p>
          <a:p>
            <a:r>
              <a:rPr lang="en-IN" sz="2300" dirty="0">
                <a:latin typeface="TT Rounds Condensed Italics" panose="020B0604020202020204" charset="0"/>
              </a:rPr>
              <a:t> - hospital-network</a:t>
            </a:r>
          </a:p>
        </p:txBody>
      </p:sp>
    </p:spTree>
    <p:extLst>
      <p:ext uri="{BB962C8B-B14F-4D97-AF65-F5344CB8AC3E}">
        <p14:creationId xmlns:p14="http://schemas.microsoft.com/office/powerpoint/2010/main" val="2426405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76237"/>
            <a:ext cx="15773400" cy="1988345"/>
          </a:xfrm>
        </p:spPr>
        <p:txBody>
          <a:bodyPr/>
          <a:lstStyle/>
          <a:p>
            <a:r>
              <a:rPr lang="en-US" u="sng" dirty="0">
                <a:latin typeface="TT Rounds Condensed Italics" panose="020B0604020202020204" charset="0"/>
              </a:rPr>
              <a:t>Vital signs page</a:t>
            </a:r>
            <a:endParaRPr lang="en-IN" u="sng" dirty="0">
              <a:latin typeface="TT Rounds Condensed Italics" panose="020B06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BA08C6-FAD6-160D-5784-DCAC494D6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586" y="1370409"/>
            <a:ext cx="14630400" cy="758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14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TT Rounds Condensed Italics" panose="020B0604020202020204" charset="0"/>
              </a:rPr>
              <a:t>Doctor Service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000" dirty="0">
                <a:latin typeface="TT Rounds Condensed Italics" panose="020B0604020202020204" charset="0"/>
              </a:rPr>
              <a:t>Hospital Management System</a:t>
            </a:r>
          </a:p>
          <a:p>
            <a:r>
              <a:rPr sz="4000" dirty="0">
                <a:latin typeface="TT Rounds Condensed Italics" panose="020B0604020202020204" charset="0"/>
              </a:rPr>
              <a:t>Port: 3005</a:t>
            </a:r>
          </a:p>
          <a:p>
            <a:r>
              <a:rPr sz="4000" dirty="0">
                <a:latin typeface="TT Rounds Condensed Italics" panose="020B0604020202020204" charset="0"/>
              </a:rPr>
              <a:t>Handles doctor management including specialization and schedules</a:t>
            </a:r>
            <a:r>
              <a:rPr dirty="0">
                <a:latin typeface="TT Rounds Condensed Italics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TT Rounds Condensed Italics" panose="020B0604020202020204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>
                <a:latin typeface="TT Rounds Condensed Italics" panose="020B0604020202020204" charset="0"/>
              </a:rPr>
              <a:t>Manage doctor profiles</a:t>
            </a:r>
          </a:p>
          <a:p>
            <a:r>
              <a:rPr dirty="0">
                <a:latin typeface="TT Rounds Condensed Italics" panose="020B0604020202020204" charset="0"/>
              </a:rPr>
              <a:t>- Store specialization details</a:t>
            </a:r>
          </a:p>
          <a:p>
            <a:r>
              <a:rPr dirty="0">
                <a:latin typeface="TT Rounds Condensed Italics" panose="020B0604020202020204" charset="0"/>
              </a:rPr>
              <a:t>- Maintain doctor schedules</a:t>
            </a:r>
          </a:p>
          <a:p>
            <a:r>
              <a:rPr dirty="0">
                <a:latin typeface="TT Rounds Condensed Italics" panose="020B0604020202020204" charset="0"/>
              </a:rPr>
              <a:t>- Provide doctor data to other microservices</a:t>
            </a:r>
          </a:p>
          <a:p>
            <a:r>
              <a:rPr dirty="0">
                <a:latin typeface="TT Rounds Condensed Italics" panose="020B0604020202020204" charset="0"/>
              </a:rPr>
              <a:t>- Enable scalable doctor management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TT Rounds Condensed Italics" panose="020B0604020202020204" charset="0"/>
              </a:rP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>
                <a:latin typeface="TT Rounds Condensed Italics" panose="020B0604020202020204" charset="0"/>
              </a:rPr>
              <a:t>Add new doctor profiles</a:t>
            </a:r>
          </a:p>
          <a:p>
            <a:r>
              <a:rPr dirty="0">
                <a:latin typeface="TT Rounds Condensed Italics" panose="020B0604020202020204" charset="0"/>
              </a:rPr>
              <a:t>- Retrieve doctor information</a:t>
            </a:r>
          </a:p>
          <a:p>
            <a:r>
              <a:rPr dirty="0">
                <a:latin typeface="TT Rounds Condensed Italics" panose="020B0604020202020204" charset="0"/>
              </a:rPr>
              <a:t>- Update doctor specialization and schedule</a:t>
            </a:r>
          </a:p>
          <a:p>
            <a:r>
              <a:rPr dirty="0">
                <a:latin typeface="TT Rounds Condensed Italics" panose="020B0604020202020204" charset="0"/>
              </a:rPr>
              <a:t>- Delete doctor records</a:t>
            </a:r>
          </a:p>
          <a:p>
            <a:r>
              <a:rPr dirty="0">
                <a:latin typeface="TT Rounds Condensed Italics" panose="020B0604020202020204" charset="0"/>
              </a:rPr>
              <a:t>- Provide doctor availability for patient registration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>
                <a:latin typeface="TT Rounds Condensed Italics" panose="020B0604020202020204" charset="0"/>
              </a:rPr>
              <a:t>Dockerfile</a:t>
            </a:r>
            <a:r>
              <a:rPr u="sng" dirty="0">
                <a:latin typeface="TT Rounds Condensed Italics" panose="020B0604020202020204" charset="0"/>
              </a:rPr>
              <a:t>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2705100"/>
            <a:ext cx="15773400" cy="6527007"/>
          </a:xfrm>
        </p:spPr>
        <p:txBody>
          <a:bodyPr/>
          <a:lstStyle/>
          <a:p>
            <a:r>
              <a:rPr lang="en-IN" dirty="0">
                <a:latin typeface="TT Rounds Condensed Italics" panose="020B0604020202020204" charset="0"/>
              </a:rPr>
              <a:t>FROM node:18-alpine</a:t>
            </a:r>
          </a:p>
          <a:p>
            <a:r>
              <a:rPr lang="en-IN" dirty="0">
                <a:latin typeface="TT Rounds Condensed Italics" panose="020B0604020202020204" charset="0"/>
              </a:rPr>
              <a:t>WORKDIR /app</a:t>
            </a:r>
          </a:p>
          <a:p>
            <a:r>
              <a:rPr lang="en-IN" dirty="0">
                <a:latin typeface="TT Rounds Condensed Italics" panose="020B0604020202020204" charset="0"/>
              </a:rPr>
              <a:t>RUN </a:t>
            </a:r>
            <a:r>
              <a:rPr lang="en-IN" dirty="0" err="1">
                <a:latin typeface="TT Rounds Condensed Italics" panose="020B0604020202020204" charset="0"/>
              </a:rPr>
              <a:t>apk</a:t>
            </a:r>
            <a:r>
              <a:rPr lang="en-IN" dirty="0">
                <a:latin typeface="TT Rounds Condensed Italics" panose="020B0604020202020204" charset="0"/>
              </a:rPr>
              <a:t> add --no-cache </a:t>
            </a:r>
            <a:r>
              <a:rPr lang="en-IN" dirty="0" err="1">
                <a:latin typeface="TT Rounds Condensed Italics" panose="020B0604020202020204" charset="0"/>
              </a:rPr>
              <a:t>netcat-openbsd</a:t>
            </a:r>
            <a:endParaRPr lang="en-IN" dirty="0">
              <a:latin typeface="TT Rounds Condensed Italics" panose="020B0604020202020204" charset="0"/>
            </a:endParaRPr>
          </a:p>
          <a:p>
            <a:r>
              <a:rPr lang="en-IN" dirty="0">
                <a:latin typeface="TT Rounds Condensed Italics" panose="020B0604020202020204" charset="0"/>
              </a:rPr>
              <a:t>COPY </a:t>
            </a:r>
            <a:r>
              <a:rPr lang="en-IN" dirty="0" err="1">
                <a:latin typeface="TT Rounds Condensed Italics" panose="020B0604020202020204" charset="0"/>
              </a:rPr>
              <a:t>package.json</a:t>
            </a:r>
            <a:r>
              <a:rPr lang="en-IN" dirty="0">
                <a:latin typeface="TT Rounds Condensed Italics" panose="020B0604020202020204" charset="0"/>
              </a:rPr>
              <a:t> ./</a:t>
            </a:r>
          </a:p>
          <a:p>
            <a:r>
              <a:rPr lang="en-IN" dirty="0">
                <a:latin typeface="TT Rounds Condensed Italics" panose="020B0604020202020204" charset="0"/>
              </a:rPr>
              <a:t>RUN </a:t>
            </a:r>
            <a:r>
              <a:rPr lang="en-IN" dirty="0" err="1">
                <a:latin typeface="TT Rounds Condensed Italics" panose="020B0604020202020204" charset="0"/>
              </a:rPr>
              <a:t>npm</a:t>
            </a:r>
            <a:r>
              <a:rPr lang="en-IN" dirty="0">
                <a:latin typeface="TT Rounds Condensed Italics" panose="020B0604020202020204" charset="0"/>
              </a:rPr>
              <a:t> install --production</a:t>
            </a:r>
          </a:p>
          <a:p>
            <a:r>
              <a:rPr lang="en-IN" dirty="0">
                <a:latin typeface="TT Rounds Condensed Italics" panose="020B0604020202020204" charset="0"/>
              </a:rPr>
              <a:t>COPY . .</a:t>
            </a:r>
          </a:p>
          <a:p>
            <a:r>
              <a:rPr lang="en-IN" dirty="0">
                <a:latin typeface="TT Rounds Condensed Italics" panose="020B0604020202020204" charset="0"/>
              </a:rPr>
              <a:t>EXPOSE 3005</a:t>
            </a:r>
          </a:p>
          <a:p>
            <a:r>
              <a:rPr lang="en-IN" dirty="0">
                <a:latin typeface="TT Rounds Condensed Italics" panose="020B0604020202020204" charset="0"/>
              </a:rPr>
              <a:t>CMD </a:t>
            </a:r>
            <a:r>
              <a:rPr lang="en-IN" dirty="0" err="1">
                <a:latin typeface="TT Rounds Condensed Italics" panose="020B0604020202020204" charset="0"/>
              </a:rPr>
              <a:t>sh</a:t>
            </a:r>
            <a:r>
              <a:rPr lang="en-IN" dirty="0">
                <a:latin typeface="TT Rounds Condensed Italics" panose="020B0604020202020204" charset="0"/>
              </a:rPr>
              <a:t> -c 'while ! </a:t>
            </a:r>
            <a:r>
              <a:rPr lang="en-IN" dirty="0" err="1">
                <a:latin typeface="TT Rounds Condensed Italics" panose="020B0604020202020204" charset="0"/>
              </a:rPr>
              <a:t>nc</a:t>
            </a:r>
            <a:r>
              <a:rPr lang="en-IN" dirty="0">
                <a:latin typeface="TT Rounds Condensed Italics" panose="020B0604020202020204" charset="0"/>
              </a:rPr>
              <a:t> -z </a:t>
            </a:r>
            <a:r>
              <a:rPr lang="en-IN" dirty="0" err="1">
                <a:latin typeface="TT Rounds Condensed Italics" panose="020B0604020202020204" charset="0"/>
              </a:rPr>
              <a:t>mysql</a:t>
            </a:r>
            <a:r>
              <a:rPr lang="en-IN" dirty="0">
                <a:latin typeface="TT Rounds Condensed Italics" panose="020B0604020202020204" charset="0"/>
              </a:rPr>
              <a:t> 3306; do sleep 1; done; node app.js'</a:t>
            </a:r>
            <a:endParaRPr dirty="0">
              <a:latin typeface="TT Rounds Condensed Italics" panose="020B06040202020202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C3FE-38C6-2986-AF0D-74798F06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67100"/>
            <a:ext cx="15468600" cy="1988345"/>
          </a:xfrm>
        </p:spPr>
        <p:txBody>
          <a:bodyPr/>
          <a:lstStyle/>
          <a:p>
            <a:r>
              <a:rPr lang="en-US" u="sng" dirty="0" err="1">
                <a:latin typeface="TT Rounds Condensed Italics" panose="020B0604020202020204" charset="0"/>
              </a:rPr>
              <a:t>Docker_compose.yaml</a:t>
            </a:r>
            <a:endParaRPr lang="en-IN" u="sng" dirty="0">
              <a:latin typeface="TT Rounds Condensed Italics" panose="020B060402020202020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5C36-9E11-FDB2-00CA-6A008912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0" y="16329"/>
            <a:ext cx="15773400" cy="899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doctor-service: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build: ./services/doctor-service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</a:t>
            </a:r>
            <a:r>
              <a:rPr lang="en-IN" sz="2500" dirty="0" err="1">
                <a:latin typeface="TT Rounds Condensed Italics" panose="020B0604020202020204" charset="0"/>
              </a:rPr>
              <a:t>container_name</a:t>
            </a:r>
            <a:r>
              <a:rPr lang="en-IN" sz="2500" dirty="0">
                <a:latin typeface="TT Rounds Condensed Italics" panose="020B0604020202020204" charset="0"/>
              </a:rPr>
              <a:t>: hospital-doctor-service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restart: always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environment: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DB_HOST: </a:t>
            </a:r>
            <a:r>
              <a:rPr lang="en-IN" sz="2500" dirty="0" err="1">
                <a:latin typeface="TT Rounds Condensed Italics" panose="020B0604020202020204" charset="0"/>
              </a:rPr>
              <a:t>mysql</a:t>
            </a:r>
            <a:endParaRPr lang="en-IN" sz="2500" dirty="0">
              <a:latin typeface="TT Rounds Condensed Italics" panose="020B0604020202020204" charset="0"/>
            </a:endParaRP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DB_USER: root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DB_PASSWORD: ${MYSQL_ROOT_PASSWORD:-root123}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DB_NAME: ${MYSQL_DATABASE:-</a:t>
            </a:r>
            <a:r>
              <a:rPr lang="en-IN" sz="2500" dirty="0" err="1">
                <a:latin typeface="TT Rounds Condensed Italics" panose="020B0604020202020204" charset="0"/>
              </a:rPr>
              <a:t>hospital_db</a:t>
            </a:r>
            <a:r>
              <a:rPr lang="en-IN" sz="2500" dirty="0">
                <a:latin typeface="TT Rounds Condensed Italics" panose="020B0604020202020204" charset="0"/>
              </a:rPr>
              <a:t>}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JWT_SECRET: ${JWT_SECRET:-hospital_management_secret_key_2024}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</a:t>
            </a:r>
            <a:r>
              <a:rPr lang="en-IN" sz="2500" dirty="0" err="1">
                <a:latin typeface="TT Rounds Condensed Italics" panose="020B0604020202020204" charset="0"/>
              </a:rPr>
              <a:t>depends_on</a:t>
            </a:r>
            <a:r>
              <a:rPr lang="en-IN" sz="2500" dirty="0">
                <a:latin typeface="TT Rounds Condensed Italics" panose="020B0604020202020204" charset="0"/>
              </a:rPr>
              <a:t>: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</a:t>
            </a:r>
            <a:r>
              <a:rPr lang="en-IN" sz="2500" dirty="0" err="1">
                <a:latin typeface="TT Rounds Condensed Italics" panose="020B0604020202020204" charset="0"/>
              </a:rPr>
              <a:t>mysql</a:t>
            </a:r>
            <a:r>
              <a:rPr lang="en-IN" sz="2500" dirty="0">
                <a:latin typeface="TT Rounds Condensed Italics" panose="020B0604020202020204" charset="0"/>
              </a:rPr>
              <a:t>: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  condition: </a:t>
            </a:r>
            <a:r>
              <a:rPr lang="en-IN" sz="2500" dirty="0" err="1">
                <a:latin typeface="TT Rounds Condensed Italics" panose="020B0604020202020204" charset="0"/>
              </a:rPr>
              <a:t>service_healthy</a:t>
            </a:r>
            <a:endParaRPr lang="en-IN" sz="2500" dirty="0">
              <a:latin typeface="TT Rounds Condensed Italics" panose="020B0604020202020204" charset="0"/>
            </a:endParaRP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networks:</a:t>
            </a:r>
          </a:p>
          <a:p>
            <a:pPr marL="0" indent="0">
              <a:buNone/>
            </a:pPr>
            <a:r>
              <a:rPr lang="en-IN" sz="2500" dirty="0">
                <a:latin typeface="TT Rounds Condensed Italics" panose="020B0604020202020204" charset="0"/>
              </a:rPr>
              <a:t>      - hospital-network</a:t>
            </a:r>
          </a:p>
        </p:txBody>
      </p:sp>
    </p:spTree>
    <p:extLst>
      <p:ext uri="{BB962C8B-B14F-4D97-AF65-F5344CB8AC3E}">
        <p14:creationId xmlns:p14="http://schemas.microsoft.com/office/powerpoint/2010/main" val="3162724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342900"/>
            <a:ext cx="11830050" cy="1988345"/>
          </a:xfrm>
        </p:spPr>
        <p:txBody>
          <a:bodyPr/>
          <a:lstStyle/>
          <a:p>
            <a:r>
              <a:rPr i="1" u="sng" dirty="0">
                <a:latin typeface="TT Rounds Condensed Italics" panose="020B0604020202020204" charset="0"/>
              </a:rPr>
              <a:t>Docker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2838453"/>
            <a:ext cx="15773400" cy="3776662"/>
          </a:xfrm>
        </p:spPr>
        <p:txBody>
          <a:bodyPr>
            <a:noAutofit/>
          </a:bodyPr>
          <a:lstStyle/>
          <a:p>
            <a:r>
              <a:rPr lang="en-IN" sz="4800" dirty="0">
                <a:latin typeface="TT Rounds Condensed Italics" panose="020B0604020202020204" charset="0"/>
              </a:rPr>
              <a:t>Custom bridge isolates hospital microservices traffic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Internal subnet dynamically assigned by Docker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Containers resolve names via embedded DNS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Network prevents external unauthorized access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 Enables scalable horizontal service deployment</a:t>
            </a:r>
          </a:p>
          <a:p>
            <a:endParaRPr sz="4800" dirty="0">
              <a:latin typeface="+mj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 err="1"/>
              <a:t>Microservice</a:t>
            </a:r>
            <a:r>
              <a:rPr lang="en-IN" i="1" u="sng" dirty="0"/>
              <a:t>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705100"/>
            <a:ext cx="15773400" cy="6527007"/>
          </a:xfrm>
        </p:spPr>
        <p:txBody>
          <a:bodyPr/>
          <a:lstStyle/>
          <a:p>
            <a:r>
              <a:rPr lang="en-IN" dirty="0">
                <a:latin typeface="TT Rounds Condensed Italics" panose="020B0604020202020204" charset="0"/>
              </a:rPr>
              <a:t>REST endpoints exchange JSON payloads</a:t>
            </a:r>
          </a:p>
          <a:p>
            <a:r>
              <a:rPr lang="en-IN" dirty="0">
                <a:latin typeface="TT Rounds Condensed Italics" panose="020B0604020202020204" charset="0"/>
              </a:rPr>
              <a:t> Inter-service calls use internal DNS resolution</a:t>
            </a:r>
          </a:p>
          <a:p>
            <a:r>
              <a:rPr lang="en-IN" dirty="0">
                <a:latin typeface="TT Rounds Condensed Italics" panose="020B0604020202020204" charset="0"/>
              </a:rPr>
              <a:t> Containers communicate via hospital-network bridge</a:t>
            </a:r>
          </a:p>
          <a:p>
            <a:r>
              <a:rPr lang="en-IN" dirty="0">
                <a:latin typeface="TT Rounds Condensed Italics" panose="020B0604020202020204" charset="0"/>
              </a:rPr>
              <a:t> Load distributed across independent service instances</a:t>
            </a:r>
          </a:p>
          <a:p>
            <a:r>
              <a:rPr lang="en-IN" dirty="0">
                <a:latin typeface="TT Rounds Condensed Italics" panose="020B0604020202020204" charset="0"/>
              </a:rPr>
              <a:t>JWT tokens validated across secured endpoints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095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Database &amp;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400300"/>
            <a:ext cx="15773400" cy="65270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4800" dirty="0">
                <a:latin typeface="TT Rounds Condensed Italics" panose="020B0604020202020204" charset="0"/>
              </a:rPr>
              <a:t>MySQL relational schema enforces foreign keys</a:t>
            </a:r>
            <a:br>
              <a:rPr lang="en-IN" sz="4800" dirty="0">
                <a:latin typeface="TT Rounds Condensed Italics" panose="020B0604020202020204" charset="0"/>
              </a:rPr>
            </a:br>
            <a:r>
              <a:rPr lang="en-IN" sz="4800" dirty="0">
                <a:latin typeface="TT Rounds Condensed Italics" panose="020B0604020202020204" charset="0"/>
              </a:rPr>
              <a:t>• Patient references </a:t>
            </a:r>
            <a:r>
              <a:rPr lang="en-IN" sz="4800" dirty="0" err="1">
                <a:latin typeface="TT Rounds Condensed Italics" panose="020B0604020202020204" charset="0"/>
              </a:rPr>
              <a:t>user_id</a:t>
            </a:r>
            <a:r>
              <a:rPr lang="en-IN" sz="4800" dirty="0">
                <a:latin typeface="TT Rounds Condensed Italics" panose="020B0604020202020204" charset="0"/>
              </a:rPr>
              <a:t> relational mapping</a:t>
            </a:r>
            <a:br>
              <a:rPr lang="en-IN" sz="4800" dirty="0">
                <a:latin typeface="TT Rounds Condensed Italics" panose="020B0604020202020204" charset="0"/>
              </a:rPr>
            </a:br>
            <a:r>
              <a:rPr lang="en-IN" sz="4800" dirty="0">
                <a:latin typeface="TT Rounds Condensed Italics" panose="020B0604020202020204" charset="0"/>
              </a:rPr>
              <a:t>• Vital-signs linked via </a:t>
            </a:r>
            <a:r>
              <a:rPr lang="en-IN" sz="4800" dirty="0" err="1">
                <a:latin typeface="TT Rounds Condensed Italics" panose="020B0604020202020204" charset="0"/>
              </a:rPr>
              <a:t>patient_id</a:t>
            </a:r>
            <a:r>
              <a:rPr lang="en-IN" sz="4800" dirty="0">
                <a:latin typeface="TT Rounds Condensed Italics" panose="020B0604020202020204" charset="0"/>
              </a:rPr>
              <a:t> constraints</a:t>
            </a:r>
            <a:br>
              <a:rPr lang="en-IN" sz="4800" dirty="0">
                <a:latin typeface="TT Rounds Condensed Italics" panose="020B0604020202020204" charset="0"/>
              </a:rPr>
            </a:br>
            <a:r>
              <a:rPr lang="en-IN" sz="4800" dirty="0">
                <a:latin typeface="TT Rounds Condensed Italics" panose="020B0604020202020204" charset="0"/>
              </a:rPr>
              <a:t>• Volume-backend mounts persistent database storage</a:t>
            </a:r>
            <a:br>
              <a:rPr lang="en-IN" sz="4800" dirty="0">
                <a:latin typeface="TT Rounds Condensed Italics" panose="020B0604020202020204" charset="0"/>
              </a:rPr>
            </a:br>
            <a:r>
              <a:rPr lang="en-IN" sz="4800" dirty="0">
                <a:latin typeface="TT Rounds Condensed Italics" panose="020B0604020202020204" charset="0"/>
              </a:rPr>
              <a:t>• ACID compliance ensures transactional consistency</a:t>
            </a:r>
          </a:p>
          <a:p>
            <a:pPr marL="0" indent="0">
              <a:buNone/>
            </a:pPr>
            <a:endParaRPr sz="4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Docker Image Security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800" dirty="0">
                <a:latin typeface="TT Rounds Condensed Italics" panose="020B0604020202020204" charset="0"/>
              </a:rPr>
              <a:t>Scanned user-service image vulnerabilities detected</a:t>
            </a:r>
          </a:p>
          <a:p>
            <a:r>
              <a:rPr lang="en-US" sz="4800" dirty="0">
                <a:latin typeface="TT Rounds Condensed Italics" panose="020B0604020202020204" charset="0"/>
              </a:rPr>
              <a:t>Image scanned using </a:t>
            </a:r>
            <a:r>
              <a:rPr lang="en-US" sz="4800" dirty="0" err="1">
                <a:latin typeface="TT Rounds Condensed Italics" panose="020B0604020202020204" charset="0"/>
              </a:rPr>
              <a:t>Trivy</a:t>
            </a:r>
            <a:endParaRPr lang="en-US" sz="4800" dirty="0">
              <a:latin typeface="TT Rounds Condensed Italics" panose="020B0604020202020204" charset="0"/>
            </a:endParaRPr>
          </a:p>
          <a:p>
            <a:r>
              <a:rPr lang="en-US" sz="4800" dirty="0" err="1">
                <a:latin typeface="TT Rounds Condensed Italics" panose="020B0604020202020204" charset="0"/>
              </a:rPr>
              <a:t>trivy</a:t>
            </a:r>
            <a:r>
              <a:rPr lang="en-US" sz="4800" dirty="0">
                <a:latin typeface="TT Rounds Condensed Italics" panose="020B0604020202020204" charset="0"/>
              </a:rPr>
              <a:t> image username/registration-service:1.0</a:t>
            </a:r>
          </a:p>
          <a:p>
            <a:r>
              <a:rPr lang="en-US" sz="4800" dirty="0">
                <a:latin typeface="TT Rounds Condensed Italics" panose="020B0604020202020204" charset="0"/>
              </a:rPr>
              <a:t>Reports exported in JSON format to analyze vulnerabilities.</a:t>
            </a:r>
            <a:br>
              <a:rPr lang="en-US" sz="4800" dirty="0">
                <a:latin typeface="TT Rounds Condensed Italics" panose="020B0604020202020204" charset="0"/>
              </a:rPr>
            </a:br>
            <a:r>
              <a:rPr lang="en-US" sz="4800" dirty="0">
                <a:latin typeface="TT Rounds Condensed Italics" panose="020B0604020202020204" charset="0"/>
              </a:rPr>
              <a:t>• patient-service base image updated securely</a:t>
            </a:r>
            <a:br>
              <a:rPr lang="en-US" sz="4800" dirty="0">
                <a:latin typeface="TT Rounds Condensed Italics" panose="020B0604020202020204" charset="0"/>
              </a:rPr>
            </a:br>
            <a:r>
              <a:rPr lang="en-US" sz="4800" dirty="0">
                <a:latin typeface="TT Rounds Condensed Italics" panose="020B0604020202020204" charset="0"/>
              </a:rPr>
              <a:t>• vital-sign-service dependencies verified secure</a:t>
            </a:r>
            <a:br>
              <a:rPr lang="en-US" sz="4800" dirty="0">
                <a:latin typeface="TT Rounds Condensed Italics" panose="020B0604020202020204" charset="0"/>
              </a:rPr>
            </a:br>
            <a:r>
              <a:rPr lang="en-US" sz="4800" dirty="0">
                <a:latin typeface="TT Rounds Condensed Italics" panose="020B0604020202020204" charset="0"/>
              </a:rPr>
              <a:t>   </a:t>
            </a:r>
            <a:r>
              <a:rPr lang="en-US" sz="4800" dirty="0" err="1">
                <a:latin typeface="TT Rounds Condensed Italics" panose="020B0604020202020204" charset="0"/>
              </a:rPr>
              <a:t>mysql</a:t>
            </a:r>
            <a:r>
              <a:rPr lang="en-US" sz="4800" dirty="0">
                <a:latin typeface="TT Rounds Condensed Italics" panose="020B0604020202020204" charset="0"/>
              </a:rPr>
              <a:t> image checked for CVEs</a:t>
            </a:r>
          </a:p>
          <a:p>
            <a:r>
              <a:rPr lang="en-US" sz="4800" dirty="0">
                <a:latin typeface="TT Rounds Condensed Italics" panose="020B0604020202020204" charset="0"/>
              </a:rPr>
              <a:t>Ensured production ready secure containers</a:t>
            </a:r>
            <a:endParaRPr lang="en-IN" sz="4800" dirty="0">
              <a:latin typeface="TT Rounds Condensed Italics" panose="020B0604020202020204" charset="0"/>
            </a:endParaRPr>
          </a:p>
          <a:p>
            <a:pPr marL="0" indent="0">
              <a:buNone/>
            </a:pPr>
            <a:endParaRPr sz="4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T Rounds Condensed Italics" panose="020B0604020202020204" charset="0"/>
              </a:rPr>
              <a:t>Docker</a:t>
            </a:r>
            <a:r>
              <a:rPr lang="en-US" dirty="0">
                <a:latin typeface="TT Rounds Condensed Italics" panose="020B0604020202020204" charset="0"/>
              </a:rPr>
              <a:t> </a:t>
            </a:r>
            <a:r>
              <a:rPr lang="en-US" u="sng" dirty="0">
                <a:latin typeface="TT Rounds Condensed Italics" panose="020B0604020202020204" charset="0"/>
              </a:rPr>
              <a:t>hub</a:t>
            </a:r>
            <a:r>
              <a:rPr lang="en-US" dirty="0">
                <a:latin typeface="TT Rounds Condensed Italics" panose="020B0604020202020204" charset="0"/>
              </a:rPr>
              <a:t> </a:t>
            </a:r>
            <a:r>
              <a:rPr lang="en-US" u="sng" dirty="0">
                <a:latin typeface="TT Rounds Condensed Italics" panose="020B0604020202020204" charset="0"/>
              </a:rPr>
              <a:t>image</a:t>
            </a:r>
            <a:endParaRPr lang="en-IN" u="sng" dirty="0">
              <a:latin typeface="TT Rounds Condensed Italics" panose="020B06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latin typeface="TT Rounds Condensed Italics" panose="020B0604020202020204" charset="0"/>
              </a:rPr>
              <a:t>Pushed hospital user-service latest image</a:t>
            </a:r>
          </a:p>
          <a:p>
            <a:r>
              <a:rPr lang="en-US" sz="4800" dirty="0">
                <a:latin typeface="TT Rounds Condensed Italics" panose="020B0604020202020204" charset="0"/>
              </a:rPr>
              <a:t>Uploaded patient-service </a:t>
            </a:r>
            <a:r>
              <a:rPr lang="en-US" sz="4800" dirty="0" err="1">
                <a:latin typeface="TT Rounds Condensed Italics" panose="020B0604020202020204" charset="0"/>
              </a:rPr>
              <a:t>DockerHub</a:t>
            </a:r>
            <a:r>
              <a:rPr lang="en-US" sz="4800" dirty="0">
                <a:latin typeface="TT Rounds Condensed Italics" panose="020B0604020202020204" charset="0"/>
              </a:rPr>
              <a:t> repository image</a:t>
            </a:r>
          </a:p>
          <a:p>
            <a:r>
              <a:rPr lang="en-US" sz="4800" dirty="0">
                <a:latin typeface="TT Rounds Condensed Italics" panose="020B0604020202020204" charset="0"/>
              </a:rPr>
              <a:t> vital-sign-service image version tagged properly</a:t>
            </a:r>
          </a:p>
          <a:p>
            <a:r>
              <a:rPr lang="en-US" sz="4800" dirty="0">
                <a:latin typeface="TT Rounds Condensed Italics" panose="020B0604020202020204" charset="0"/>
              </a:rPr>
              <a:t> Frontend nginx image deployed successfully</a:t>
            </a:r>
          </a:p>
          <a:p>
            <a:r>
              <a:rPr lang="en-US" sz="4800" dirty="0">
                <a:latin typeface="TT Rounds Condensed Italics" panose="020B0604020202020204" charset="0"/>
              </a:rPr>
              <a:t> Pulled images during AWS deployment</a:t>
            </a:r>
            <a:endParaRPr lang="en-IN" sz="4800" dirty="0">
              <a:latin typeface="TT Rounds Condensed Italic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667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317014"/>
            <a:ext cx="15773400" cy="1988345"/>
          </a:xfrm>
        </p:spPr>
        <p:txBody>
          <a:bodyPr/>
          <a:lstStyle/>
          <a:p>
            <a:r>
              <a:rPr i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028700"/>
            <a:ext cx="12925425" cy="8229600"/>
          </a:xfrm>
        </p:spPr>
        <p:txBody>
          <a:bodyPr>
            <a:noAutofit/>
          </a:bodyPr>
          <a:lstStyle/>
          <a:p>
            <a:r>
              <a:rPr lang="en-IN" sz="4800" dirty="0">
                <a:latin typeface="TT Rounds Condensed Italics" panose="020B0604020202020204" charset="0"/>
              </a:rPr>
              <a:t>Integrated six independent hospital microservices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Enabled secure JWT authentication system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Established Docker Compose orchestration setup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Implemented centralized MySQL database storage</a:t>
            </a:r>
          </a:p>
          <a:p>
            <a:r>
              <a:rPr lang="en-IN" sz="4800" dirty="0">
                <a:latin typeface="TT Rounds Condensed Italics" panose="020B0604020202020204" charset="0"/>
              </a:rPr>
              <a:t>Achieved scalable cloud ready deployment</a:t>
            </a:r>
          </a:p>
          <a:p>
            <a:pPr marL="0" indent="0">
              <a:buNone/>
            </a:pPr>
            <a:endParaRPr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220</TotalTime>
  <Words>1569</Words>
  <Application>Microsoft Office PowerPoint</Application>
  <PresentationFormat>Custom</PresentationFormat>
  <Paragraphs>267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TT Rounds Condensed Italics</vt:lpstr>
      <vt:lpstr>Gill Sans MT</vt:lpstr>
      <vt:lpstr>Calibri</vt:lpstr>
      <vt:lpstr>Arial</vt:lpstr>
      <vt:lpstr>Gallery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Registration Service Microservice</vt:lpstr>
      <vt:lpstr>Functionalities</vt:lpstr>
      <vt:lpstr>Dockerfile Snippet</vt:lpstr>
      <vt:lpstr>Docker-compose.yaml</vt:lpstr>
      <vt:lpstr>Registration page :</vt:lpstr>
      <vt:lpstr>Admin Microservice</vt:lpstr>
      <vt:lpstr>Dockerfile – Admin Service</vt:lpstr>
      <vt:lpstr>Docker Compose –  Admin Service</vt:lpstr>
      <vt:lpstr>DASHBOARD</vt:lpstr>
      <vt:lpstr>User Service Microservice</vt:lpstr>
      <vt:lpstr>Functionalities</vt:lpstr>
      <vt:lpstr>Dockerfile Snippet</vt:lpstr>
      <vt:lpstr>Docker Compose</vt:lpstr>
      <vt:lpstr>USER LOGIN:</vt:lpstr>
      <vt:lpstr>PowerPoint Presentation</vt:lpstr>
      <vt:lpstr>PowerPoint Presentation</vt:lpstr>
      <vt:lpstr>PowerPoint Presentation</vt:lpstr>
      <vt:lpstr>PowerPoint Presentation</vt:lpstr>
      <vt:lpstr>Vital-Sign-Service </vt:lpstr>
      <vt:lpstr>Docker file snippet</vt:lpstr>
      <vt:lpstr>Docker compose vital service </vt:lpstr>
      <vt:lpstr>Vital signs page</vt:lpstr>
      <vt:lpstr>Doctor Service Microservice</vt:lpstr>
      <vt:lpstr>Objective</vt:lpstr>
      <vt:lpstr>Functionalities</vt:lpstr>
      <vt:lpstr>Dockerfile Snippet</vt:lpstr>
      <vt:lpstr>Docker_compose.yaml</vt:lpstr>
      <vt:lpstr>Docker Networking</vt:lpstr>
      <vt:lpstr>Microservice Communication</vt:lpstr>
      <vt:lpstr>Database &amp; Volumes</vt:lpstr>
      <vt:lpstr>Docker Image Security Scan</vt:lpstr>
      <vt:lpstr>Docker hub image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creator>Vignesh Macherla(UST,IN)</dc:creator>
  <cp:lastModifiedBy>Vignesh Macherla(UST,IN)</cp:lastModifiedBy>
  <cp:revision>10</cp:revision>
  <dcterms:created xsi:type="dcterms:W3CDTF">2006-08-16T00:00:00Z</dcterms:created>
  <dcterms:modified xsi:type="dcterms:W3CDTF">2026-03-05T07:30:44Z</dcterms:modified>
  <dc:identifier>DAHDBM7p1Oc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2026-03-05T01:38:13Z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f0294758-4a5d-41eb-8a9b-efb9f550aad9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
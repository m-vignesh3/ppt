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embeddedFontLst>
    <p:embeddedFont>
      <p:font typeface="Neue Haas Grotesk Text Pro" panose="020B0504020202020204" pitchFamily="3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7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12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97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0865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1560963-1EEA-4BDE-8FF9-3FEE13B5D43C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41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2CEDE-2AB4-4FB8-9551-E0AA4222B1A3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37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2CEDE-2AB4-4FB8-9551-E0AA4222B1A3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69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08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789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13549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08220-0958-4EB6-84AC-FBA5654D4035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3366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876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99665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02979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560478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21781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5722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905163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720910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51303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79651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48967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AA3E-BE52-42BC-99E8-CCCB81A57ABD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69852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45119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4059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76273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2983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491A9-BF26-4517-AB22-6183D453A902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854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24DF-23AF-419A-978A-28215FBF1E37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43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62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338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sv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2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584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78763" y="1890911"/>
            <a:ext cx="4530016" cy="69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ResolveOps AI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78763" y="2925564"/>
            <a:ext cx="4530016" cy="204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950"/>
              </a:spcAft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An AI-powered cloud incident investigation platform — built in 7 months while learning DevOps from scratch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861913"/>
            <a:ext cx="3441912" cy="1092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The Problem I Noticed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2916" y="2090837"/>
            <a:ext cx="3441912" cy="74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Production checkout service fails at </a:t>
            </a:r>
            <a:r>
              <a:rPr lang="en-US" sz="1600" b="1" dirty="0">
                <a:solidFill>
                  <a:srgbClr val="00D4FF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3:47 AM</a:t>
            </a: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 The on-call engineer snaps awake and opens: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82916" y="2960489"/>
            <a:ext cx="3441912" cy="158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74320" indent="-274320" algn="l">
              <a:lnSpc>
                <a:spcPct val="119000"/>
              </a:lnSpc>
              <a:buSzPct val="100000"/>
              <a:buChar char="•"/>
            </a:pPr>
            <a:r>
              <a:rPr lang="en-US" sz="1600" b="1" dirty="0">
                <a:solidFill>
                  <a:srgbClr val="D6D9D7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30–90 minutes</a:t>
            </a: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just to find the root cause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algn="l">
              <a:lnSpc>
                <a:spcPct val="119000"/>
              </a:lnSpc>
              <a:buSzPct val="100000"/>
              <a:buChar char="•"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Different engineers check different things — no consistent process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algn="l">
              <a:lnSpc>
                <a:spcPct val="119000"/>
              </a:lnSpc>
              <a:buSzPct val="100000"/>
              <a:buChar char="•"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 chatbots give generic answers — they don't know YOUR infrastructure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410" y="775494"/>
            <a:ext cx="6757620" cy="34000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2916" y="4854476"/>
            <a:ext cx="2554025" cy="62249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7" name="Text 4"/>
          <p:cNvSpPr/>
          <p:nvPr/>
        </p:nvSpPr>
        <p:spPr>
          <a:xfrm>
            <a:off x="957635" y="5029200"/>
            <a:ext cx="2204585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CloudWatch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473462" y="4854476"/>
            <a:ext cx="2554124" cy="62249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9" name="Text 6"/>
          <p:cNvSpPr/>
          <p:nvPr/>
        </p:nvSpPr>
        <p:spPr>
          <a:xfrm>
            <a:off x="3648182" y="5029200"/>
            <a:ext cx="2204685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GitHub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164108" y="4854476"/>
            <a:ext cx="2554025" cy="62249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6338828" y="5029200"/>
            <a:ext cx="2204585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Docker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854655" y="4854476"/>
            <a:ext cx="2554124" cy="62249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13" name="Text 10"/>
          <p:cNvSpPr/>
          <p:nvPr/>
        </p:nvSpPr>
        <p:spPr>
          <a:xfrm>
            <a:off x="9029375" y="5029200"/>
            <a:ext cx="2204685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AWS Console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82916" y="5613499"/>
            <a:ext cx="10625864" cy="62249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15" name="Text 12"/>
          <p:cNvSpPr/>
          <p:nvPr/>
        </p:nvSpPr>
        <p:spPr>
          <a:xfrm>
            <a:off x="957635" y="5788223"/>
            <a:ext cx="10276424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Slack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57225"/>
            <a:ext cx="10625864" cy="688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What Is ResolveOps AI?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916" y="1778893"/>
            <a:ext cx="550452" cy="5504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2916" y="2600226"/>
            <a:ext cx="5177502" cy="3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Single Interface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2916" y="3074194"/>
            <a:ext cx="5177502" cy="698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One place to investigate any cloud incident — no tab-switching, no context loss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1278" y="1778893"/>
            <a:ext cx="550452" cy="5504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31278" y="2600226"/>
            <a:ext cx="5177502" cy="3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Real Evidence First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231278" y="3074194"/>
            <a:ext cx="5177502" cy="698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Collects live data from AWS, Azure, GitHub, and Docker before any AI reasoning begins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916" y="4206577"/>
            <a:ext cx="550452" cy="5504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2916" y="5027910"/>
            <a:ext cx="5177502" cy="3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Structured RCA Output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82916" y="5501878"/>
            <a:ext cx="5177502" cy="698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 produces a Root Cause Analysis with citations, confidence score, and recommendations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1278" y="4206577"/>
            <a:ext cx="550452" cy="5504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31278" y="5027910"/>
            <a:ext cx="5177502" cy="3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100% Read-Only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231278" y="5501878"/>
            <a:ext cx="5177502" cy="698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Never changes your infrastructure automatically — investigates only, never acts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78954"/>
            <a:ext cx="10625864" cy="65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How It Works (Simple Version)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18753" y="1629172"/>
            <a:ext cx="25399" cy="4549874"/>
          </a:xfrm>
          <a:prstGeom prst="roundRect">
            <a:avLst>
              <a:gd name="adj" fmla="val 50001"/>
            </a:avLst>
          </a:prstGeom>
          <a:solidFill>
            <a:srgbClr val="65696B"/>
          </a:solidFill>
          <a:ln/>
        </p:spPr>
      </p:sp>
      <p:sp>
        <p:nvSpPr>
          <p:cNvPr id="4" name="Shape 2"/>
          <p:cNvSpPr/>
          <p:nvPr/>
        </p:nvSpPr>
        <p:spPr>
          <a:xfrm>
            <a:off x="1229240" y="1852315"/>
            <a:ext cx="629130" cy="254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5" name="Shape 3"/>
          <p:cNvSpPr/>
          <p:nvPr/>
        </p:nvSpPr>
        <p:spPr>
          <a:xfrm>
            <a:off x="782866" y="1629172"/>
            <a:ext cx="471773" cy="471785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6" name="Text 4"/>
          <p:cNvSpPr/>
          <p:nvPr/>
        </p:nvSpPr>
        <p:spPr>
          <a:xfrm>
            <a:off x="861445" y="1668413"/>
            <a:ext cx="314516" cy="3932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1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67369" y="1701205"/>
            <a:ext cx="9341410" cy="32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You Ask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67369" y="2146697"/>
            <a:ext cx="934141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"Why is my checkout service failing?"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29240" y="3088084"/>
            <a:ext cx="629130" cy="254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0" name="Shape 8"/>
          <p:cNvSpPr/>
          <p:nvPr/>
        </p:nvSpPr>
        <p:spPr>
          <a:xfrm>
            <a:off x="782866" y="2864941"/>
            <a:ext cx="471773" cy="471785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1" name="Text 9"/>
          <p:cNvSpPr/>
          <p:nvPr/>
        </p:nvSpPr>
        <p:spPr>
          <a:xfrm>
            <a:off x="861445" y="2904182"/>
            <a:ext cx="314516" cy="3932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2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67369" y="2936974"/>
            <a:ext cx="9341410" cy="32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It Collects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67369" y="3382466"/>
            <a:ext cx="934141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CloudWatch metrics, GitHub deployments, Docker restarts, AWS resource state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229240" y="4323854"/>
            <a:ext cx="629130" cy="254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5" name="Shape 13"/>
          <p:cNvSpPr/>
          <p:nvPr/>
        </p:nvSpPr>
        <p:spPr>
          <a:xfrm>
            <a:off x="782866" y="4100711"/>
            <a:ext cx="471773" cy="471785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6" name="Text 14"/>
          <p:cNvSpPr/>
          <p:nvPr/>
        </p:nvSpPr>
        <p:spPr>
          <a:xfrm>
            <a:off x="861445" y="4139952"/>
            <a:ext cx="314516" cy="3932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3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067369" y="4172744"/>
            <a:ext cx="9341410" cy="32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AI Reads Evidence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67369" y="4618236"/>
            <a:ext cx="934141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"High probability — deployment at 3:39 AM changed a config variable"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229240" y="5559623"/>
            <a:ext cx="629130" cy="254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20" name="Shape 18"/>
          <p:cNvSpPr/>
          <p:nvPr/>
        </p:nvSpPr>
        <p:spPr>
          <a:xfrm>
            <a:off x="782866" y="5336480"/>
            <a:ext cx="471773" cy="471785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21" name="Text 19"/>
          <p:cNvSpPr/>
          <p:nvPr/>
        </p:nvSpPr>
        <p:spPr>
          <a:xfrm>
            <a:off x="861445" y="5375721"/>
            <a:ext cx="314516" cy="3932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4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67369" y="5408513"/>
            <a:ext cx="9341410" cy="32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You Get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067369" y="5854005"/>
            <a:ext cx="934141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Summary, probable cause, confidence score, cited evidence, and recommendations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33909"/>
            <a:ext cx="10625864" cy="65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System Architecture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16" y="2096492"/>
            <a:ext cx="6727756" cy="3615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0681" y="2488328"/>
            <a:ext cx="1522505" cy="190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Edge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42714" y="2732781"/>
            <a:ext cx="1610472" cy="294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User to Next.js frontend via Caddy HTTPS.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40296" y="3002609"/>
            <a:ext cx="1522505" cy="190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Gateway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40296" y="3247062"/>
            <a:ext cx="1610472" cy="294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API Gateway routes requests to AI-RCA service.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30681" y="3530424"/>
            <a:ext cx="1522505" cy="190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Processing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42714" y="3774877"/>
            <a:ext cx="1610472" cy="294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AI-RCA forwards to MCP server for orchestration.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40296" y="4119141"/>
            <a:ext cx="1522505" cy="190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Intelligence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40296" y="4363593"/>
            <a:ext cx="1610472" cy="442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AWS, Azure, GitHub, Docker evidence integrations.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30681" y="4674023"/>
            <a:ext cx="1522505" cy="190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Persistence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42714" y="4918476"/>
            <a:ext cx="1610472" cy="442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PostgreSQL on isolated Docker networks with volumes.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028580" y="1780679"/>
            <a:ext cx="3386450" cy="32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Infrastructure at a Glance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028580" y="2304852"/>
            <a:ext cx="3386450" cy="3850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335280" indent="-335280" algn="l">
              <a:lnSpc>
                <a:spcPct val="129000"/>
              </a:lnSpc>
              <a:buSzPct val="100000"/>
              <a:buChar char="•"/>
            </a:pPr>
            <a:r>
              <a:rPr lang="en-US" sz="2000" b="1" dirty="0">
                <a:solidFill>
                  <a:srgbClr val="D6D9D7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13 Docker containers</a:t>
            </a: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orchestrated via Docker Compose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5280" indent="-335280" algn="l">
              <a:lnSpc>
                <a:spcPct val="129000"/>
              </a:lnSpc>
              <a:buSzPct val="100000"/>
              <a:buChar char="•"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All services on </a:t>
            </a:r>
            <a:r>
              <a:rPr lang="en-US" sz="20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isolated Docker networks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5280" indent="-335280" algn="l">
              <a:lnSpc>
                <a:spcPct val="129000"/>
              </a:lnSpc>
              <a:buSzPct val="100000"/>
              <a:buChar char="•"/>
            </a:pPr>
            <a:r>
              <a:rPr lang="en-US" sz="2000" b="1" dirty="0">
                <a:solidFill>
                  <a:srgbClr val="D6D9D7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PostgreSQL</a:t>
            </a: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for persistence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5280" indent="-335280" algn="l">
              <a:lnSpc>
                <a:spcPct val="129000"/>
              </a:lnSpc>
              <a:buSzPct val="100000"/>
              <a:buChar char="•"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Named volumes for database data and generated visual artifacts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5280" indent="-335280" algn="l">
              <a:lnSpc>
                <a:spcPct val="129000"/>
              </a:lnSpc>
              <a:buSzPct val="100000"/>
              <a:buChar char="•"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Caddy handles </a:t>
            </a:r>
            <a:r>
              <a:rPr lang="en-US" sz="2000" dirty="0">
                <a:solidFill>
                  <a:srgbClr val="10B98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HTTPS termination</a:t>
            </a: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automatically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2916" y="1597918"/>
            <a:ext cx="1911600" cy="339923"/>
          </a:xfrm>
          <a:prstGeom prst="roundRect">
            <a:avLst>
              <a:gd name="adj" fmla="val 7897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917056" y="1664990"/>
            <a:ext cx="2252904" cy="2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CORE INNOVATION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82916" y="2027238"/>
            <a:ext cx="10625864" cy="69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Model Context Protocol (MCP)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82916" y="3061891"/>
            <a:ext cx="10625864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MCP is an </a:t>
            </a:r>
            <a:r>
              <a:rPr lang="en-US" sz="2000" b="1" dirty="0">
                <a:solidFill>
                  <a:srgbClr val="00D4FF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open standard from Anthropic</a:t>
            </a: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for AI-to-tool communication. Instead of AI guessing — AI requests specific tools to fetch real data.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82916" y="4029472"/>
            <a:ext cx="10625864" cy="1230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My MCP server exposes: </a:t>
            </a:r>
            <a:r>
              <a:rPr lang="en-US" sz="2000" b="1" dirty="0">
                <a:solidFill>
                  <a:srgbClr val="D6D9D7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AWS tools, Docker tools, GitHub tools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5560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 model calls a tool → gets real data → reasons from actual evidence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5560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Every tool call is </a:t>
            </a:r>
            <a:r>
              <a:rPr lang="en-US" sz="2000" dirty="0">
                <a:solidFill>
                  <a:srgbClr val="10B98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logged</a:t>
            </a: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: what was asked, what came back, how long it took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67941"/>
            <a:ext cx="10625864" cy="1223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Evidence Collection — Concurrent &amp; Fault-Tolerant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82916" y="2233811"/>
            <a:ext cx="5227308" cy="1437779"/>
          </a:xfrm>
          <a:prstGeom prst="roundRect">
            <a:avLst>
              <a:gd name="adj" fmla="val 2042"/>
            </a:avLst>
          </a:prstGeom>
          <a:solidFill>
            <a:srgbClr val="2D3133"/>
          </a:solidFill>
          <a:ln w="25399">
            <a:solidFill>
              <a:srgbClr val="6569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3969" y="2454870"/>
            <a:ext cx="4785201" cy="305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⚡</a:t>
            </a:r>
            <a:r>
              <a:rPr lang="en-US" sz="28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 Concurrent by Design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03969" y="2863354"/>
            <a:ext cx="4785201" cy="587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AWS CloudWatch queried at the same time as GitHub and Docker — no waiting in 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181471" y="2233811"/>
            <a:ext cx="5227308" cy="1437779"/>
          </a:xfrm>
          <a:prstGeom prst="roundRect">
            <a:avLst>
              <a:gd name="adj" fmla="val 2042"/>
            </a:avLst>
          </a:prstGeom>
          <a:solidFill>
            <a:srgbClr val="2D3133"/>
          </a:solidFill>
          <a:ln w="25399">
            <a:solidFill>
              <a:srgbClr val="656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2525" y="2454870"/>
            <a:ext cx="4785201" cy="305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🛡️</a:t>
            </a:r>
            <a:r>
              <a:rPr lang="en-US" sz="28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 Fault-Tolerant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2525" y="2863354"/>
            <a:ext cx="4785201" cy="587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If one source fails — the others still work and return evidence. No single point of failure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82916" y="3842841"/>
            <a:ext cx="5227308" cy="1437779"/>
          </a:xfrm>
          <a:prstGeom prst="roundRect">
            <a:avLst>
              <a:gd name="adj" fmla="val 2042"/>
            </a:avLst>
          </a:prstGeom>
          <a:solidFill>
            <a:srgbClr val="2D3133"/>
          </a:solidFill>
          <a:ln w="25399">
            <a:solidFill>
              <a:srgbClr val="6569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3969" y="4063901"/>
            <a:ext cx="4785201" cy="305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⚠️</a:t>
            </a:r>
            <a:r>
              <a:rPr lang="en-US" sz="28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 Transparent Warnings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3969" y="4472384"/>
            <a:ext cx="4785201" cy="587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Each source failure is recorded and shown as a warning to the user — no silent failures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81471" y="3842841"/>
            <a:ext cx="5227308" cy="1437779"/>
          </a:xfrm>
          <a:prstGeom prst="roundRect">
            <a:avLst>
              <a:gd name="adj" fmla="val 2042"/>
            </a:avLst>
          </a:prstGeom>
          <a:solidFill>
            <a:srgbClr val="2D3133"/>
          </a:solidFill>
          <a:ln w="25399">
            <a:solidFill>
              <a:srgbClr val="6569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2525" y="4063901"/>
            <a:ext cx="4785201" cy="305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🧩</a:t>
            </a:r>
            <a:r>
              <a:rPr lang="en-US" sz="28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 Partial Evidence Wins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2525" y="4472384"/>
            <a:ext cx="4785201" cy="587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Partial evidence is better than waiting for everything or blocking the whole investigation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82916" y="5473303"/>
            <a:ext cx="10625864" cy="716756"/>
          </a:xfrm>
          <a:prstGeom prst="roundRect">
            <a:avLst>
              <a:gd name="adj" fmla="val 4096"/>
            </a:avLst>
          </a:prstGeom>
          <a:solidFill>
            <a:srgbClr val="1D0C74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70" y="5719068"/>
            <a:ext cx="244667" cy="1956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18892" y="5693470"/>
            <a:ext cx="10403818" cy="293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"This was one of the hardest engineering problems I solved"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977900"/>
            <a:ext cx="11235449" cy="447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RCA Investigation Flow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2916" y="1676797"/>
            <a:ext cx="447366" cy="279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Light" pitchFamily="34" charset="-122"/>
                <a:cs typeface="Times New Roman" panose="02020603050405020304" pitchFamily="18" charset="0"/>
              </a:rPr>
              <a:t>01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82916" y="2031504"/>
            <a:ext cx="3392799" cy="2540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5" name="Text 3"/>
          <p:cNvSpPr/>
          <p:nvPr/>
        </p:nvSpPr>
        <p:spPr>
          <a:xfrm>
            <a:off x="782916" y="2194123"/>
            <a:ext cx="3392799" cy="706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Operator asks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Types incident question in the frontend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99349" y="1676797"/>
            <a:ext cx="447366" cy="279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Light" pitchFamily="34" charset="-122"/>
                <a:cs typeface="Times New Roman" panose="02020603050405020304" pitchFamily="18" charset="0"/>
              </a:rPr>
              <a:t>02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99349" y="2031504"/>
            <a:ext cx="3392899" cy="2540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8" name="Text 6"/>
          <p:cNvSpPr/>
          <p:nvPr/>
        </p:nvSpPr>
        <p:spPr>
          <a:xfrm>
            <a:off x="4399349" y="2194123"/>
            <a:ext cx="3392899" cy="1279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Auth + IDs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API Gateway authenticates via JWT → AI-RCA service creates Request ID + Investigation 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15881" y="1676797"/>
            <a:ext cx="447366" cy="279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Light" pitchFamily="34" charset="-122"/>
                <a:cs typeface="Times New Roman" panose="02020603050405020304" pitchFamily="18" charset="0"/>
              </a:rPr>
              <a:t>03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15881" y="2031504"/>
            <a:ext cx="3392799" cy="2540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1" name="Text 9"/>
          <p:cNvSpPr/>
          <p:nvPr/>
        </p:nvSpPr>
        <p:spPr>
          <a:xfrm>
            <a:off x="8015881" y="2194123"/>
            <a:ext cx="3392799" cy="99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Tool Selection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 model sees available MCP tools and selects which ones to call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82916" y="3865066"/>
            <a:ext cx="447366" cy="279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Light" pitchFamily="34" charset="-122"/>
                <a:cs typeface="Times New Roman" panose="02020603050405020304" pitchFamily="18" charset="0"/>
              </a:rPr>
              <a:t>04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82916" y="4219773"/>
            <a:ext cx="5201016" cy="2540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4" name="Text 12"/>
          <p:cNvSpPr/>
          <p:nvPr/>
        </p:nvSpPr>
        <p:spPr>
          <a:xfrm>
            <a:off x="782916" y="4382393"/>
            <a:ext cx="5201016" cy="99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Evidence Collection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MCP server executes tools against real services — source, resource, timestamp, citation captured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07565" y="3865066"/>
            <a:ext cx="447366" cy="279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Light" pitchFamily="34" charset="-122"/>
                <a:cs typeface="Times New Roman" panose="02020603050405020304" pitchFamily="18" charset="0"/>
              </a:rPr>
              <a:t>05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07565" y="4219773"/>
            <a:ext cx="5201115" cy="2540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7" name="Text 15"/>
          <p:cNvSpPr/>
          <p:nvPr/>
        </p:nvSpPr>
        <p:spPr>
          <a:xfrm>
            <a:off x="6207565" y="4382393"/>
            <a:ext cx="5201115" cy="99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RCA Delivered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 correlates evidence → structured JSON: summary, probable cause, confidence, impact, recommendations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2916" y="5794970"/>
            <a:ext cx="11235449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Frontend displays result with </a:t>
            </a:r>
            <a:r>
              <a:rPr lang="en-US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warnings for any unavailable evidence sources</a:t>
            </a: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— full transparency at every step.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88479"/>
            <a:ext cx="10625864" cy="633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AWS Intelligence — What Gets Pulled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82916" y="1804194"/>
            <a:ext cx="2441018" cy="2142034"/>
          </a:xfrm>
          <a:prstGeom prst="roundRect">
            <a:avLst>
              <a:gd name="adj" fmla="val 1420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985614" y="2006898"/>
            <a:ext cx="2035620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EC2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5614" y="2507258"/>
            <a:ext cx="2035620" cy="1236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Instance state, type, AZ, EBS volumes, ENIs, security groups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07583" y="1804194"/>
            <a:ext cx="2441018" cy="2142034"/>
          </a:xfrm>
          <a:prstGeom prst="roundRect">
            <a:avLst>
              <a:gd name="adj" fmla="val 1420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3610282" y="2006898"/>
            <a:ext cx="2035620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CloudWatch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10282" y="2507258"/>
            <a:ext cx="2035620" cy="1236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CPU, memory, network metrics, custom metric alarms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82916" y="4129881"/>
            <a:ext cx="2441018" cy="1832967"/>
          </a:xfrm>
          <a:prstGeom prst="roundRect">
            <a:avLst>
              <a:gd name="adj" fmla="val 1659"/>
            </a:avLst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985614" y="4332585"/>
            <a:ext cx="2035620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CloudTrail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5614" y="4832945"/>
            <a:ext cx="2035620" cy="927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API call history, IAM events, configuration changes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407583" y="4129881"/>
            <a:ext cx="2441018" cy="1832967"/>
          </a:xfrm>
          <a:prstGeom prst="roundRect">
            <a:avLst>
              <a:gd name="adj" fmla="val 1659"/>
            </a:avLst>
          </a:prstGeom>
          <a:solidFill>
            <a:srgbClr val="4C5052"/>
          </a:solidFill>
          <a:ln/>
        </p:spPr>
      </p:sp>
      <p:sp>
        <p:nvSpPr>
          <p:cNvPr id="13" name="Text 11"/>
          <p:cNvSpPr/>
          <p:nvPr/>
        </p:nvSpPr>
        <p:spPr>
          <a:xfrm>
            <a:off x="3610282" y="4332585"/>
            <a:ext cx="2035620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RDS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10282" y="4832945"/>
            <a:ext cx="2035620" cy="927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Database health, snapshots, parameter groups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49444" y="1804194"/>
            <a:ext cx="2441018" cy="2142034"/>
          </a:xfrm>
          <a:prstGeom prst="roundRect">
            <a:avLst>
              <a:gd name="adj" fmla="val 1420"/>
            </a:avLst>
          </a:prstGeom>
          <a:solidFill>
            <a:srgbClr val="4C5052"/>
          </a:solidFill>
          <a:ln/>
        </p:spPr>
      </p:sp>
      <p:sp>
        <p:nvSpPr>
          <p:cNvPr id="16" name="Text 14"/>
          <p:cNvSpPr/>
          <p:nvPr/>
        </p:nvSpPr>
        <p:spPr>
          <a:xfrm>
            <a:off x="6552143" y="2006898"/>
            <a:ext cx="2035620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S3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52143" y="2507258"/>
            <a:ext cx="2035620" cy="1236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Bucket security posture, lifecycle rules, object summary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974111" y="1804194"/>
            <a:ext cx="2441018" cy="2142034"/>
          </a:xfrm>
          <a:prstGeom prst="roundRect">
            <a:avLst>
              <a:gd name="adj" fmla="val 1420"/>
            </a:avLst>
          </a:prstGeom>
          <a:solidFill>
            <a:srgbClr val="4C5052"/>
          </a:solidFill>
          <a:ln/>
        </p:spPr>
      </p:sp>
      <p:sp>
        <p:nvSpPr>
          <p:cNvPr id="19" name="Text 17"/>
          <p:cNvSpPr/>
          <p:nvPr/>
        </p:nvSpPr>
        <p:spPr>
          <a:xfrm>
            <a:off x="9176810" y="2006898"/>
            <a:ext cx="2035620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EKS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76810" y="2507258"/>
            <a:ext cx="2035620" cy="927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Cluster state, node groups, Kubernetes workloads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49444" y="4129881"/>
            <a:ext cx="2441018" cy="1832967"/>
          </a:xfrm>
          <a:prstGeom prst="roundRect">
            <a:avLst>
              <a:gd name="adj" fmla="val 1659"/>
            </a:avLst>
          </a:prstGeom>
          <a:solidFill>
            <a:srgbClr val="4C5052"/>
          </a:solidFill>
          <a:ln/>
        </p:spPr>
      </p:sp>
      <p:sp>
        <p:nvSpPr>
          <p:cNvPr id="22" name="Text 20"/>
          <p:cNvSpPr/>
          <p:nvPr/>
        </p:nvSpPr>
        <p:spPr>
          <a:xfrm>
            <a:off x="6552143" y="4332585"/>
            <a:ext cx="2035620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Lambda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52143" y="4832945"/>
            <a:ext cx="2035620" cy="927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Function state, event sources, configuration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974111" y="4129881"/>
            <a:ext cx="2441018" cy="1832967"/>
          </a:xfrm>
          <a:prstGeom prst="roundRect">
            <a:avLst>
              <a:gd name="adj" fmla="val 1659"/>
            </a:avLst>
          </a:prstGeom>
          <a:solidFill>
            <a:srgbClr val="4C5052"/>
          </a:solidFill>
          <a:ln/>
        </p:spPr>
      </p:sp>
      <p:sp>
        <p:nvSpPr>
          <p:cNvPr id="25" name="Text 23"/>
          <p:cNvSpPr/>
          <p:nvPr/>
        </p:nvSpPr>
        <p:spPr>
          <a:xfrm>
            <a:off x="9176810" y="4332585"/>
            <a:ext cx="2035620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Cost Explorer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76810" y="4832945"/>
            <a:ext cx="2035620" cy="927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Month-to-date billing, on-demand catalog rates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993180"/>
            <a:ext cx="10625864" cy="69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Why Evidence-First Matters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916" y="2027833"/>
            <a:ext cx="3392799" cy="3836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3546" y="2276872"/>
            <a:ext cx="2793136" cy="698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The Problem with Raw AI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33546" y="3109913"/>
            <a:ext cx="2793136" cy="2505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LLMs hallucinate — they make up resource IDs, workflow names, instance states. Ask "why is my service down?" without data → generic, made-up answer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9349" y="2027833"/>
            <a:ext cx="3392899" cy="38369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49979" y="2276872"/>
            <a:ext cx="2793236" cy="698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The ResolveOps Solution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749979" y="3109913"/>
            <a:ext cx="2793236" cy="2505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Collect evidence first → pass evidence to AI → AI reasons </a:t>
            </a:r>
            <a:r>
              <a:rPr lang="en-US" b="1" dirty="0">
                <a:solidFill>
                  <a:srgbClr val="D6D9D7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only from it</a:t>
            </a: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 System prompts explicitly say: </a:t>
            </a:r>
            <a:r>
              <a:rPr lang="en-US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"Do not invent resource names or workflow IDs"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5881" y="2027833"/>
            <a:ext cx="3392799" cy="38369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66511" y="2276872"/>
            <a:ext cx="2793136" cy="698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Cited Conclusions Only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8366511" y="3109913"/>
            <a:ext cx="2793136" cy="178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Every conclusion in the RCA is tied to a </a:t>
            </a:r>
            <a:r>
              <a:rPr lang="en-US" dirty="0">
                <a:solidFill>
                  <a:srgbClr val="10B98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specific cited evidence item</a:t>
            </a: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— no floating claims, no hallucinated infrastructure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68437"/>
            <a:ext cx="10625864" cy="458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Why Evidence-First Matters — The AI Safety Problem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916" y="1379934"/>
            <a:ext cx="4255088" cy="1046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904" y="1545729"/>
            <a:ext cx="3847309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AI without evidence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24904" y="1871464"/>
            <a:ext cx="3847309" cy="389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Hallucinates, makes things up, and sounds confident while inventing details.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916" y="2522736"/>
            <a:ext cx="4255088" cy="10464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904" y="2688530"/>
            <a:ext cx="3847309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Evidence flowing 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024904" y="3014266"/>
            <a:ext cx="3847309" cy="389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Real signals from AWS, Azure, GitHub, and Docker are collected before analysis.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916" y="3665538"/>
            <a:ext cx="4255088" cy="10464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904" y="3831332"/>
            <a:ext cx="3847309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AI with evidence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024904" y="4157067"/>
            <a:ext cx="3847309" cy="389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Grounded conclusions flow out, with cited facts and transparent reasoning.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2524" y="1379934"/>
            <a:ext cx="6012506" cy="15028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644513" y="1545729"/>
            <a:ext cx="5604727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The Problem with Raw AI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644513" y="1871464"/>
            <a:ext cx="5604727" cy="845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33680" indent="-233680" algn="l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LLMs hallucinate — they invent resource IDs, instance names, workflow details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3680" indent="-233680" algn="l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Ask "why is my service down?" without data → generic, made-up answer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3680" indent="-233680" algn="l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Sounds confident but is completely unreliable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2524" y="2979142"/>
            <a:ext cx="6012506" cy="150286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644513" y="3144937"/>
            <a:ext cx="5604727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The ResolveOps 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5644513" y="3470672"/>
            <a:ext cx="5604727" cy="845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33680" indent="-233680" algn="l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Collect real evidence first (AWS, Azure, GitHub, Docker)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3680" indent="-233680" algn="l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Pass evidence to AI → AI reasons ONLY from what was collected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3680" indent="-233680" algn="l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System prompts explicitly block: "Do not invent resource names, workflow IDs, or ARNs"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2524" y="4578350"/>
            <a:ext cx="6012506" cy="150286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44513" y="4744145"/>
            <a:ext cx="5604727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The Result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5644513" y="5069880"/>
            <a:ext cx="5604727" cy="845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233680" indent="-233680" algn="l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Every conclusion is tied to a specific cited evidence item with source and timestamp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3680" indent="-233680" algn="l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Trustworthy, grounded analysis instead of confident-sounding guesses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3680" indent="-233680" algn="l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Full transparency — user sees what evidence was used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15156"/>
            <a:ext cx="10625864" cy="34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Multi-Cloud + Multi-Source Intelligence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120" y="1200745"/>
            <a:ext cx="6751320" cy="32894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2916" y="4704199"/>
            <a:ext cx="2451832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AWS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2916" y="5068133"/>
            <a:ext cx="2451832" cy="595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EC2, RDS, EKS, Lambda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CloudWatch, CloudTrail, S3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EBS volumes, Elastic IPs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Cost Explorer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513943" y="4704199"/>
            <a:ext cx="2451832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Azure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513943" y="5068133"/>
            <a:ext cx="2451832" cy="441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Azure Monitor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Resource health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AKS cluster visibility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44970" y="4704199"/>
            <a:ext cx="2451832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GitHub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44970" y="5068133"/>
            <a:ext cx="2451832" cy="595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Commits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Pull requests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GitHub Actions deployment events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Correlated with incident timeline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975997" y="4704199"/>
            <a:ext cx="2451832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Docker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975997" y="5068133"/>
            <a:ext cx="2451832" cy="595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Container state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Logs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Resource usage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Restart counts (read-only socket)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2916" y="6005392"/>
            <a:ext cx="10625864" cy="595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All four sources queried concurrently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— no waiting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rgbClr val="10B98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If one source fails, the others still return evidence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(fault-tolerant design)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All evidence correlated into a single unified </a:t>
            </a:r>
            <a:r>
              <a:rPr lang="en-US" sz="1100" b="1" dirty="0">
                <a:solidFill>
                  <a:srgbClr val="D6D9D7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Root Cause Analysis response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19323"/>
            <a:ext cx="10625864" cy="48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Security Design — How I Built It Safely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16" y="1377255"/>
            <a:ext cx="3475149" cy="34752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2916" y="4971355"/>
            <a:ext cx="1594902" cy="233759"/>
          </a:xfrm>
          <a:prstGeom prst="roundRect">
            <a:avLst>
              <a:gd name="adj" fmla="val 7895"/>
            </a:avLst>
          </a:prstGeom>
          <a:solidFill>
            <a:srgbClr val="110745"/>
          </a:solidFill>
          <a:ln/>
        </p:spPr>
      </p:sp>
      <p:sp>
        <p:nvSpPr>
          <p:cNvPr id="5" name="Text 2"/>
          <p:cNvSpPr/>
          <p:nvPr/>
        </p:nvSpPr>
        <p:spPr>
          <a:xfrm>
            <a:off x="875187" y="5017492"/>
            <a:ext cx="2019944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READ-ONLY BY DESIGN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454710" y="4971355"/>
            <a:ext cx="1511262" cy="233759"/>
          </a:xfrm>
          <a:prstGeom prst="roundRect">
            <a:avLst>
              <a:gd name="adj" fmla="val 7895"/>
            </a:avLst>
          </a:prstGeom>
          <a:solidFill>
            <a:srgbClr val="110745"/>
          </a:solidFill>
          <a:ln/>
        </p:spPr>
      </p:sp>
      <p:sp>
        <p:nvSpPr>
          <p:cNvPr id="7" name="Text 4"/>
          <p:cNvSpPr/>
          <p:nvPr/>
        </p:nvSpPr>
        <p:spPr>
          <a:xfrm>
            <a:off x="2546981" y="5017492"/>
            <a:ext cx="1936305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ISOLATED NETWORKS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82916" y="5282009"/>
            <a:ext cx="1131165" cy="233759"/>
          </a:xfrm>
          <a:prstGeom prst="roundRect">
            <a:avLst>
              <a:gd name="adj" fmla="val 7895"/>
            </a:avLst>
          </a:prstGeom>
          <a:solidFill>
            <a:srgbClr val="110745"/>
          </a:solidFill>
          <a:ln/>
        </p:spPr>
      </p:sp>
      <p:sp>
        <p:nvSpPr>
          <p:cNvPr id="9" name="Text 6"/>
          <p:cNvSpPr/>
          <p:nvPr/>
        </p:nvSpPr>
        <p:spPr>
          <a:xfrm>
            <a:off x="875187" y="5328146"/>
            <a:ext cx="1556207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TRACEABLE IDS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39650" y="1353542"/>
            <a:ext cx="6775479" cy="2297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43840" indent="-24384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JWT authentication: every API request is verified with a signed token before processing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3840" indent="-24384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AWS credentials from environment variables only — never hardcoded in source code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3840" indent="-24384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Docker socket mounted read-only: the adapter can observe containers but cannot change them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3840" indent="-24384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Investigation path is 100% read-only: no automatic restart, delete, scale, or config changes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3840" indent="-24384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 prompts explicitly block any infrastructure-changing recommendations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3840" indent="-24384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Internal services communicate on isolated Docker backend networks — not exposed to public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3840" indent="-24384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Every request has a unique traceable Request ID and Investigation ID for accountability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82916" y="5753497"/>
            <a:ext cx="10625864" cy="485180"/>
          </a:xfrm>
          <a:prstGeom prst="roundRect">
            <a:avLst>
              <a:gd name="adj" fmla="val 4755"/>
            </a:avLst>
          </a:prstGeom>
          <a:solidFill>
            <a:srgbClr val="1D0C7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701" y="5902623"/>
            <a:ext cx="192182" cy="15378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2668" y="5897563"/>
            <a:ext cx="1058191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"Security was something I had to figure out as I went. Learning about IAM permissions alone took me several days of debugging."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15156"/>
            <a:ext cx="10625864" cy="34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Visual Intelligence — More Than Just Text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2916" y="1076424"/>
            <a:ext cx="11235449" cy="13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Every response is routed to the right format automatically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41" y="1121831"/>
            <a:ext cx="8469730" cy="36524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1977" y="4084235"/>
            <a:ext cx="2679805" cy="29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Text/Table/Chart/Image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46345" y="3210382"/>
            <a:ext cx="2390756" cy="29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Route to Format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46345" y="2422969"/>
            <a:ext cx="2390756" cy="29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Intent Classifier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6345" y="1595877"/>
            <a:ext cx="2390756" cy="29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User Question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82916" y="4656495"/>
            <a:ext cx="5176510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Intent Classifier Routes Every Response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82916" y="4894124"/>
            <a:ext cx="2560276" cy="383183"/>
          </a:xfrm>
          <a:prstGeom prst="roundRect">
            <a:avLst>
              <a:gd name="adj" fmla="val 4378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7432" y="5018643"/>
            <a:ext cx="2311243" cy="13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Plain text (for explanations)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99050" y="4894124"/>
            <a:ext cx="2560375" cy="383183"/>
          </a:xfrm>
          <a:prstGeom prst="roundRect">
            <a:avLst>
              <a:gd name="adj" fmla="val 4378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23567" y="5018643"/>
            <a:ext cx="2311342" cy="13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Data table (for structured data)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82916" y="5333167"/>
            <a:ext cx="2560276" cy="383183"/>
          </a:xfrm>
          <a:prstGeom prst="roundRect">
            <a:avLst>
              <a:gd name="adj" fmla="val 4378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7432" y="5457686"/>
            <a:ext cx="2311243" cy="13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Line/area chart (for metrics over time)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399050" y="5333167"/>
            <a:ext cx="2560375" cy="383183"/>
          </a:xfrm>
          <a:prstGeom prst="roundRect">
            <a:avLst>
              <a:gd name="adj" fmla="val 4378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23567" y="5457686"/>
            <a:ext cx="2311342" cy="13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Mermaid diagram (for architecture/flows)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82916" y="5772210"/>
            <a:ext cx="5176510" cy="383183"/>
          </a:xfrm>
          <a:prstGeom prst="roundRect">
            <a:avLst>
              <a:gd name="adj" fmla="val 4378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7432" y="5896729"/>
            <a:ext cx="4927477" cy="13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Generated image (for visual specs)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238620" y="4656495"/>
            <a:ext cx="5176510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What You Get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238620" y="4894124"/>
            <a:ext cx="2560276" cy="651470"/>
          </a:xfrm>
          <a:prstGeom prst="roundRect">
            <a:avLst>
              <a:gd name="adj" fmla="val 2575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63136" y="5018643"/>
            <a:ext cx="2311243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CloudWatch metrics rendered as real-time interactive charts (CPU spikes, memory trends)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854754" y="4894124"/>
            <a:ext cx="2560375" cy="651470"/>
          </a:xfrm>
          <a:prstGeom prst="roundRect">
            <a:avLst>
              <a:gd name="adj" fmla="val 2575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79271" y="5018643"/>
            <a:ext cx="2311342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Architecture questions generate visual diagrams of infrastructure and service dependencies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238620" y="5601454"/>
            <a:ext cx="2560276" cy="517327"/>
          </a:xfrm>
          <a:prstGeom prst="roundRect">
            <a:avLst>
              <a:gd name="adj" fmla="val 3243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63136" y="5725974"/>
            <a:ext cx="2311243" cy="26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AI-generated visual specs → structured interactive diagrams or PNG images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8854754" y="5601454"/>
            <a:ext cx="2560375" cy="517327"/>
          </a:xfrm>
          <a:prstGeom prst="roundRect">
            <a:avLst>
              <a:gd name="adj" fmla="val 3243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979271" y="5725974"/>
            <a:ext cx="2311342" cy="26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Every visual response always paired with a plain-text technical explanation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238620" y="6174641"/>
            <a:ext cx="5176510" cy="383183"/>
          </a:xfrm>
          <a:prstGeom prst="roundRect">
            <a:avLst>
              <a:gd name="adj" fmla="val 4378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63136" y="6299160"/>
            <a:ext cx="4927477" cy="13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Fallback design: if image generation fails → falls back to structured diagram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1146345" y="8047534"/>
            <a:ext cx="10760203" cy="13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Example: Ask 'Show me the architecture of my checkout service' → get a full architecture diagram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2916" y="693738"/>
            <a:ext cx="1227305" cy="201712"/>
          </a:xfrm>
          <a:prstGeom prst="roundRect">
            <a:avLst>
              <a:gd name="adj" fmla="val 7902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862586" y="733524"/>
            <a:ext cx="1677549" cy="122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LEARNING JOURNEY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82916" y="926902"/>
            <a:ext cx="10625864" cy="41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What I Learned Building This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916" y="1460202"/>
            <a:ext cx="331978" cy="3319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2916" y="1890712"/>
            <a:ext cx="5263621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Docker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82916" y="2145407"/>
            <a:ext cx="5263621" cy="338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Multi-container orchestration, health checks, named volumes, and network isolation between services.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5059" y="1460202"/>
            <a:ext cx="331978" cy="3319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45059" y="1890712"/>
            <a:ext cx="5263721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AWS SDK (boto3)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145059" y="2145407"/>
            <a:ext cx="5263721" cy="169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Writing real API calls to EC2, CloudWatch, RDS, S3, Lambda, and Cost Explorer.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916" y="2641798"/>
            <a:ext cx="331978" cy="33198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2916" y="3072309"/>
            <a:ext cx="5263621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Python FastAPI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782916" y="3327003"/>
            <a:ext cx="5263621" cy="169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Building 10 production-style microservices from scratch.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5059" y="2641798"/>
            <a:ext cx="331978" cy="33198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45059" y="3072309"/>
            <a:ext cx="5263721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Next.js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6145059" y="3327003"/>
            <a:ext cx="5263721" cy="169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Building a full production-grade frontend with dynamic routing and API integration.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916" y="3654028"/>
            <a:ext cx="331978" cy="33198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82916" y="4084538"/>
            <a:ext cx="5263621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Model Context Protocol (MCP)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782916" y="4339233"/>
            <a:ext cx="5263621" cy="169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 brand-new Anthropic open standard I had never heard of before starting.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5059" y="3654028"/>
            <a:ext cx="331978" cy="33198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45059" y="4084538"/>
            <a:ext cx="5263721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Prompt Engineering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6145059" y="4339233"/>
            <a:ext cx="5263721" cy="169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How to prevent AI hallucinations by structuring system prompts carefully.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2916" y="4666258"/>
            <a:ext cx="331978" cy="33198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82916" y="5096768"/>
            <a:ext cx="5263621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Security Thinking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782916" y="5351462"/>
            <a:ext cx="5263621" cy="169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Credentials, IAM permissions, read-only boundaries, and JWT auth.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45059" y="4666258"/>
            <a:ext cx="331978" cy="33198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145059" y="5096768"/>
            <a:ext cx="5263721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Failure Thinking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6145059" y="5351462"/>
            <a:ext cx="5263721" cy="338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Designing what happens when one service crashes without breaking everything else.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782916" y="5778897"/>
            <a:ext cx="10625864" cy="385366"/>
          </a:xfrm>
          <a:prstGeom prst="roundRect">
            <a:avLst>
              <a:gd name="adj" fmla="val 5170"/>
            </a:avLst>
          </a:prstGeom>
          <a:solidFill>
            <a:srgbClr val="1D0C74"/>
          </a:solidFill>
          <a:ln/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5667" y="5895280"/>
            <a:ext cx="165989" cy="132755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214407" y="5890816"/>
            <a:ext cx="10671206" cy="169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"I started this when I didn't know what Docker Compose was. Every single one of these was a new concept at some point during the build."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30436"/>
            <a:ext cx="10625864" cy="4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The Hardest Challenges I Faced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916" y="1184077"/>
            <a:ext cx="3492115" cy="28302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51336" y="1281013"/>
            <a:ext cx="155174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31244" y="1701304"/>
            <a:ext cx="3195458" cy="40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Challenge 1: Getting 13 Docker services to start in the correct order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31244" y="2150170"/>
            <a:ext cx="3195458" cy="1350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 complex orchestration problem where services have interdependencies, leading to startup failures and instability if not managed properly.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Solution: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Implemented </a:t>
            </a:r>
            <a:r>
              <a:rPr lang="en-US" sz="1100" dirty="0">
                <a:solidFill>
                  <a:srgbClr val="10B98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Docker health checks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for each service. This ensures a service waits for its dependencies to be fully healthy and operational before it attempts to start, creating a robust and orderly startup sequence.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9740" y="1184077"/>
            <a:ext cx="3492115" cy="28302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18161" y="1281013"/>
            <a:ext cx="155174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498069" y="1701304"/>
            <a:ext cx="3195458" cy="606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Challenge 2: AWS IAM permissions — understanding what each service needs access to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498069" y="2352179"/>
            <a:ext cx="3195458" cy="1513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Navigating the intricate world of AWS Identity and Access Management to assign precise permissions, avoiding both over-privileging and under-privileging resources.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Solution: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Dedicated significant time to </a:t>
            </a:r>
            <a:r>
              <a:rPr lang="en-US" sz="11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reading AWS documentation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and conducting individual tests for each permission. Adopted the principle of </a:t>
            </a:r>
            <a:r>
              <a:rPr lang="en-US" sz="1100" dirty="0">
                <a:solidFill>
                  <a:srgbClr val="10B98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least privilege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granting only the necessary access for each service to function.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6565" y="1184077"/>
            <a:ext cx="3492115" cy="28302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84986" y="1281013"/>
            <a:ext cx="155174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8064894" y="1701304"/>
            <a:ext cx="3195458" cy="40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Challenge 3: Preventing AI hallucinations — AI kept making up resource names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064894" y="2150170"/>
            <a:ext cx="3195458" cy="1513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Combating the tendency of Large Language Models (LLMs) to confidently generate non-existent information or details when not properly constrained by real data.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Solution: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Employed extensive </a:t>
            </a:r>
            <a:r>
              <a:rPr lang="en-US" sz="1100" dirty="0">
                <a:solidFill>
                  <a:srgbClr val="10B98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prompt engineering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techniques. Explicitly forbade the AI from inventing identifiers and mandated the inclusion of </a:t>
            </a:r>
            <a:r>
              <a:rPr lang="en-US" sz="11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evidence citations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for every piece of information in its responses, grounding its output in fact.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916" y="4089003"/>
            <a:ext cx="5275527" cy="21385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343092" y="4185940"/>
            <a:ext cx="155174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931244" y="4606230"/>
            <a:ext cx="4978871" cy="40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Challenge 4: Concurrent evidence collection — querying 4 sources at once without mixing results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31244" y="5055096"/>
            <a:ext cx="4978871" cy="102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complexity of simultaneously querying multiple disparate data sources (AWS, Azure, GitHub, Docker) and ensuring their distinct results are accurately aggregated without cross-contamination or data integrity issues.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Solution: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Each source call was </a:t>
            </a:r>
            <a:r>
              <a:rPr lang="en-US" sz="1100" dirty="0">
                <a:solidFill>
                  <a:srgbClr val="10B98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isolated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using </a:t>
            </a:r>
            <a:r>
              <a:rPr lang="en-US" sz="11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Python asynchronous patterns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 Furthermore, each call was wrapped in independent error handling mechanisms, guaranteeing robust and separate data collection.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3153" y="4089003"/>
            <a:ext cx="5275527" cy="213856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93329" y="4185940"/>
            <a:ext cx="155174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6281481" y="4606230"/>
            <a:ext cx="4978871" cy="202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Challenge 5: Building a frontend that looks production-grade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6281481" y="4853087"/>
            <a:ext cx="4978871" cy="1187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challenge of designing and implementing a user interface that is not only functional but also visually appealing, intuitive, and polished enough to meet professional product standards.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Solution: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Conducted thorough research by </a:t>
            </a:r>
            <a:r>
              <a:rPr lang="en-US" sz="11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studying modern DevOps dashboards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for best practices. Incorporated design elements like </a:t>
            </a:r>
            <a:r>
              <a:rPr lang="en-US" sz="1100" dirty="0">
                <a:solidFill>
                  <a:srgbClr val="10B98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glassmorphism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and a cohesive </a:t>
            </a:r>
            <a:r>
              <a:rPr lang="en-US" sz="1100" dirty="0">
                <a:solidFill>
                  <a:srgbClr val="10B98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dark theme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coupled with robust </a:t>
            </a:r>
            <a:r>
              <a:rPr lang="en-US" sz="11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real data bindings</a:t>
            </a:r>
            <a:r>
              <a:rPr lang="en-US" sz="11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for dynamic content.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36389"/>
            <a:ext cx="10625864" cy="469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Technology Stack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2916" y="1307902"/>
            <a:ext cx="11235449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Built with modern, production-grade tools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916" y="1622524"/>
            <a:ext cx="375732" cy="3757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2916" y="2124472"/>
            <a:ext cx="5249830" cy="234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Frontend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2916" y="2419846"/>
            <a:ext cx="5249830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Next.js 14</a:t>
            </a: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React</a:t>
            </a: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JavaScript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8949" y="1622524"/>
            <a:ext cx="375732" cy="3757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58949" y="2124472"/>
            <a:ext cx="5249830" cy="234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Backend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158949" y="2419846"/>
            <a:ext cx="5249830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Python 3.11</a:t>
            </a: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FastAPI-style HTTP services (10 services)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916" y="2822773"/>
            <a:ext cx="375732" cy="3757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2916" y="3324721"/>
            <a:ext cx="5249830" cy="234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AI Providers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82916" y="3620095"/>
            <a:ext cx="5249830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Groq</a:t>
            </a: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(LLaMA 3.1 free tier), </a:t>
            </a:r>
            <a:r>
              <a:rPr lang="en-US" sz="16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Amazon Bedrock</a:t>
            </a: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OpenAI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8949" y="2822773"/>
            <a:ext cx="375732" cy="3757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58949" y="3324721"/>
            <a:ext cx="5249830" cy="234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Protocol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6158949" y="3620095"/>
            <a:ext cx="5249830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Model Context Protocol (MCP)</a:t>
            </a: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— Anthropic open standard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916" y="4023023"/>
            <a:ext cx="375732" cy="37574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82916" y="4524970"/>
            <a:ext cx="5249830" cy="234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Database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782916" y="4820345"/>
            <a:ext cx="5249830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PostgreSQL 15</a:t>
            </a: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Alpine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8949" y="4023023"/>
            <a:ext cx="375732" cy="37574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58949" y="4524970"/>
            <a:ext cx="5249830" cy="234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Deployment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6158949" y="4820345"/>
            <a:ext cx="5249830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Docker Compose</a:t>
            </a: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(13 containers), </a:t>
            </a:r>
            <a:r>
              <a:rPr lang="en-US" sz="16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AWS EC2 t3.large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2916" y="5223272"/>
            <a:ext cx="375732" cy="375741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82916" y="5725220"/>
            <a:ext cx="5249830" cy="234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Edge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782916" y="6020594"/>
            <a:ext cx="5249830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Caddy HTTPS</a:t>
            </a: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reverse proxy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58949" y="5223272"/>
            <a:ext cx="375732" cy="375741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158949" y="5725220"/>
            <a:ext cx="5249830" cy="234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Notifications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6158949" y="6020594"/>
            <a:ext cx="5249830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Slack webhook</a:t>
            </a: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SMTP email, </a:t>
            </a:r>
            <a:r>
              <a:rPr lang="en-US" sz="16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PagerDuty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72505"/>
            <a:ext cx="10625864" cy="44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What's Next + Thank You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2916" y="1349673"/>
            <a:ext cx="5138113" cy="2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Future Roadmap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82916" y="1676797"/>
            <a:ext cx="5138113" cy="790277"/>
          </a:xfrm>
          <a:prstGeom prst="roundRect">
            <a:avLst>
              <a:gd name="adj" fmla="val 2720"/>
            </a:avLst>
          </a:prstGeom>
          <a:solidFill>
            <a:srgbClr val="4C5052"/>
          </a:solidFill>
          <a:ln/>
        </p:spPr>
      </p:sp>
      <p:sp>
        <p:nvSpPr>
          <p:cNvPr id="5" name="Text 3"/>
          <p:cNvSpPr/>
          <p:nvPr/>
        </p:nvSpPr>
        <p:spPr>
          <a:xfrm>
            <a:off x="926184" y="1820069"/>
            <a:ext cx="4851576" cy="2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Kubernetes (Helm chart)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26184" y="2135783"/>
            <a:ext cx="4851576" cy="18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Moving from Docker Compose to production-grade orchestration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82916" y="2558852"/>
            <a:ext cx="5138113" cy="790277"/>
          </a:xfrm>
          <a:prstGeom prst="roundRect">
            <a:avLst>
              <a:gd name="adj" fmla="val 2720"/>
            </a:avLst>
          </a:prstGeom>
          <a:solidFill>
            <a:srgbClr val="4C5052"/>
          </a:solidFill>
          <a:ln/>
        </p:spPr>
      </p:sp>
      <p:sp>
        <p:nvSpPr>
          <p:cNvPr id="8" name="Text 6"/>
          <p:cNvSpPr/>
          <p:nvPr/>
        </p:nvSpPr>
        <p:spPr>
          <a:xfrm>
            <a:off x="926184" y="2702123"/>
            <a:ext cx="4851576" cy="2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Real-time streaming RCA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26184" y="3017838"/>
            <a:ext cx="4851576" cy="18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Live incident investigation as events happen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82916" y="3440906"/>
            <a:ext cx="5138113" cy="745133"/>
          </a:xfrm>
          <a:prstGeom prst="roundRect">
            <a:avLst>
              <a:gd name="adj" fmla="val 2885"/>
            </a:avLst>
          </a:prstGeom>
          <a:solidFill>
            <a:srgbClr val="4C5052"/>
          </a:solidFill>
          <a:ln/>
        </p:spPr>
      </p:sp>
      <p:sp>
        <p:nvSpPr>
          <p:cNvPr id="11" name="Text 9"/>
          <p:cNvSpPr/>
          <p:nvPr/>
        </p:nvSpPr>
        <p:spPr>
          <a:xfrm>
            <a:off x="926184" y="3584178"/>
            <a:ext cx="4851576" cy="45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Mobile dashboard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Investigate incidents on the go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82916" y="4277816"/>
            <a:ext cx="5138113" cy="790277"/>
          </a:xfrm>
          <a:prstGeom prst="roundRect">
            <a:avLst>
              <a:gd name="adj" fmla="val 2720"/>
            </a:avLst>
          </a:prstGeom>
          <a:solidFill>
            <a:srgbClr val="4C5052"/>
          </a:solidFill>
          <a:ln/>
        </p:spPr>
      </p:sp>
      <p:sp>
        <p:nvSpPr>
          <p:cNvPr id="13" name="Text 11"/>
          <p:cNvSpPr/>
          <p:nvPr/>
        </p:nvSpPr>
        <p:spPr>
          <a:xfrm>
            <a:off x="926184" y="4421088"/>
            <a:ext cx="4851576" cy="2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D9D7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Governed remediation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26184" y="4736802"/>
            <a:ext cx="4851576" cy="18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AI-suggested fixes with human approval gates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91919" y="2932509"/>
            <a:ext cx="4923210" cy="564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            I built this in </a:t>
            </a:r>
            <a:r>
              <a:rPr lang="en-US" sz="1400" dirty="0">
                <a:solidFill>
                  <a:srgbClr val="00D4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7 months</a:t>
            </a: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while learning DevOps.             Every service was a new concept.             Every bug was a lesson.             The goal was simple — </a:t>
            </a:r>
            <a:r>
              <a:rPr lang="en-US" sz="1400" dirty="0">
                <a:solidFill>
                  <a:srgbClr val="10B98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solve a real problem</a:t>
            </a:r>
            <a:r>
              <a:rPr lang="en-US" sz="14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and actually ship something.          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77016" y="2849959"/>
            <a:ext cx="19050" cy="729159"/>
          </a:xfrm>
          <a:prstGeom prst="roundRect">
            <a:avLst>
              <a:gd name="adj" fmla="val 49999"/>
            </a:avLst>
          </a:prstGeom>
          <a:solidFill>
            <a:srgbClr val="AC9EF5"/>
          </a:solidFill>
          <a:ln/>
        </p:spPr>
      </p:sp>
      <p:sp>
        <p:nvSpPr>
          <p:cNvPr id="17" name="Text 15"/>
          <p:cNvSpPr/>
          <p:nvPr/>
        </p:nvSpPr>
        <p:spPr>
          <a:xfrm>
            <a:off x="782916" y="5308898"/>
            <a:ext cx="10625864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7F7F8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Call to Action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2916" y="5715198"/>
            <a:ext cx="10625864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      </a:t>
            </a:r>
            <a:r>
              <a:rPr lang="en-US" sz="1600" b="1" dirty="0">
                <a:solidFill>
                  <a:srgbClr val="D6D9D7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Demo:</a:t>
            </a: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u="sng" dirty="0">
                <a:solidFill>
                  <a:srgbClr val="AC9EF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http://localhost:3000</a:t>
            </a: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     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      </a:t>
            </a:r>
            <a:r>
              <a:rPr lang="en-US" sz="1600" b="1" dirty="0">
                <a:solidFill>
                  <a:srgbClr val="D6D9D7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GitHub:</a:t>
            </a: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u="sng" dirty="0">
                <a:solidFill>
                  <a:srgbClr val="AC9EF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[your repo link]   </a:t>
            </a:r>
            <a:r>
              <a:rPr lang="en-US" sz="1600" dirty="0">
                <a:solidFill>
                  <a:srgbClr val="D6D9D7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14</TotalTime>
  <Words>2042</Words>
  <Application>Microsoft Office PowerPoint</Application>
  <PresentationFormat>Widescreen</PresentationFormat>
  <Paragraphs>272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Times New Roman</vt:lpstr>
      <vt:lpstr>Neue Haas Grotesk Text Pro</vt:lpstr>
      <vt:lpstr>Arial</vt:lpstr>
      <vt:lpstr>Dune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Vignesh M</cp:lastModifiedBy>
  <cp:revision>2</cp:revision>
  <dcterms:created xsi:type="dcterms:W3CDTF">2026-09-03T05:18:28Z</dcterms:created>
  <dcterms:modified xsi:type="dcterms:W3CDTF">2026-09-03T05:32:48Z</dcterms:modified>
</cp:coreProperties>
</file>
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embeddedFontLst>
    <p:embeddedFont>
      <p:font typeface="DM Sans" pitchFamily="2" charset="0"/>
      <p:regular r:id="rId14"/>
      <p:bold r:id="rId15"/>
    </p:embeddedFont>
    <p:embeddedFont>
      <p:font typeface="Libre Baskerville" panose="02000000000000000000" pitchFamily="2" charset="0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845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52865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99004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55072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77235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1671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3367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35248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00108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43447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08323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16974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0298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852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53681" y="946695"/>
            <a:ext cx="40936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Clahan Academy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925118" y="1749771"/>
            <a:ext cx="4722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Cloud Native AI-Powered Online Examination Platform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925119" y="2809131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Enterprise-grade solution designed for 10,000+ concurrent students — built on Azure, Kubernetes, and AI services for secure, scalable examinations.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30325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Project Overview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00183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Clahan Academy is a cloud-native online exam platform engineered for scale, security, and automation.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025997"/>
            <a:ext cx="552450" cy="5524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5748" y="2025997"/>
            <a:ext cx="117537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AI Proctoring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225748" y="2553965"/>
            <a:ext cx="117537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Real-time monitoring, face recognition, and anomaly detection to enforce exam integrity.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2025997"/>
            <a:ext cx="552450" cy="552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07928" y="2025997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Coding Assessments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3307928" y="2553965"/>
            <a:ext cx="1175445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Judge0 integration for sandboxed compilation and automated scoring.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2025997"/>
            <a:ext cx="552450" cy="552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90183" y="2025997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Scalable AKS Deployment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5390183" y="2553965"/>
            <a:ext cx="1175445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Microservices on AKS with horizontal autoscale and resilient ingress.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2025997"/>
            <a:ext cx="552450" cy="552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72437" y="2025997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Data &amp; Cache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7472437" y="2553965"/>
            <a:ext cx="1175445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Azure Database for PostgreSQL for persistence and Redis for session and fast-cache.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6095"/>
            <a:ext cx="383247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Business Requirements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96119" y="1077218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requirements prioritized for enterprise delivery: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38969" y="1600796"/>
            <a:ext cx="4722763" cy="2239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Scale to 10,000+ concurrent students with </a:t>
            </a:r>
            <a:r>
              <a:rPr lang="en-US" sz="1200" b="1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predictable performance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Secure, tamper-resistant exam environment with AI proctoring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Support for MCQ and coding assessments (Judge0), automated evaluation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Real-time monitoring, WebSocket streams, and low-latency notifications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Cloud-native deployment with Terraform and CI/CD automation (GitHub Actions)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8EFB8F-C91D-2439-EE82-2AE37581A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00" y="0"/>
            <a:ext cx="81682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055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283518"/>
            <a:ext cx="4906194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Architecture</a:t>
            </a:r>
            <a:endParaRPr lang="en-US" sz="2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7616E0-34DA-4767-F425-C30EDC900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69" y="721519"/>
            <a:ext cx="7286625" cy="40664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67991" y="438448"/>
            <a:ext cx="2767161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Microservices Architecture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23" y="1052736"/>
            <a:ext cx="2918296" cy="371928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8114" y="779934"/>
            <a:ext cx="210369" cy="21036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78114" y="1052736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Frontend Service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4078114" y="1234157"/>
            <a:ext cx="3402657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React + Vite delivering SPA, secure with token refresh and content delivery via CDN.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8114" y="1441400"/>
            <a:ext cx="210369" cy="21036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078114" y="1714202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Auth Service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4078114" y="1895624"/>
            <a:ext cx="3402657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Login, registration, JWT issuance, OIDC integration, MFA support.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78114" y="2102867"/>
            <a:ext cx="210369" cy="21036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078114" y="2375669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Exam Service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4078114" y="2557090"/>
            <a:ext cx="3402657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MCQ &amp; coding test orchestration, scheduling, grading hooks to Judge0.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8114" y="2764334"/>
            <a:ext cx="210369" cy="21036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078114" y="3037136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Proctoring Service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4078114" y="3218557"/>
            <a:ext cx="3402657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WebSocket ingest, stream relay, event generation for AI analysis.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78114" y="3425800"/>
            <a:ext cx="210369" cy="210369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078114" y="3698602"/>
            <a:ext cx="1072828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Notification Service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4078114" y="3880024"/>
            <a:ext cx="3402657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Email/SMS queue integration and event-driven notifications via Service Bus.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78114" y="4087267"/>
            <a:ext cx="210369" cy="210369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4078114" y="4360069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AI Service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4078114" y="4541490"/>
            <a:ext cx="3402657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Runs YOLOv8, InsightFace, and Ollama models for proctoring and evaluation signals.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439936"/>
            <a:ext cx="279238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AI Proctoring Workflow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835" y="806053"/>
            <a:ext cx="4498256" cy="35707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61858" y="2205735"/>
            <a:ext cx="808363" cy="739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AI Proctoring Workflow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957077" y="1142500"/>
            <a:ext cx="1202583" cy="369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Student webcam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957077" y="1564754"/>
            <a:ext cx="1202583" cy="123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Live video capture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952600" y="1050080"/>
            <a:ext cx="1202583" cy="5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Notification and Exam Service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952600" y="1657174"/>
            <a:ext cx="1202583" cy="123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Alerts &amp; exam control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952600" y="3519324"/>
            <a:ext cx="1202583" cy="184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AI Service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952600" y="3756740"/>
            <a:ext cx="1202583" cy="247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InsightFace, YOLOv8, Haar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957077" y="3426905"/>
            <a:ext cx="1202583" cy="369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Proctoring Service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957077" y="3849160"/>
            <a:ext cx="1202583" cy="247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Frame orchestration &amp; rules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390833" y="2237363"/>
            <a:ext cx="1228872" cy="369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WebSocket stream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390833" y="2659618"/>
            <a:ext cx="1228872" cy="247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Real-time frame delivery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512273" y="2336355"/>
            <a:ext cx="1228872" cy="184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Event bus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512273" y="2573770"/>
            <a:ext cx="1228872" cy="247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Publish detection events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1448"/>
            <a:ext cx="347439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Layer Architecture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82" y="1355601"/>
            <a:ext cx="3924598" cy="276634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28629" y="1106314"/>
            <a:ext cx="1908051" cy="1489993"/>
          </a:xfrm>
          <a:prstGeom prst="roundRect">
            <a:avLst>
              <a:gd name="adj" fmla="val 3497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856783" y="123505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856783" y="1537395"/>
            <a:ext cx="1650578" cy="930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source for users, exams, results, configuration. Backups and read-replicas for HA and analytics.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744593" y="1106314"/>
            <a:ext cx="1908051" cy="1489993"/>
          </a:xfrm>
          <a:prstGeom prst="roundRect">
            <a:avLst>
              <a:gd name="adj" fmla="val 3497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73329" y="123505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Redis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73329" y="1537395"/>
            <a:ext cx="1650578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 store, distributed locks, transient exam state and rate-limiting.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744463" y="2704802"/>
            <a:ext cx="1908051" cy="1117922"/>
          </a:xfrm>
          <a:prstGeom prst="roundRect">
            <a:avLst>
              <a:gd name="adj" fmla="val 4660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73199" y="283353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Blob Storage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873199" y="3135883"/>
            <a:ext cx="1650578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Secure storage for screenshots, recordings, reports, and export artifacts.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83183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Kubernetes &amp; Azure Infrastructure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86556" y="1243348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Infrastructure as code with Terraform provisions secure network, multi-node AKS, ACR, managed databases, caching, and telemetry. Workload Identity and managed identities enforce least privilege.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069" y="2344415"/>
            <a:ext cx="1498774" cy="22158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4077" y="2505224"/>
            <a:ext cx="11009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Scalability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14077" y="2811735"/>
            <a:ext cx="1100956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Cluster autoscaler, HPA for pods, node pools for workload separation.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98551" y="2344415"/>
            <a:ext cx="1498774" cy="221582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335560" y="2505224"/>
            <a:ext cx="11009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High Availability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2335560" y="3033192"/>
            <a:ext cx="1100956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Multi-AZ node pools, read replicas, and redundant storage accounts.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0033" y="2344415"/>
            <a:ext cx="1498774" cy="22158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957042" y="2505224"/>
            <a:ext cx="11009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Security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3957042" y="2811735"/>
            <a:ext cx="11009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Workload Identity, RBAC, network policies, secrets in Kubernetes backed by Azure Key Vault.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9452" y="430113"/>
            <a:ext cx="24064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5C4E3D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CI/CD Pipeline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06" y="1000944"/>
            <a:ext cx="4875982" cy="2849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39929" y="849660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 Light" pitchFamily="34" charset="-122"/>
                <a:cs typeface="Times New Roman" panose="02020603050405020304" pitchFamily="18" charset="0"/>
              </a:rPr>
              <a:t>01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739929" y="1000944"/>
            <a:ext cx="2199233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6" name="Text 3"/>
          <p:cNvSpPr/>
          <p:nvPr/>
        </p:nvSpPr>
        <p:spPr>
          <a:xfrm>
            <a:off x="5739929" y="1078185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1. Code Push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39929" y="1297409"/>
            <a:ext cx="2199233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Feature branch triggers pipeline in GitHub Actions.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39929" y="1700585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 Light" pitchFamily="34" charset="-122"/>
                <a:cs typeface="Times New Roman" panose="02020603050405020304" pitchFamily="18" charset="0"/>
              </a:rPr>
              <a:t>02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739929" y="1851868"/>
            <a:ext cx="2199233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0" name="Text 7"/>
          <p:cNvSpPr/>
          <p:nvPr/>
        </p:nvSpPr>
        <p:spPr>
          <a:xfrm>
            <a:off x="5739929" y="1929110"/>
            <a:ext cx="146342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2–4. Quality &amp; Security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739929" y="2148334"/>
            <a:ext cx="2199233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Unit tests, SonarQube analysis, Trivy container scanning enforce quality gates.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739929" y="2551509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 Light" pitchFamily="34" charset="-122"/>
                <a:cs typeface="Times New Roman" panose="02020603050405020304" pitchFamily="18" charset="0"/>
              </a:rPr>
              <a:t>03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739929" y="2702793"/>
            <a:ext cx="2199233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4" name="Text 11"/>
          <p:cNvSpPr/>
          <p:nvPr/>
        </p:nvSpPr>
        <p:spPr>
          <a:xfrm>
            <a:off x="5739929" y="2780035"/>
            <a:ext cx="1321966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5–7. Build &amp; Approve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739929" y="2999259"/>
            <a:ext cx="2199233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Docker image built and pushed to ACR, policy/approval gates for production releases.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739929" y="3402434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 Light" pitchFamily="34" charset="-122"/>
                <a:cs typeface="Times New Roman" panose="02020603050405020304" pitchFamily="18" charset="0"/>
              </a:rPr>
              <a:t>04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739929" y="3553718"/>
            <a:ext cx="2199233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8" name="Text 15"/>
          <p:cNvSpPr/>
          <p:nvPr/>
        </p:nvSpPr>
        <p:spPr>
          <a:xfrm>
            <a:off x="5739929" y="3630960"/>
            <a:ext cx="1425625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8–9. Deploy &amp; Validate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739929" y="3850184"/>
            <a:ext cx="2199233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Deploy to AKS via GitOps/helm, run smoke tests, and auto-promote on success.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508D91-A498-7FA9-F36A-E7A19158DAE1}"/>
              </a:ext>
            </a:extLst>
          </p:cNvPr>
          <p:cNvSpPr txBox="1"/>
          <p:nvPr/>
        </p:nvSpPr>
        <p:spPr>
          <a:xfrm>
            <a:off x="1343025" y="1550193"/>
            <a:ext cx="6321410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5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68923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</TotalTime>
  <Words>528</Words>
  <Application>Microsoft Office PowerPoint</Application>
  <PresentationFormat>On-screen Show (16:9)</PresentationFormat>
  <Paragraphs>86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DM Sans</vt:lpstr>
      <vt:lpstr>Times New Roman</vt:lpstr>
      <vt:lpstr>Arial</vt:lpstr>
      <vt:lpstr>Calibri</vt:lpstr>
      <vt:lpstr>Libre Baskerville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Vignesh M</cp:lastModifiedBy>
  <cp:revision>3</cp:revision>
  <dcterms:created xsi:type="dcterms:W3CDTF">2026-06-20T04:37:27Z</dcterms:created>
  <dcterms:modified xsi:type="dcterms:W3CDTF">2026-06-20T05:02:32Z</dcterms:modified>
</cp:coreProperties>
</file>
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51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embeddedFontLst>
    <p:embeddedFont>
      <p:font typeface="Raleway" pitchFamily="2" charset="0"/>
      <p:regular r:id="rId18"/>
    </p:embeddedFont>
    <p:embeddedFont>
      <p:font typeface="Roboto" panose="02000000000000000000" pitchFamily="2" charset="0"/>
      <p:regular r:id="rId19"/>
      <p:bold r:id="rId20"/>
      <p:italic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754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1444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E5855-29DA-7E66-5D32-EC7D6C918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D14838-FFB5-4E3C-4EB1-4573E6F78E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CB9F42-BC14-A44A-CD9F-D17D00391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C7303-7303-7641-CF6C-AD4753CD2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E309F-A509-3682-33E2-F3E2292CB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5625816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2CAC4-622E-4813-9CDA-AD47C083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64A08-8A9F-D470-6AC1-AE7BF69375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77A7D2-B1B0-CB16-1760-FA1204EF8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1C312D-4231-C6AB-115E-D9E0877EE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465A20-F2D1-EB8F-23F0-EA9477026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1901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C32E2-3C3D-BE41-18D6-0DE84A4B2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D1A555-7179-F4C9-7CCA-D04F35A97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5E0A65-D49B-432C-E4F4-31C226872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8CC847-6EC1-9684-7305-EA2436BE3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C992-2B6B-D40A-853B-E03809421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736803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9B0BB-C5FF-B233-32CA-94D0FF7C2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3BDE4-1608-5EA2-E41E-35A93C50C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3F46FC-4954-26CA-47A6-939A5792D1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482DE5-6141-78C9-2471-6DEC4D082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AF2216-DCC0-5C82-CF48-B975B886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94EEA7-4644-0FA1-6059-FA8C55E2A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75417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B9239-CD34-82F6-2F8B-B980719E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E0FD77-8936-1192-A894-B966C48EA7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5D7350-96A4-628D-DE64-3BCF178613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1FA86-1B06-7714-992B-6BB1ECFB5A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9651A7A-21EF-0657-C1CD-4157EE7745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589398-CD20-AC2E-52DA-C1E02A026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6A4852-0A57-993A-95FD-A8558FB54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CC4A1F-34F0-3478-FE6A-8EA47E6DE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36899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B78CD-E62F-77B6-3E82-C178C4D51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B1CEC7-5AE2-9439-723F-4CB63AB97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F264A2-CACD-BB90-CE6A-7BB0DB9837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53A4CDE-4062-097B-2F47-7777E4FC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241762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750570-2A60-731F-9BC0-7B3E931F6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427B90-E53A-6E3C-35BA-6425DEF3C9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60809-F9BA-A577-2F39-8DB1BB0F5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56306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0A5EB-3201-AA20-461A-C8184E3D0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0D190-C870-C7DC-3E9E-8635E9F1B4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62F0AC-B40E-6A28-4025-26C994103F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C9E9A-DDBE-968F-D102-F6DC8FD38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8BD2A-BD06-51E4-95B9-91221AF1A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A0069B-51CA-042A-7EEA-450AD7DC9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8222628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191D5-FFA2-5922-0BFB-A8790F6C0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B308D0-8681-645C-0F95-3F950EDC79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44ACE-F5F7-9F9B-F9F7-88EBB4FC38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A259CD-67F7-2E5F-C379-877650C4F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357AC-D505-AFA2-AAFF-581B47DBF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822EBE-096E-B58E-51C2-244FC66B1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973974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6EC96-1B6E-7B61-A87D-3AE98F214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09568E-969A-3D81-5E24-05CABD94B9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EA9B6-19E7-95C3-E4E0-7FC157BC97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EAF713-16F8-B56F-0FD4-5F9E31B14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9CF7D3-9541-34B9-97E2-125746D53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601093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5C45E09-8661-05BF-82E3-047915447C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E9B61E-091D-F4BB-A295-23116859F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C1BBE-E4DA-060A-B2A5-6ABD65D53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86264-74CD-F5CA-A901-7366AD81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ACE94-A256-FCAA-ED17-972C1F0D9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00215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154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2149E7-8D5D-7455-451E-ACD8FE558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CE52F0-7B3C-92B3-AF35-1A153A86F9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67A1E9-DB16-AD6A-FA16-965BD148F6B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01CCF8-765F-4419-ACF8-FCC14D166FD1}" type="datetimeFigureOut">
              <a:rPr lang="en-IN" smtClean="0"/>
              <a:t>09-06-2026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CAD28-3112-FEDF-43FC-A704A41914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70948B-4FA9-EB2E-B885-3F26A7C1E0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EAB359-151D-4EF4-A4CB-B6B8981AC7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0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0.pn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152525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Clahan Academy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96119" y="1879029"/>
            <a:ext cx="8151763" cy="691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250"/>
              </a:spcAft>
              <a:buNone/>
            </a:pPr>
            <a:r>
              <a:rPr lang="en-US" sz="1400" i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Online Exam Platform on Azure</a:t>
            </a:r>
            <a:endParaRPr lang="en-US" sz="14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architecture with Terraform 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96119" y="2687017"/>
            <a:ext cx="8151763" cy="10567"/>
          </a:xfrm>
          <a:prstGeom prst="rect">
            <a:avLst/>
          </a:prstGeom>
          <a:solidFill>
            <a:srgbClr val="3C3939">
              <a:alpha val="5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5001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1B1B27"/>
                </a:solidFill>
                <a:latin typeface="Times New Roman" panose="02020603050405020304" pitchFamily="18" charset="0"/>
                <a:ea typeface="Raleway" pitchFamily="34" charset="-122"/>
                <a:cs typeface="Times New Roman" panose="02020603050405020304" pitchFamily="18" charset="0"/>
              </a:rPr>
              <a:t>Project Overview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275978"/>
            <a:ext cx="259027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Times New Roman" panose="02020603050405020304" pitchFamily="18" charset="0"/>
                <a:ea typeface="Raleway" pitchFamily="34" charset="-122"/>
                <a:cs typeface="Times New Roman" panose="02020603050405020304" pitchFamily="18" charset="0"/>
              </a:rPr>
              <a:t>What is Clahan Academy?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96119" y="1612254"/>
            <a:ext cx="3902943" cy="1218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Online exam platform for educational institutions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11 microservices (containerised)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Multi-region deployment for high availability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4749701" y="1258937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Times New Roman" panose="02020603050405020304" pitchFamily="18" charset="0"/>
                <a:ea typeface="Raleway" pitchFamily="34" charset="-122"/>
                <a:cs typeface="Times New Roman" panose="02020603050405020304" pitchFamily="18" charset="0"/>
              </a:rPr>
              <a:t>Key Features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49701" y="1601837"/>
            <a:ext cx="3902943" cy="22827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✅</a:t>
            </a: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 Multi-environment: Dev / Staging / Prod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✅</a:t>
            </a: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 Active‑Standby Disaster Recovery across regions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✅</a:t>
            </a: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 Infrastructure as Code using Terraform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✅</a:t>
            </a: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 Containerised microservices (Azure Container Apps)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✅</a:t>
            </a: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 AI‑powered proctoring (YOLO, OCR, Ollama)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496119" y="4399806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3C3939"/>
                </a:solidFill>
                <a:latin typeface="Times New Roman" panose="02020603050405020304" pitchFamily="18" charset="0"/>
                <a:ea typeface="Roboto" pitchFamily="34" charset="-122"/>
                <a:cs typeface="Times New Roman" panose="02020603050405020304" pitchFamily="18" charset="0"/>
              </a:rPr>
              <a:t>Visual: Logical flow — User → Internet → Azure Front Door → Regional services (primary / standby)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7614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Technology Stack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404119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concise, enterprise‑grade stack organised by domain.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790402"/>
            <a:ext cx="354360" cy="354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7658" y="1790402"/>
            <a:ext cx="179925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 &amp; Infrastructure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27658" y="2096914"/>
            <a:ext cx="345571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Microsoft Azure · Terraform · Azure CLI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553" y="1790402"/>
            <a:ext cx="354360" cy="354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192092" y="1790402"/>
            <a:ext cx="192553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Compute &amp; Networking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192092" y="2096914"/>
            <a:ext cx="345578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Container Apps · Azure Front Door · App Gateway + WAF v2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834060"/>
            <a:ext cx="354360" cy="3543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27658" y="2834060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Data &amp; Storage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1027658" y="3140571"/>
            <a:ext cx="3455715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PostgreSQL Flexible Server · Azure Cache for Redis · Service Bus</a:t>
            </a:r>
            <a:endParaRPr lang="en-US" sz="11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60553" y="2834060"/>
            <a:ext cx="354360" cy="3543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192092" y="2834060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DevOps &amp; Security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5192092" y="3140571"/>
            <a:ext cx="345578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Docker Hub (vignesh8386) · Key Vault · Azure Monitor &amp; Log Analytics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496119" y="3753669"/>
            <a:ext cx="8151763" cy="552748"/>
          </a:xfrm>
          <a:prstGeom prst="roundRect">
            <a:avLst>
              <a:gd name="adj" fmla="val 10772"/>
            </a:avLst>
          </a:prstGeom>
          <a:solidFill>
            <a:srgbClr val="D2D2E0"/>
          </a:solidFill>
          <a:ln/>
        </p:spPr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877" y="3954438"/>
            <a:ext cx="177180" cy="141759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56816" y="3916635"/>
            <a:ext cx="8006507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Clahan Academy | Vignesh |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6605" y="320055"/>
            <a:ext cx="3072408" cy="3183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Architecture Overview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1056605" y="667643"/>
            <a:ext cx="2948136" cy="1592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Active‑Standby Cross‑Region Deployment</a:t>
            </a:r>
            <a:endParaRPr lang="en-US" sz="1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605" y="936724"/>
            <a:ext cx="7030715" cy="303683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34339" y="3192859"/>
            <a:ext cx="1043922" cy="1901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Global Routing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2734339" y="3437071"/>
            <a:ext cx="1043922" cy="261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Front Door health probes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414861" y="2872067"/>
            <a:ext cx="1043922" cy="380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Standby Region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14861" y="3306409"/>
            <a:ext cx="1043922" cy="391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Indonesia: replicas and scaled containers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397405" y="1210749"/>
            <a:ext cx="1043922" cy="190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User Entry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397405" y="1454961"/>
            <a:ext cx="1043922" cy="261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Client request to Front Door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11973" y="1210749"/>
            <a:ext cx="1043922" cy="190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Failover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6711973" y="1454961"/>
            <a:ext cx="1043922" cy="3919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 Door shifts to standby on probe failure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091236" y="1210749"/>
            <a:ext cx="1043922" cy="3802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Primary Region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4091236" y="1645092"/>
            <a:ext cx="1043922" cy="5226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India: AppGW+WAF, 11 Containers, Postgres, Redis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56605" y="4055938"/>
            <a:ext cx="7030715" cy="280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Note: Front Door performs health probes and routes traffic to the highest‑priority healthy region. Primary: India. Standby: Indonesia (replication &amp; scaled containers).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80182" y="310009"/>
            <a:ext cx="3647108" cy="325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Microservices Architecture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980182" y="665857"/>
            <a:ext cx="3626421" cy="162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Containerised on Azure Container Apps — 11 services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980182" y="943198"/>
            <a:ext cx="7183562" cy="3154040"/>
          </a:xfrm>
          <a:prstGeom prst="roundRect">
            <a:avLst>
              <a:gd name="adj" fmla="val 1386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89124" y="998562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Service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602385" y="998562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Image (tag)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6113264" y="998562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Purpose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89124" y="1248966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frontend-service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02385" y="1248966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vignesh8386/frontend:v1.0.0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113264" y="1248966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React UI — student &amp; instructor portal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89124" y="1499369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auth-service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602385" y="1499369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vignesh8386/auth:v1.0.0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113264" y="1499369"/>
            <a:ext cx="1941612" cy="288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Authentication &amp; authorization (JWT, RBAC)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89124" y="1894210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admin-service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02385" y="1894210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vignesh8386/admin:v1.0.0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13264" y="1894210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Admin dashboards &amp; management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89124" y="2144613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student-service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602385" y="2144613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vignesh8386/student:v1.0.0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113264" y="2144613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Profile &amp; enrollment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89124" y="2395017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exam-service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602385" y="2395017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vignesh8386/exam:v1.0.0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13264" y="2395017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Exam creation, scheduling, scoring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89124" y="2645420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notification-service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602385" y="2645420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vignesh8386/notify:v1.0.0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13264" y="2645420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Email / alerts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89124" y="2895823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proctoring-service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602385" y="2895823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vignesh8386/proctor:v1.0.0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13264" y="2895823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proctoring orchestration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89124" y="3146227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ai-service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602385" y="3146227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vignesh8386/ai:v1.0.0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13264" y="3146227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orchestration &amp; model routing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89124" y="3396630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yolo-v8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02385" y="3396630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ultralytics/ultralytics:latest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113264" y="3396630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Object detection for proctoring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89124" y="3647033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ocr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602385" y="3647033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openeuler/paddleocr:latest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13264" y="3647033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Text recognition for image checks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89124" y="3897437"/>
            <a:ext cx="2757488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ollama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602385" y="3897437"/>
            <a:ext cx="2755106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ollama/ollama:latest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113264" y="3897437"/>
            <a:ext cx="2398812" cy="1444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LLM for assistant &amp; analysis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4489" y="359197"/>
            <a:ext cx="5493841" cy="352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Terraform Best Practices Implemented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4489" y="748085"/>
            <a:ext cx="3046288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Enterprise‑grade Infrastructure as Code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74489" y="1059582"/>
            <a:ext cx="254124" cy="254124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18580" y="1098352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Provider &amp; Modules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18580" y="1328812"/>
            <a:ext cx="745085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Provider configuration (azurerm + random). 12 reusable, well‑scoped modules.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74489" y="1671191"/>
            <a:ext cx="254124" cy="254124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8580" y="1709961"/>
            <a:ext cx="19422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Configuration &amp; Environments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18580" y="1940421"/>
            <a:ext cx="745085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Variables &amp; outputs per module, environment‑specific tfvars for dev/staging/prod, and Terraform workspaces.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74489" y="2282800"/>
            <a:ext cx="254124" cy="254124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18580" y="2321570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State &amp; Secrets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18580" y="2552030"/>
            <a:ext cx="745085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Remote state with locking (Azure Storage + blob lease). Secrets exclusively in Key Vault; no secrets in tfvars.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74489" y="2894409"/>
            <a:ext cx="254124" cy="254124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18580" y="2933179"/>
            <a:ext cx="1412081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 / GitOps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18580" y="3163639"/>
            <a:ext cx="745085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GitHub repository tracking and PR‑based plans; automation for workspace initialisation.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4489" y="3506019"/>
            <a:ext cx="254124" cy="254124"/>
          </a:xfrm>
          <a:prstGeom prst="roundRect">
            <a:avLst>
              <a:gd name="adj" fmla="val 18671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8580" y="3544788"/>
            <a:ext cx="1654076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Dependencies &amp; Patterns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18580" y="3775249"/>
            <a:ext cx="745085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Explicit and implicit dependencies modelled, naming conventions, tagging policy, and modular outputs for cross‑module wiring.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74489" y="4038823"/>
            <a:ext cx="8252147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Bottom note: Project structure: 12 modules · 3 environments · 3 workspaces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74489" y="4302398"/>
            <a:ext cx="7794947" cy="380702"/>
          </a:xfrm>
          <a:prstGeom prst="roundRect">
            <a:avLst>
              <a:gd name="adj" fmla="val 12463"/>
            </a:avLst>
          </a:prstGeom>
          <a:solidFill>
            <a:srgbClr val="B6D6FC"/>
          </a:solidFill>
          <a:ln/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50" y="4454203"/>
            <a:ext cx="141163" cy="112961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041574" y="4411563"/>
            <a:ext cx="7772102" cy="1623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Clahan Academy | Vignesh | 6/10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393" y="353616"/>
            <a:ext cx="4275981" cy="3807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Terraform Project Structure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426393" y="943645"/>
            <a:ext cx="8717607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Modular repository layout designed for clarity and reuse.</a:t>
            </a:r>
            <a:endParaRPr lang="en-US" sz="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6393" y="1242566"/>
            <a:ext cx="4093294" cy="10577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2496" y="1729829"/>
            <a:ext cx="1909242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clahan-academy-terraform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62496" y="1982986"/>
            <a:ext cx="3821088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backend.tf · providers.tf · main.tf · variables.tf · outputs.tf</a:t>
            </a:r>
            <a:endParaRPr lang="en-US" sz="9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24313" y="1242566"/>
            <a:ext cx="4093294" cy="1057721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60416" y="1729829"/>
            <a:ext cx="1522884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environments/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760416" y="1982986"/>
            <a:ext cx="3821088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dev.tfvars · staging.tfvars · prod.tfvars</a:t>
            </a:r>
            <a:endParaRPr lang="en-US" sz="9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6393" y="2404914"/>
            <a:ext cx="4093294" cy="142011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62496" y="2892177"/>
            <a:ext cx="1522884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modules/ (12)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562496" y="3145334"/>
            <a:ext cx="3821088" cy="5435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networking · container-apps · postgresql-primary · postgresql-replica · redis · keyvault · servicebus · appgateway · frontdoor · function-app · automation · monitoring</a:t>
            </a:r>
            <a:endParaRPr lang="en-US" sz="9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24313" y="2404914"/>
            <a:ext cx="4093294" cy="142011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760416" y="2892177"/>
            <a:ext cx="1522884" cy="190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scripts/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4760416" y="3145334"/>
            <a:ext cx="3821088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bootstrap-backend.sh · init-workspaces.sh · failover-dr.sh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426393" y="3942755"/>
            <a:ext cx="8717607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Highlight: Modular design enables repeatable environments and safe drift management.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426393" y="4241676"/>
            <a:ext cx="8291215" cy="430485"/>
          </a:xfrm>
          <a:prstGeom prst="roundRect">
            <a:avLst>
              <a:gd name="adj" fmla="val 11886"/>
            </a:avLst>
          </a:prstGeom>
          <a:solidFill>
            <a:srgbClr val="D2D2E0"/>
          </a:solidFill>
          <a:ln/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208" y="4411117"/>
            <a:ext cx="152251" cy="121816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2275" y="4366320"/>
            <a:ext cx="8230716" cy="1811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Clahan Academy | Vignesh | 7/10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3029" y="274886"/>
            <a:ext cx="4085704" cy="311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Disaster Recovery (DR) Strategy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1133029" y="614363"/>
            <a:ext cx="2627858" cy="1556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Active‑Standby Cross‑Region Failover</a:t>
            </a:r>
            <a:endParaRPr lang="en-US" sz="9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029" y="875109"/>
            <a:ext cx="6877869" cy="309503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169057" y="1025769"/>
            <a:ext cx="1203623" cy="18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Primary Down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2169057" y="1264675"/>
            <a:ext cx="1203623" cy="253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9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T+0 primary failure detected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359454" y="3347041"/>
            <a:ext cx="1210236" cy="18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Probe Detects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359454" y="3585947"/>
            <a:ext cx="1210236" cy="253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9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T+30s Front Door health probe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36623" y="1002622"/>
            <a:ext cx="1203623" cy="18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Traffic Routed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536623" y="1241528"/>
            <a:ext cx="1203623" cy="253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9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T+60s route to standby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727019" y="3347041"/>
            <a:ext cx="1203622" cy="1859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15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Recovery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727019" y="3585947"/>
            <a:ext cx="1203622" cy="253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89000"/>
              </a:lnSpc>
              <a:buNone/>
            </a:pPr>
            <a:r>
              <a:rPr lang="en-US" sz="9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T+5min replica promoted, scaled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33029" y="4048944"/>
            <a:ext cx="6877869" cy="350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metrics: RTO ≈ 5 minutes. RPO ≈ 5 minutes (replication lag dependent).</a:t>
            </a:r>
            <a:endParaRPr lang="en-US" sz="750" dirty="0"/>
          </a:p>
          <a:p>
            <a:pPr marL="0" indent="0" algn="l">
              <a:lnSpc>
                <a:spcPct val="114000"/>
              </a:lnSpc>
              <a:buNone/>
            </a:pPr>
            <a:r>
              <a:rPr lang="en-US" sz="75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Core components: Azure Front Door, PostgreSQL cross‑region read replica, Automation Account runbooks, scaled Container Apps in DR region.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744414" y="229642"/>
            <a:ext cx="3397448" cy="2560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Security &amp; Secret Management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744414" y="504602"/>
            <a:ext cx="3055590" cy="128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Secrets in Code — Managed Identities &amp; Key Vault</a:t>
            </a:r>
            <a:endParaRPr lang="en-US" sz="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7852" y="703734"/>
            <a:ext cx="3988222" cy="307702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219084" y="1989890"/>
            <a:ext cx="695564" cy="4771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Secure Secret Flow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903338" y="2967056"/>
            <a:ext cx="1034776" cy="318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Vault response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903338" y="3330389"/>
            <a:ext cx="1034776" cy="200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Secret returned over private network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2743131" y="1949157"/>
            <a:ext cx="1057396" cy="318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public DB access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743131" y="2312490"/>
            <a:ext cx="1057396" cy="200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Databases deny direct public connections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178565" y="2967056"/>
            <a:ext cx="1034776" cy="318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Network protections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3178565" y="3330389"/>
            <a:ext cx="1034776" cy="200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NSGs and restricted subnets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5333117" y="1943502"/>
            <a:ext cx="1057396" cy="318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Private endpoint request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333117" y="2306835"/>
            <a:ext cx="1057396" cy="200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Key Vault accessed via private endpoint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4015504" y="883190"/>
            <a:ext cx="1063051" cy="3180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Container App identity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015504" y="1246524"/>
            <a:ext cx="1063051" cy="200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ctr">
              <a:lnSpc>
                <a:spcPct val="82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System-assigned managed identity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1744414" y="3834036"/>
            <a:ext cx="1378297" cy="743620"/>
          </a:xfrm>
          <a:prstGeom prst="roundRect">
            <a:avLst>
              <a:gd name="adj" fmla="val 462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831107" y="3920728"/>
            <a:ext cx="1024458" cy="128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Network Security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831107" y="4077221"/>
            <a:ext cx="1204913" cy="310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Private endpoints for data services · NSGs on subnets · No public DB access</a:t>
            </a:r>
            <a:endParaRPr lang="en-US" sz="600" dirty="0"/>
          </a:p>
        </p:txBody>
      </p:sp>
      <p:sp>
        <p:nvSpPr>
          <p:cNvPr id="19" name="Shape 16"/>
          <p:cNvSpPr/>
          <p:nvPr/>
        </p:nvSpPr>
        <p:spPr>
          <a:xfrm>
            <a:off x="3170039" y="3834036"/>
            <a:ext cx="1378297" cy="743620"/>
          </a:xfrm>
          <a:prstGeom prst="roundRect">
            <a:avLst>
              <a:gd name="adj" fmla="val 462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256731" y="3920728"/>
            <a:ext cx="1024458" cy="128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Identity &amp; Access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3256731" y="4077221"/>
            <a:ext cx="1204913" cy="310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Azure RBAC, system‑assigned managed identities, least‑privilege assignments</a:t>
            </a:r>
            <a:endParaRPr lang="en-US" sz="600" dirty="0"/>
          </a:p>
        </p:txBody>
      </p:sp>
      <p:sp>
        <p:nvSpPr>
          <p:cNvPr id="22" name="Shape 19"/>
          <p:cNvSpPr/>
          <p:nvPr/>
        </p:nvSpPr>
        <p:spPr>
          <a:xfrm>
            <a:off x="4595664" y="3834036"/>
            <a:ext cx="1378297" cy="743620"/>
          </a:xfrm>
          <a:prstGeom prst="roundRect">
            <a:avLst>
              <a:gd name="adj" fmla="val 462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82356" y="3920728"/>
            <a:ext cx="1024458" cy="128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Application Security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4682356" y="4077221"/>
            <a:ext cx="1204913" cy="206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WAF v2 (OWASP rules), TLS 1.2+, monitoring &amp; alerts</a:t>
            </a:r>
            <a:endParaRPr lang="en-US" sz="600" dirty="0"/>
          </a:p>
        </p:txBody>
      </p:sp>
      <p:sp>
        <p:nvSpPr>
          <p:cNvPr id="25" name="Shape 22"/>
          <p:cNvSpPr/>
          <p:nvPr/>
        </p:nvSpPr>
        <p:spPr>
          <a:xfrm>
            <a:off x="6021288" y="3834036"/>
            <a:ext cx="1378297" cy="743620"/>
          </a:xfrm>
          <a:prstGeom prst="roundRect">
            <a:avLst>
              <a:gd name="adj" fmla="val 4629"/>
            </a:avLst>
          </a:prstGeom>
          <a:solidFill>
            <a:srgbClr val="E1E1EA"/>
          </a:solidFill>
          <a:ln w="4763">
            <a:solidFill>
              <a:srgbClr val="C7C7D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107981" y="3920728"/>
            <a:ext cx="1024458" cy="1280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dirty="0">
                <a:solidFill>
                  <a:srgbClr val="3C393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Secrets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107981" y="4077221"/>
            <a:ext cx="1204913" cy="4137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secrets in Key Vault · auto‑generated passwords (random_password) · soft delete &amp; purge protection</a:t>
            </a:r>
            <a:endParaRPr lang="en-US" sz="600" dirty="0"/>
          </a:p>
        </p:txBody>
      </p:sp>
      <p:sp>
        <p:nvSpPr>
          <p:cNvPr id="28" name="Shape 25"/>
          <p:cNvSpPr/>
          <p:nvPr/>
        </p:nvSpPr>
        <p:spPr>
          <a:xfrm>
            <a:off x="1744414" y="4630936"/>
            <a:ext cx="5655171" cy="229642"/>
          </a:xfrm>
          <a:prstGeom prst="roundRect">
            <a:avLst>
              <a:gd name="adj" fmla="val 14990"/>
            </a:avLst>
          </a:prstGeom>
          <a:solidFill>
            <a:srgbClr val="FFB3B4"/>
          </a:solidFill>
          <a:ln/>
        </p:spPr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6344" y="4733330"/>
            <a:ext cx="102394" cy="81930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2010668" y="4694039"/>
            <a:ext cx="5764188" cy="1034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Clahan Academy | Vignesh | 9/10</a:t>
            </a:r>
            <a:endParaRPr lang="en-US" sz="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33326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Demo &amp; Next Steps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330672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Quick Demo Flow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1693887"/>
            <a:ext cx="3902943" cy="16086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init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2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workspace select prod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3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plan -var-file=environments/prod.tfvars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4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apply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5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Access app via Front Door URL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Font typeface="+mj-lt"/>
              <a:buAutoNum type="arabicPeriod" startAt="6"/>
            </a:pP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Simulate DR failover and validate promotion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49701" y="1330672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B1B27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Key Learnings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49701" y="1693887"/>
            <a:ext cx="3902943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Multi‑region Azure deployment with Front Door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Terraform modularisation and workspace strategy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Automated DR promotion &amp; runbooks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✅</a:t>
            </a:r>
            <a:r>
              <a:rPr lang="en-US" sz="1100" dirty="0">
                <a:solidFill>
                  <a:srgbClr val="3C3939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Secrets managed by Key Vault; no secrets in code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35021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2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35021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2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35021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2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35021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2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350219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2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Words>939</Words>
  <Application>Microsoft Office PowerPoint</Application>
  <PresentationFormat>On-screen Show (16:9)</PresentationFormat>
  <Paragraphs>165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Raleway</vt:lpstr>
      <vt:lpstr>Times New Roman</vt:lpstr>
      <vt:lpstr>Arial</vt:lpstr>
      <vt:lpstr>Roboto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Vignesh M</cp:lastModifiedBy>
  <cp:revision>2</cp:revision>
  <dcterms:created xsi:type="dcterms:W3CDTF">2026-06-09T15:21:48Z</dcterms:created>
  <dcterms:modified xsi:type="dcterms:W3CDTF">2026-06-09T16:23:22Z</dcterms:modified>
</cp:coreProperties>
</file>
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71" r:id="rId4"/>
    <p:sldId id="27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embeddedFontLst>
    <p:embeddedFont>
      <p:font typeface="Raleway" pitchFamily="2" charset="0"/>
      <p:regular r:id="rId20"/>
    </p:embeddedFont>
    <p:embeddedFont>
      <p:font typeface="Roboto" panose="02000000000000000000" pitchFamily="2" charset="0"/>
      <p:regular r:id="rId21"/>
      <p:bold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444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E5855-29DA-7E66-5D32-EC7D6C918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14838-FFB5-4E3C-4EB1-4573E6F78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B9F42-BC14-A44A-CD9F-D17D00391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C7303-7303-7641-CF6C-AD4753CD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E309F-A509-3682-33E2-F3E2292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6258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CAC4-622E-4813-9CDA-AD47C083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64A08-8A9F-D470-6AC1-AE7BF6937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7A7D2-B1B0-CB16-1760-FA1204EF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C312D-4231-C6AB-115E-D9E0877E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65A20-F2D1-EB8F-23F0-EA9477026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1901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32E2-3C3D-BE41-18D6-0DE84A4B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1A555-7179-F4C9-7CCA-D04F35A97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E0A65-D49B-432C-E4F4-31C22687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C847-6EC1-9684-7305-EA2436BE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EC992-2B6B-D40A-853B-E0380942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3680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B0BB-C5FF-B233-32CA-94D0FF7C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3BDE4-1608-5EA2-E41E-35A93C50C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F46FC-4954-26CA-47A6-939A5792D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82DE5-6141-78C9-2471-6DEC4D08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F2216-DCC0-5C82-CF48-B975B886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4EEA7-4644-0FA1-6059-FA8C55E2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754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B9239-CD34-82F6-2F8B-B980719E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0FD77-8936-1192-A894-B966C48EA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D7350-96A4-628D-DE64-3BCF17861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1FA86-1B06-7714-992B-6BB1ECFB5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51A7A-21EF-0657-C1CD-4157EE774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589398-CD20-AC2E-52DA-C1E02A026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A4852-0A57-993A-95FD-A8558FB5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C4A1F-34F0-3478-FE6A-8EA47E6DE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689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78CD-E62F-77B6-3E82-C178C4D5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1CEC7-5AE2-9439-723F-4CB63AB9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264A2-CACD-BB90-CE6A-7BB0DB98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A4CDE-4062-097B-2F47-7777E4FC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4176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750570-2A60-731F-9BC0-7B3E931F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27B90-E53A-6E3C-35BA-6425DEF3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60809-F9BA-A577-2F39-8DB1BB0F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6306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A5EB-3201-AA20-461A-C8184E3D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0D190-C870-C7DC-3E9E-8635E9F1B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2F0AC-B40E-6A28-4025-26C994103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C9E9A-DDBE-968F-D102-F6DC8FD3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8BD2A-BD06-51E4-95B9-91221AF1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0069B-51CA-042A-7EEA-450AD7DC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2226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91D5-FFA2-5922-0BFB-A8790F6C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B308D0-8681-645C-0F95-3F950EDC7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44ACE-F5F7-9F9B-F9F7-88EBB4FC3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259CD-67F7-2E5F-C379-877650C4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357AC-D505-AFA2-AAFF-581B47DB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22EBE-096E-B58E-51C2-244FC66B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7397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EC96-1B6E-7B61-A87D-3AE98F214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9568E-969A-3D81-5E24-05CABD94B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EA9B6-19E7-95C3-E4E0-7FC157BC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AF713-16F8-B56F-0FD4-5F9E31B1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CF7D3-9541-34B9-97E2-125746D5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0109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45E09-8661-05BF-82E3-047915447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9B61E-091D-F4BB-A295-23116859F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C1BBE-E4DA-060A-B2A5-6ABD65D5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6264-74CD-F5CA-A901-7366AD81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ACE94-A256-FCAA-ED17-972C1F0D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0215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149E7-8D5D-7455-451E-ACD8FE55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E52F0-7B3C-92B3-AF35-1A153A86F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7A1E9-DB16-AD6A-FA16-965BD148F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1CCF8-765F-4419-ACF8-FCC14D166FD1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CAD28-3112-FEDF-43FC-A704A4191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0948B-4FA9-EB2E-B885-3F26A7C1E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AB359-151D-4EF4-A4CB-B6B8981AC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25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Clahan Academy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879029"/>
            <a:ext cx="8151763" cy="69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Exam Platform on Azure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architecture with Terraform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6119" y="2687017"/>
            <a:ext cx="8151763" cy="1056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00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Project Overview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75978"/>
            <a:ext cx="25902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What is Clahan Academy?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612254"/>
            <a:ext cx="3902943" cy="1218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Online exam platform for educational institutions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11 microservices (containerised)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Multi-region deployment for high availability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49701" y="125893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Key Features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1601837"/>
            <a:ext cx="3902943" cy="228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Multi-environment: Dev / Staging / Prod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Active‑Standby Disaster Recovery across regions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Infrastructure as Code using Terraform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Containerised microservices (Azure Container Apps)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AI‑powered proctoring (YOLO, OCR, Ollama)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439980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Visual: Logical flow — User → Internet → Azure Front Door → Regional services (primary / standby)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54F70D-2C1B-B5BF-80DB-3D477F790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4331" y="122783"/>
            <a:ext cx="8486775" cy="50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70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C8B01-419C-7D71-D1D1-382952C93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938"/>
            <a:ext cx="8929688" cy="440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956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6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Technology Stack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40411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 concise, enterprise‑grade stack organised by domain.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90402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1790402"/>
            <a:ext cx="17992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Cloud &amp; Infrastructure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7658" y="2096914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Microsoft Azure · Terraform · Azure CLI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90402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2092" y="1790402"/>
            <a:ext cx="19255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Compute &amp; Networking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192092" y="2096914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Azure Container Apps · Azure Front Door · App Gateway + WAF v2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834060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7658" y="2834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Data &amp; Storage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27658" y="3140571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PostgreSQL Flexible Server · Azure Cache for Redis · Service Bus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834060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92092" y="2834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DevOps &amp; Security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192092" y="3140571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Docker Hub (vignesh8386) · Key Vault · Azure Monitor &amp; Log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20055"/>
            <a:ext cx="3072408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Architecture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6605" y="667643"/>
            <a:ext cx="294813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Active‑Standby Cross‑Region Deployment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936724"/>
            <a:ext cx="7030715" cy="30368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34339" y="3192859"/>
            <a:ext cx="1043922" cy="190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Global Routing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34339" y="3437071"/>
            <a:ext cx="1043922" cy="261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Azure Front Door health probes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14861" y="2872067"/>
            <a:ext cx="1043922" cy="380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Standby Region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14861" y="3306409"/>
            <a:ext cx="1043922" cy="39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Indonesia: replicas and scaled containers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97405" y="1210749"/>
            <a:ext cx="1043922" cy="190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User Entry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97405" y="1454961"/>
            <a:ext cx="1043922" cy="261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Client request to Front Door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11973" y="1210749"/>
            <a:ext cx="1043922" cy="190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Failover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11973" y="1454961"/>
            <a:ext cx="1043922" cy="39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Front Door shifts to standby on probe failure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91236" y="1210749"/>
            <a:ext cx="1043922" cy="380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Primary Region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091236" y="1645092"/>
            <a:ext cx="1043922" cy="52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India: AppGW+WAF, 11 Containers, Postgres, Redis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56605" y="4055938"/>
            <a:ext cx="703071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Note: Front Door performs health probes and routes traffic to the highest‑priority healthy region. Primary: India. Standby: Indonesia (replication &amp; scaled containers).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10009"/>
            <a:ext cx="3647108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Microservices Architecture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0182" y="665857"/>
            <a:ext cx="362642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Containerised on Azure Container Apps — 11 services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0182" y="943198"/>
            <a:ext cx="7183562" cy="3154040"/>
          </a:xfrm>
          <a:prstGeom prst="roundRect">
            <a:avLst>
              <a:gd name="adj" fmla="val 13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9124" y="998562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02385" y="998562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Image (tag)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13264" y="998562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Purpose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89124" y="1248966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frontend-service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02385" y="1248966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vignesh8386/frontend:v1.0.0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13264" y="1248966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React UI — student &amp; instructor portal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89124" y="1499369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auth-service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02385" y="1499369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vignesh8386/auth:v1.0.0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13264" y="1499369"/>
            <a:ext cx="194161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Authentication &amp; authorization (JWT, RBAC)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89124" y="1894210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admin-service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02385" y="1894210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vignesh8386/admin:v1.0.0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13264" y="1894210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Admin dashboards &amp; management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89124" y="2144613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student-service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02385" y="2144613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vignesh8386/student:v1.0.0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13264" y="2144613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Profile &amp; enrollment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89124" y="2395017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exam-service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02385" y="2395017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vignesh8386/exam:v1.0.0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13264" y="2395017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Exam creation, scheduling, scoring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89124" y="2645420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notification-service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02385" y="2645420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vignesh8386/notify:v1.0.0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13264" y="2645420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Email / alerts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89124" y="2895823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proctoring-service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02385" y="2895823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vignesh8386/proctor:v1.0.0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13264" y="2895823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Live proctoring orchestration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89124" y="3146227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ai-service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602385" y="3146227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vignesh8386/ai:v1.0.0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13264" y="3146227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AI orchestration &amp; model routing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89124" y="3396630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yolo-v8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02385" y="3396630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ultralytics/ultralytics:latest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13264" y="3396630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Object detection for proctoring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89124" y="3647033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ocr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02385" y="3647033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openeuler/paddleocr:latest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13264" y="3647033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Text recognition for image checks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89124" y="3897437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ollama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02385" y="3897437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ollama/ollama:latest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13264" y="3897437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LLM for assistant &amp; analysis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59197"/>
            <a:ext cx="549384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Terraform Best Practices Implemented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4489" y="748085"/>
            <a:ext cx="304628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Enterprise‑grade Infrastructure as Code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74489" y="1059582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8580" y="109835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Provider &amp; Modules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8580" y="1328812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Provider configuration (azurerm + random). 12 reusable, well‑scoped modules.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4489" y="1671191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8580" y="1709961"/>
            <a:ext cx="1942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Configuration &amp; Environments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8580" y="1940421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Variables &amp; outputs per module, environment‑specific tfvars for dev/staging/prod, and Terraform workspaces.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4489" y="2282800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8580" y="232157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State &amp; Secrets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8580" y="2552030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Remote state with locking (Azure Storage + blob lease). Secrets exclusively in Key Vault; no secrets in tfvars.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4489" y="2894409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8580" y="293317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CI / GitOps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8580" y="3163639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GitHub repository tracking and PR‑based plans; automation for workspace initialisation.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4489" y="3506019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8580" y="3544788"/>
            <a:ext cx="165407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Dependencies &amp; Patterns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8580" y="3775249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Explicit and implicit dependencies modelled, naming conventions, tagging policy, and modular outputs for cross‑module wiring.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4489" y="4038823"/>
            <a:ext cx="8252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Bottom note: Project structure: 12 modules · 3 environments · 3 workspaces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53616"/>
            <a:ext cx="4275981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Terraform Project Structure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393" y="943645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Modular repository layout designed for clarity and reuse.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393" y="1242566"/>
            <a:ext cx="4093294" cy="10577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496" y="1729829"/>
            <a:ext cx="190924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clahan-academy-terraform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2496" y="1982986"/>
            <a:ext cx="38210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backend.tf · providers.tf · main.tf · variables.tf · outputs.tf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4313" y="1242566"/>
            <a:ext cx="4093294" cy="10577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60416" y="172982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environments/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760416" y="1982986"/>
            <a:ext cx="38210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dev.tfvars · staging.tfvars · prod.tfvars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93" y="2404914"/>
            <a:ext cx="4093294" cy="14201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2496" y="289217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modules/ (12)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62496" y="3145334"/>
            <a:ext cx="382108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networking · container-apps · postgresql-primary · postgresql-replica · redis · keyvault · servicebus · appgateway · frontdoor · function-app · automation · monitoring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313" y="2404914"/>
            <a:ext cx="4093294" cy="14201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60416" y="289217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scripts/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760416" y="3145334"/>
            <a:ext cx="38210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bootstrap-backend.sh · init-workspaces.sh · failover-dr.sh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426393" y="3942755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Highlight: Modular design enables repeatable environments and safe drift management.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274886"/>
            <a:ext cx="4085704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Disaster Recovery (DR) Strategy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3029" y="614363"/>
            <a:ext cx="262785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Active‑Standby Cross‑Region Failover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875109"/>
            <a:ext cx="6877869" cy="30950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69057" y="1025769"/>
            <a:ext cx="1203623" cy="18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Primary Down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169057" y="1264675"/>
            <a:ext cx="1203623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T+0 primary failure detected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359454" y="3347041"/>
            <a:ext cx="1210236" cy="18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Probe Detects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359454" y="3585947"/>
            <a:ext cx="1210236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T+30s Front Door health probe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36623" y="1002622"/>
            <a:ext cx="1203623" cy="18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Traffic Routed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36623" y="1241528"/>
            <a:ext cx="1203623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T+60s route to standby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27019" y="3347041"/>
            <a:ext cx="1203622" cy="18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Recovery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27019" y="3585947"/>
            <a:ext cx="1203622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T+5min replica promoted, scaled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33029" y="4048944"/>
            <a:ext cx="6877869" cy="35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Key metrics: RTO ≈ 5 minutes. RPO ≈ 5 minutes (replication lag dependent).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Core components: Azure Front Door, PostgreSQL cross‑region read replica, Automation Account runbooks, scaled Container Apps in DR region.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4414" y="229642"/>
            <a:ext cx="3397448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&amp; Secret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744414" y="504602"/>
            <a:ext cx="3055590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 Secrets in Code — Managed Identities &amp; Key Vault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852" y="703734"/>
            <a:ext cx="3988222" cy="3077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19084" y="1989890"/>
            <a:ext cx="695564" cy="477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Secret 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03338" y="2967056"/>
            <a:ext cx="1034776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Vault response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03338" y="3330389"/>
            <a:ext cx="1034776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Secret returned over private network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131" y="1949157"/>
            <a:ext cx="1057396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public DB access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131" y="2312490"/>
            <a:ext cx="1057396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Databases deny direct public connections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178565" y="2967056"/>
            <a:ext cx="1034776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protections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78565" y="3330389"/>
            <a:ext cx="1034776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NSGs and restricted subnets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33117" y="1943502"/>
            <a:ext cx="1057396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endpoint request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33117" y="2306835"/>
            <a:ext cx="1057396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Vault accessed via private endpoint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015504" y="883190"/>
            <a:ext cx="1063051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Container App identity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15504" y="1246524"/>
            <a:ext cx="1063051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System-assigned managed identity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744414" y="3834036"/>
            <a:ext cx="1378297" cy="743620"/>
          </a:xfrm>
          <a:prstGeom prst="roundRect">
            <a:avLst>
              <a:gd name="adj" fmla="val 462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31107" y="3920728"/>
            <a:ext cx="10244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Security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831107" y="4077221"/>
            <a:ext cx="120491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 endpoints for data services · NSGs on subnets · No public DB access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3170039" y="3834036"/>
            <a:ext cx="1378297" cy="743620"/>
          </a:xfrm>
          <a:prstGeom prst="roundRect">
            <a:avLst>
              <a:gd name="adj" fmla="val 462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56731" y="3920728"/>
            <a:ext cx="10244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Identity &amp; Access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256731" y="4077221"/>
            <a:ext cx="120491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RBAC, system‑assigned managed identities, least‑privilege assignments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4595664" y="3834036"/>
            <a:ext cx="1378297" cy="743620"/>
          </a:xfrm>
          <a:prstGeom prst="roundRect">
            <a:avLst>
              <a:gd name="adj" fmla="val 462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2356" y="3920728"/>
            <a:ext cx="10244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 Security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82356" y="4077221"/>
            <a:ext cx="1204913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WAF v2 (OWASP rules), TLS 1.2+, monitoring &amp; alerts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6021288" y="3834036"/>
            <a:ext cx="1378297" cy="743620"/>
          </a:xfrm>
          <a:prstGeom prst="roundRect">
            <a:avLst>
              <a:gd name="adj" fmla="val 462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07981" y="3920728"/>
            <a:ext cx="10244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Secrets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07981" y="4077221"/>
            <a:ext cx="1204913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secrets in Key Vault · auto‑generated passwords (random_password) · soft delete &amp; purge protection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1744414" y="4630936"/>
            <a:ext cx="5655171" cy="229642"/>
          </a:xfrm>
          <a:prstGeom prst="roundRect">
            <a:avLst>
              <a:gd name="adj" fmla="val 14990"/>
            </a:avLst>
          </a:prstGeom>
          <a:solidFill>
            <a:srgbClr val="FFB3B4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344" y="4733330"/>
            <a:ext cx="102394" cy="8193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010668" y="4694039"/>
            <a:ext cx="5764188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9/10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332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Demo &amp; Next Steps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3306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Quick Demo Flow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693887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terraform init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terraform workspace select prod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terraform plan -var-file=environments/prod.tfvars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terraform apply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Access app via Front Door URL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Simulate DR failover and validate promotion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49701" y="13306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Key Learnings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1693887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Multi‑region Azure deployment with Front Door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Terraform modularisation and workspace strategy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Automated DR promotion &amp; runbooks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Secrets managed by Key Vault; no secrets in code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921</Words>
  <Application>Microsoft Office PowerPoint</Application>
  <PresentationFormat>On-screen Show (16:9)</PresentationFormat>
  <Paragraphs>162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Times New Roman</vt:lpstr>
      <vt:lpstr>Arial</vt:lpstr>
      <vt:lpstr>Roboto</vt:lpstr>
      <vt:lpstr>Calibri</vt:lpstr>
      <vt:lpstr>Raleway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Vignesh M</cp:lastModifiedBy>
  <cp:revision>5</cp:revision>
  <dcterms:created xsi:type="dcterms:W3CDTF">2026-06-09T15:21:48Z</dcterms:created>
  <dcterms:modified xsi:type="dcterms:W3CDTF">2026-06-09T18:14:55Z</dcterms:modified>
</cp:coreProperties>
</file>
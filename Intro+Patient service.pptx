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T Rounds Condensed Italics" charset="1" panose="02000506030000090003"/>
      <p:regular r:id="rId18"/>
    </p:embeddedFont>
    <p:embeddedFont>
      <p:font typeface="Calibri (MS)" charset="1" panose="020F0502020204030204"/>
      <p:regular r:id="rId19"/>
    </p:embeddedFont>
    <p:embeddedFont>
      <p:font typeface="TT Rounds Condensed" charset="1" panose="020005060300000200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14700" y="1797511"/>
            <a:ext cx="11092127" cy="2460051"/>
            <a:chOff x="0" y="0"/>
            <a:chExt cx="9606233" cy="21305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06233" cy="2130497"/>
            </a:xfrm>
            <a:custGeom>
              <a:avLst/>
              <a:gdLst/>
              <a:ahLst/>
              <a:cxnLst/>
              <a:rect r="r" b="b" t="t" l="l"/>
              <a:pathLst>
                <a:path h="2130497" w="9606233">
                  <a:moveTo>
                    <a:pt x="0" y="0"/>
                  </a:moveTo>
                  <a:lnTo>
                    <a:pt x="9606233" y="0"/>
                  </a:lnTo>
                  <a:lnTo>
                    <a:pt x="9606233" y="2130497"/>
                  </a:lnTo>
                  <a:lnTo>
                    <a:pt x="0" y="21304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8340" r="-16764" b="-46829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9606233" cy="2044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887"/>
                </a:lnSpc>
              </a:pPr>
              <a:r>
                <a:rPr lang="en-US" sz="7303" i="true" spc="-43">
                  <a:solidFill>
                    <a:srgbClr val="00000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Hospital Management </a:t>
              </a:r>
            </a:p>
            <a:p>
              <a:pPr algn="ctr">
                <a:lnSpc>
                  <a:spcPts val="7887"/>
                </a:lnSpc>
              </a:pPr>
              <a:r>
                <a:rPr lang="en-US" sz="7303" i="true" spc="-44">
                  <a:solidFill>
                    <a:srgbClr val="00000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System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496852" y="6565396"/>
            <a:ext cx="3476448" cy="2436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3"/>
              </a:lnSpc>
            </a:pPr>
            <a:r>
              <a:rPr lang="en-US" sz="3549" i="true" spc="-2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Akash</a:t>
            </a:r>
          </a:p>
          <a:p>
            <a:pPr algn="l">
              <a:lnSpc>
                <a:spcPts val="3833"/>
              </a:lnSpc>
            </a:pPr>
            <a:r>
              <a:rPr lang="en-US" sz="3549" i="true" spc="-2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Ashutosh</a:t>
            </a:r>
          </a:p>
          <a:p>
            <a:pPr algn="l">
              <a:lnSpc>
                <a:spcPts val="3833"/>
              </a:lnSpc>
            </a:pPr>
            <a:r>
              <a:rPr lang="en-US" sz="3549" i="true" spc="-2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Elzabeth Lalson</a:t>
            </a:r>
          </a:p>
          <a:p>
            <a:pPr algn="l">
              <a:lnSpc>
                <a:spcPts val="3833"/>
              </a:lnSpc>
            </a:pPr>
            <a:r>
              <a:rPr lang="en-US" sz="3549" i="true" spc="-2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Dhannigasree</a:t>
            </a:r>
          </a:p>
          <a:p>
            <a:pPr algn="l">
              <a:lnSpc>
                <a:spcPts val="3833"/>
              </a:lnSpc>
              <a:spcBef>
                <a:spcPct val="0"/>
              </a:spcBef>
            </a:pPr>
            <a:r>
              <a:rPr lang="en-US" sz="3549" i="true" spc="-2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Vignesh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39310" y="5825828"/>
            <a:ext cx="3476448" cy="50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3"/>
              </a:lnSpc>
              <a:spcBef>
                <a:spcPct val="0"/>
              </a:spcBef>
            </a:pPr>
            <a:r>
              <a:rPr lang="en-US" sz="3549" i="true" spc="-2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Batch 4: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31307" y="5172075"/>
            <a:ext cx="7092563" cy="989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3"/>
              </a:lnSpc>
              <a:spcBef>
                <a:spcPct val="0"/>
              </a:spcBef>
            </a:pPr>
            <a:r>
              <a:rPr lang="en-US" sz="3549" i="true" spc="-2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Micr</a:t>
            </a:r>
            <a:r>
              <a:rPr lang="en-US" sz="3549" i="true" spc="-2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oservices-Based Architecture with Docker Containerization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4700" y="1095375"/>
            <a:ext cx="7005139" cy="93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6600" i="true" spc="-4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Table of Contents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4700" y="2147052"/>
            <a:ext cx="11953430" cy="504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064"/>
              </a:lnSpc>
              <a:spcBef>
                <a:spcPct val="0"/>
              </a:spcBef>
            </a:pPr>
            <a:r>
              <a:rPr lang="en-US" sz="5615" i="true" spc="-33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Problem Statement</a:t>
            </a:r>
          </a:p>
          <a:p>
            <a:pPr algn="just">
              <a:lnSpc>
                <a:spcPts val="6064"/>
              </a:lnSpc>
              <a:spcBef>
                <a:spcPct val="0"/>
              </a:spcBef>
            </a:pPr>
          </a:p>
          <a:p>
            <a:pPr algn="just">
              <a:lnSpc>
                <a:spcPts val="6064"/>
              </a:lnSpc>
              <a:spcBef>
                <a:spcPct val="0"/>
              </a:spcBef>
            </a:pPr>
          </a:p>
          <a:p>
            <a:pPr algn="l" marL="878457" indent="-439229" lvl="1">
              <a:lnSpc>
                <a:spcPts val="4394"/>
              </a:lnSpc>
              <a:buFont typeface="Arial"/>
              <a:buChar char="•"/>
            </a:pPr>
            <a:r>
              <a:rPr lang="en-US" sz="4068" i="true" spc="-24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Traditional hospital systems are monolithic and tightly coupled</a:t>
            </a:r>
          </a:p>
          <a:p>
            <a:pPr algn="l" marL="878457" indent="-439229" lvl="1">
              <a:lnSpc>
                <a:spcPts val="4394"/>
              </a:lnSpc>
              <a:buFont typeface="Arial"/>
              <a:buChar char="•"/>
            </a:pPr>
            <a:r>
              <a:rPr lang="en-US" sz="4068" i="true" spc="-24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Difficult to scale, maintain, and update individual modules</a:t>
            </a:r>
          </a:p>
          <a:p>
            <a:pPr algn="l" marL="878457" indent="-439229" lvl="1">
              <a:lnSpc>
                <a:spcPts val="4394"/>
              </a:lnSpc>
              <a:buFont typeface="Arial"/>
              <a:buChar char="•"/>
            </a:pPr>
            <a:r>
              <a:rPr lang="en-US" sz="4068" i="true" spc="-24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Lack of deployment flexibility and service isolation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16957" y="1932379"/>
            <a:ext cx="11854085" cy="437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6"/>
              </a:lnSpc>
              <a:spcBef>
                <a:spcPct val="0"/>
              </a:spcBef>
            </a:pPr>
            <a:r>
              <a:rPr lang="en-US" sz="4533" i="true" spc="-27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Project Objective</a:t>
            </a:r>
          </a:p>
          <a:p>
            <a:pPr algn="ctr">
              <a:lnSpc>
                <a:spcPts val="4896"/>
              </a:lnSpc>
              <a:spcBef>
                <a:spcPct val="0"/>
              </a:spcBef>
            </a:pPr>
          </a:p>
          <a:p>
            <a:pPr algn="just">
              <a:lnSpc>
                <a:spcPts val="4136"/>
              </a:lnSpc>
              <a:spcBef>
                <a:spcPct val="0"/>
              </a:spcBef>
            </a:pPr>
            <a:r>
              <a:rPr lang="en-US" sz="3830" i="true" spc="-22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To design and implement a containerized microservices-based Hospital Management System where each core functionality (users, patients, doctors, vitals, registration, admin) runs as an independent service, enabling scalability, isolation, maintainability, and simplified deployment using Docker.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4700" y="1095375"/>
            <a:ext cx="7918769" cy="93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6600" i="true" spc="-4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Architecture Diagram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4700" y="1104900"/>
            <a:ext cx="5393438" cy="187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6740" i="true" spc="-4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Microservices</a:t>
            </a:r>
          </a:p>
          <a:p>
            <a:pPr algn="ctr">
              <a:lnSpc>
                <a:spcPts val="727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798764" y="2922698"/>
            <a:ext cx="8311725" cy="4489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1339" indent="-560669" lvl="1">
              <a:lnSpc>
                <a:spcPts val="5609"/>
              </a:lnSpc>
              <a:spcBef>
                <a:spcPct val="0"/>
              </a:spcBef>
              <a:buFont typeface="Arial"/>
              <a:buChar char="•"/>
            </a:pPr>
            <a:r>
              <a:rPr lang="en-US" sz="5193" i="true" spc="-3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Independent se</a:t>
            </a:r>
            <a:r>
              <a:rPr lang="en-US" sz="5193" i="true" spc="-3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rvices</a:t>
            </a:r>
          </a:p>
          <a:p>
            <a:pPr algn="l" marL="1121339" indent="-560669" lvl="1">
              <a:lnSpc>
                <a:spcPts val="5609"/>
              </a:lnSpc>
              <a:spcBef>
                <a:spcPct val="0"/>
              </a:spcBef>
              <a:buFont typeface="Arial"/>
              <a:buChar char="•"/>
            </a:pPr>
            <a:r>
              <a:rPr lang="en-US" sz="5193" i="true" spc="-3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Single responsibility design</a:t>
            </a:r>
          </a:p>
          <a:p>
            <a:pPr algn="l" marL="1121339" indent="-560669" lvl="1">
              <a:lnSpc>
                <a:spcPts val="5609"/>
              </a:lnSpc>
              <a:spcBef>
                <a:spcPct val="0"/>
              </a:spcBef>
              <a:buFont typeface="Arial"/>
              <a:buChar char="•"/>
            </a:pPr>
            <a:r>
              <a:rPr lang="en-US" sz="5193" i="true" spc="-3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API-based communication</a:t>
            </a:r>
          </a:p>
          <a:p>
            <a:pPr algn="l" marL="1121339" indent="-560669" lvl="1">
              <a:lnSpc>
                <a:spcPts val="5609"/>
              </a:lnSpc>
              <a:spcBef>
                <a:spcPct val="0"/>
              </a:spcBef>
              <a:buFont typeface="Arial"/>
              <a:buChar char="•"/>
            </a:pPr>
            <a:r>
              <a:rPr lang="en-US" sz="5193" i="true" spc="-3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Scalable &amp; maintainable</a:t>
            </a:r>
          </a:p>
          <a:p>
            <a:pPr algn="l" marL="1121339" indent="-560669" lvl="1">
              <a:lnSpc>
                <a:spcPts val="5609"/>
              </a:lnSpc>
              <a:spcBef>
                <a:spcPct val="0"/>
              </a:spcBef>
              <a:buFont typeface="Arial"/>
              <a:buChar char="•"/>
            </a:pPr>
            <a:r>
              <a:rPr lang="en-US" sz="5193" i="true" spc="-3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Docker containerized</a:t>
            </a:r>
          </a:p>
          <a:p>
            <a:pPr algn="ctr">
              <a:lnSpc>
                <a:spcPts val="712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5101731" y="1934446"/>
          <a:ext cx="7956352" cy="7956352"/>
        </p:xfrm>
        <a:graphic>
          <a:graphicData uri="http://schemas.openxmlformats.org/presentationml/2006/ole">
            <p:oleObj imgW="6781800" imgH="67818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4335103" y="789129"/>
            <a:ext cx="1853723" cy="50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3"/>
              </a:lnSpc>
              <a:spcBef>
                <a:spcPct val="0"/>
              </a:spcBef>
            </a:pPr>
            <a:r>
              <a:rPr lang="en-US" sz="3549" i="true" spc="-21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Services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48302" y="4711166"/>
            <a:ext cx="12191396" cy="93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6600" i="true" spc="-4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Start with reg or admin microservice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28975" y="547689"/>
            <a:ext cx="11830050" cy="1988344"/>
            <a:chOff x="0" y="0"/>
            <a:chExt cx="11216640" cy="1885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16640" cy="1885239"/>
            </a:xfrm>
            <a:custGeom>
              <a:avLst/>
              <a:gdLst/>
              <a:ahLst/>
              <a:cxnLst/>
              <a:rect r="r" b="b" t="t" l="l"/>
              <a:pathLst>
                <a:path h="1885239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39"/>
                  </a:lnTo>
                  <a:lnTo>
                    <a:pt x="0" y="18852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930" r="0" b="-6593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11216640" cy="1818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7"/>
                </a:lnSpc>
              </a:pPr>
              <a:r>
                <a:rPr lang="en-US" sz="6599" i="true" spc="-40" u="sng">
                  <a:solidFill>
                    <a:srgbClr val="00000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Patient </a:t>
              </a:r>
              <a:r>
                <a:rPr lang="en-US" sz="6599" i="true" spc="-40" u="sng">
                  <a:solidFill>
                    <a:srgbClr val="00000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 Microservice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357562" y="2764625"/>
            <a:ext cx="11572875" cy="5285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0512" indent="-270256" lvl="1">
              <a:lnSpc>
                <a:spcPts val="453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Hospital Management System</a:t>
            </a:r>
          </a:p>
          <a:p>
            <a:pPr algn="l" marL="540512" indent="-270256" lvl="1">
              <a:lnSpc>
                <a:spcPts val="453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Port 3002</a:t>
            </a:r>
          </a:p>
          <a:p>
            <a:pPr algn="l" marL="540334" indent="-270167" lvl="1">
              <a:lnSpc>
                <a:spcPts val="453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Handles Patient CRUD operations</a:t>
            </a:r>
          </a:p>
          <a:p>
            <a:pPr algn="l" marL="540512" indent="-270256" lvl="1">
              <a:lnSpc>
                <a:spcPts val="453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Stores and manages patient records</a:t>
            </a:r>
          </a:p>
          <a:p>
            <a:pPr algn="l" marL="540334" indent="-270167" lvl="1">
              <a:lnSpc>
                <a:spcPts val="453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References user_id from user-service</a:t>
            </a:r>
          </a:p>
          <a:p>
            <a:pPr algn="l" marL="540334" indent="-270167" lvl="1">
              <a:lnSpc>
                <a:spcPts val="453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Provides patient_id for other services</a:t>
            </a:r>
          </a:p>
          <a:p>
            <a:pPr algn="l" marL="540334" indent="-270167" lvl="1">
              <a:lnSpc>
                <a:spcPts val="453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Central data layer for patient information</a:t>
            </a:r>
          </a:p>
          <a:p>
            <a:pPr algn="l" marL="540334" indent="-270167" lvl="1">
              <a:lnSpc>
                <a:spcPts val="453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Independently deployable microservice</a:t>
            </a:r>
          </a:p>
          <a:p>
            <a:pPr algn="l" marL="540334" indent="-270167" lvl="1">
              <a:lnSpc>
                <a:spcPts val="4535"/>
              </a:lnSpc>
              <a:buFont typeface="Arial"/>
              <a:buChar char="•"/>
            </a:pP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Dockerized for container-based deployment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28975" y="547689"/>
            <a:ext cx="11830050" cy="1988351"/>
            <a:chOff x="0" y="0"/>
            <a:chExt cx="11216640" cy="18852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16640" cy="1885245"/>
            </a:xfrm>
            <a:custGeom>
              <a:avLst/>
              <a:gdLst/>
              <a:ahLst/>
              <a:cxnLst/>
              <a:rect r="r" b="b" t="t" l="l"/>
              <a:pathLst>
                <a:path h="1885245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45"/>
                  </a:lnTo>
                  <a:lnTo>
                    <a:pt x="0" y="18852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929" r="0" b="-6593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11216640" cy="181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7"/>
                </a:lnSpc>
              </a:pPr>
              <a:r>
                <a:rPr lang="en-US" sz="6599" i="true" spc="-40" u="sng">
                  <a:solidFill>
                    <a:srgbClr val="000000"/>
                  </a:solidFill>
                  <a:latin typeface="TT Rounds Condensed Italics"/>
                  <a:ea typeface="TT Rounds Condensed Italics"/>
                  <a:cs typeface="TT Rounds Condensed Italics"/>
                  <a:sym typeface="TT Rounds Condensed Italics"/>
                </a:rPr>
                <a:t>Dockerfile Snippet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486150" y="2821780"/>
            <a:ext cx="11995172" cy="605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9745" indent="-309872" lvl="1">
              <a:lnSpc>
                <a:spcPts val="5200"/>
              </a:lnSpc>
              <a:buFont typeface="Arial"/>
              <a:buChar char="•"/>
            </a:pPr>
            <a:r>
              <a:rPr lang="en-US" sz="48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FROM node:18-alpine</a:t>
            </a:r>
          </a:p>
          <a:p>
            <a:pPr algn="l" marL="619540" indent="-309770" lvl="1">
              <a:lnSpc>
                <a:spcPts val="5200"/>
              </a:lnSpc>
              <a:buFont typeface="Arial"/>
              <a:buChar char="•"/>
            </a:pPr>
            <a:r>
              <a:rPr lang="en-US" sz="48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WORKDIR /app</a:t>
            </a:r>
          </a:p>
          <a:p>
            <a:pPr algn="l" marL="619540" indent="-309770" lvl="1">
              <a:lnSpc>
                <a:spcPts val="5200"/>
              </a:lnSpc>
              <a:buFont typeface="Arial"/>
              <a:buChar char="•"/>
            </a:pPr>
            <a:r>
              <a:rPr lang="en-US" sz="48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RUN apk add --no-cache netcat-openbsd</a:t>
            </a:r>
          </a:p>
          <a:p>
            <a:pPr algn="l" marL="619540" indent="-309770" lvl="1">
              <a:lnSpc>
                <a:spcPts val="5200"/>
              </a:lnSpc>
              <a:buFont typeface="Arial"/>
              <a:buChar char="•"/>
            </a:pPr>
            <a:r>
              <a:rPr lang="en-US" sz="48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COPY package.json ./</a:t>
            </a:r>
          </a:p>
          <a:p>
            <a:pPr algn="l" marL="619540" indent="-309770" lvl="1">
              <a:lnSpc>
                <a:spcPts val="5200"/>
              </a:lnSpc>
              <a:buFont typeface="Arial"/>
              <a:buChar char="•"/>
            </a:pPr>
            <a:r>
              <a:rPr lang="en-US" sz="48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RUN npm install --production</a:t>
            </a:r>
          </a:p>
          <a:p>
            <a:pPr algn="l" marL="619745" indent="-309872" lvl="1">
              <a:lnSpc>
                <a:spcPts val="5200"/>
              </a:lnSpc>
              <a:buFont typeface="Arial"/>
              <a:buChar char="•"/>
            </a:pPr>
            <a:r>
              <a:rPr lang="en-US" sz="48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COPY . .</a:t>
            </a:r>
          </a:p>
          <a:p>
            <a:pPr algn="l" marL="619745" indent="-309872" lvl="1">
              <a:lnSpc>
                <a:spcPts val="5200"/>
              </a:lnSpc>
              <a:buFont typeface="Arial"/>
              <a:buChar char="•"/>
            </a:pPr>
            <a:r>
              <a:rPr lang="en-US" sz="48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EXPOSE 3002</a:t>
            </a:r>
          </a:p>
          <a:p>
            <a:pPr algn="l" marL="619745" indent="-309872" lvl="1">
              <a:lnSpc>
                <a:spcPts val="5200"/>
              </a:lnSpc>
              <a:buFont typeface="Arial"/>
              <a:buChar char="•"/>
            </a:pPr>
            <a:r>
              <a:rPr lang="en-US" sz="4815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CMD sh -c 'while ! nc -z mysql 3306; do sleep 1; done; node app.js'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09313" y="2318870"/>
            <a:ext cx="9251731" cy="7593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patient-se</a:t>
            </a: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rvice: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build: ./services/patient-service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container_name: hospital-patient-service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restart: always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environment: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DB_HOST: mysql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DB_USER: root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DB_PASSWORD: ${MYSQL_ROOT_PASSWORD:-root123}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DB_NAME: ${MYSQL_DATABASE:-hospital_db}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JWT_SECRET: ${JWT_SECRET:-hospital_management_secret_key_2024}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depends_on: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mysql: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condition: service_healthy</a:t>
            </a:r>
          </a:p>
          <a:p>
            <a:pPr algn="l">
              <a:lnSpc>
                <a:spcPts val="3551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networks:</a:t>
            </a:r>
          </a:p>
          <a:p>
            <a:pPr algn="l">
              <a:lnSpc>
                <a:spcPts val="3552"/>
              </a:lnSpc>
            </a:pPr>
            <a:r>
              <a:rPr lang="en-US" sz="328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- hospital-network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57562" y="897605"/>
            <a:ext cx="7923952" cy="931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8"/>
              </a:lnSpc>
              <a:spcBef>
                <a:spcPct val="0"/>
              </a:spcBef>
            </a:pPr>
            <a:r>
              <a:rPr lang="en-US" sz="6600" i="true" spc="-40">
                <a:solidFill>
                  <a:srgbClr val="000000"/>
                </a:solidFill>
                <a:latin typeface="TT Rounds Condensed Italics"/>
                <a:ea typeface="TT Rounds Condensed Italics"/>
                <a:cs typeface="TT Rounds Condensed Italics"/>
                <a:sym typeface="TT Rounds Condensed Italics"/>
              </a:rPr>
              <a:t>docker-compose.yml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228975" y="547689"/>
            <a:ext cx="11830050" cy="1988351"/>
            <a:chOff x="0" y="0"/>
            <a:chExt cx="11216640" cy="18852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16640" cy="1885245"/>
            </a:xfrm>
            <a:custGeom>
              <a:avLst/>
              <a:gdLst/>
              <a:ahLst/>
              <a:cxnLst/>
              <a:rect r="r" b="b" t="t" l="l"/>
              <a:pathLst>
                <a:path h="1885245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885245"/>
                  </a:lnTo>
                  <a:lnTo>
                    <a:pt x="0" y="18852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5929" r="0" b="-6593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66675"/>
              <a:ext cx="11216640" cy="1818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127"/>
                </a:lnSpc>
              </a:pPr>
              <a:r>
                <a:rPr lang="en-US" sz="6599" spc="-40">
                  <a:solidFill>
                    <a:srgbClr val="000000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screenshots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DAHDBM7p1Oc</dc:identifier>
  <dcterms:modified xsi:type="dcterms:W3CDTF">2011-08-01T06:04:30Z</dcterms:modified>
  <cp:revision>1</cp:revision>
  <dc:title>Hospital Management System</dc:title>
</cp:coreProperties>
</file>
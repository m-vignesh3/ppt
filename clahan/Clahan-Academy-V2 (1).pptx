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27"/>
  </p:notesMasterIdLst>
  <p:sldIdLst>
    <p:sldId id="256" r:id="rId2"/>
    <p:sldId id="258" r:id="rId3"/>
    <p:sldId id="277" r:id="rId4"/>
    <p:sldId id="276" r:id="rId5"/>
    <p:sldId id="263" r:id="rId6"/>
    <p:sldId id="265" r:id="rId7"/>
    <p:sldId id="260" r:id="rId8"/>
    <p:sldId id="261" r:id="rId9"/>
    <p:sldId id="278" r:id="rId10"/>
    <p:sldId id="288" r:id="rId11"/>
    <p:sldId id="289" r:id="rId12"/>
    <p:sldId id="268" r:id="rId13"/>
    <p:sldId id="269" r:id="rId14"/>
    <p:sldId id="291" r:id="rId15"/>
    <p:sldId id="293" r:id="rId16"/>
    <p:sldId id="292" r:id="rId17"/>
    <p:sldId id="290" r:id="rId18"/>
    <p:sldId id="281" r:id="rId19"/>
    <p:sldId id="283" r:id="rId20"/>
    <p:sldId id="274" r:id="rId21"/>
    <p:sldId id="284" r:id="rId22"/>
    <p:sldId id="287" r:id="rId23"/>
    <p:sldId id="285" r:id="rId24"/>
    <p:sldId id="286" r:id="rId25"/>
    <p:sldId id="279" r:id="rId26"/>
  </p:sldIdLst>
  <p:sldSz cx="9144000" cy="5143500" type="screen16x9"/>
  <p:notesSz cx="5143500" cy="9144000"/>
  <p:embeddedFontLst>
    <p:embeddedFont>
      <p:font typeface="Montserrat Bold" panose="020B0604020202020204" charset="0"/>
      <p:regular r:id="rId28"/>
    </p:embeddedFont>
    <p:embeddedFont>
      <p:font typeface="Source Sans 3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085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12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07F9F-DB8D-E12B-AD59-34521F611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D4908-3AC0-53CF-8C92-1220E0CB7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713BC-8CF4-7CA8-B98A-C7DE87EE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C2C9C-B95D-5BF1-6EEB-CAC93021A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D4A43-831B-5C4F-C4E8-50070E19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72153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A2C89-25B7-097A-5C87-E2F861C3E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E81A9-8351-3006-380D-1FA143354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67D20-6204-3AD7-2601-42CBF998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D97F9-5D6F-5C82-F5F9-6A016FF03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BA36D-9283-7A19-7F29-5B9F88788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0898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8654A-A139-1B54-41F2-35DCEBC33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B1872-3C3A-E74A-9119-BA8999833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6FB8C-1D1E-BE99-1C72-FB7D85B1C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AEFD0-4877-5DF4-D602-E7AEEA7AF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3FDBB-3D08-42FD-87AD-52E4D91AB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1158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F551B-284C-5BAE-FDBA-5B21AB4B0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AAFA6-F22A-8523-2B77-1983DD4D22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69A2D-D3C3-DD41-43F4-64FF94A9D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713B9-F6B1-12BD-A19D-6BB4C60EA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19B03-B5AC-4F6E-BA2C-EBE0F5439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5BA74-100A-4A50-4AFD-D606434B0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45574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705C0-3DFE-A19E-090A-340D6BBAB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3208D-6BE3-3975-4EA9-27A97B35F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FFD38-5CF3-99FD-8FD6-8B9FE89A0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759A9-CE9A-51FD-37B0-CD8448E6FA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025DAB-86C1-AECF-BDC1-57474A9684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57DD72-E966-1436-98F4-23E795A31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A12AE-151E-FA4B-0786-7D81F0EA1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BDBF9E-FAE0-88D3-B163-CDC378ED4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1462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0FB0E-37DC-56EE-9C30-2A25127B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14A53-7197-67DE-3CE4-3B13498D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895B77-638D-344F-6ACF-F8DE16EB5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E3CEE-12B8-331C-2EC7-6AC0AAB92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141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58D8B4-A07B-FD9B-A89B-EE36F6B62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50DA2A-F83D-ADA7-6AC5-3B754DA50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CF3B0-DCB1-BCCF-0BCE-AD3A3D53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21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12D72-756F-D241-1811-96049E0B5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E127A-5CD4-164A-C4C4-AD6BFF131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BB213-E7A4-0CDF-9920-FC06B724D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C3F33-EBDA-822C-610D-27D36BD85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0A509-848F-D720-B043-DDC8143A1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B3BF6-1711-9536-7F72-388C555C9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4027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F3D8-877F-F1D5-61B6-071B371B7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F9075-C6C2-706A-2E6A-83C8D44BE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5526F-1BB2-A1D3-0647-F70277449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463E9-3ECB-DF07-8B3B-7D85B3B1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5ACBA-96E3-C72F-8A18-884778B7C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E0933-5C1B-7B25-80F2-061430815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22282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BDF8B-E5EB-F1AC-D0CA-A5C00CCAE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2A75A-F22D-C671-B76D-E83ECAC48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67B85-E89F-3BBE-4CD8-143327082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92C9C-3E3F-627D-868D-E0585D8BB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D3391-B4B8-1637-DE16-4563DC8A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0432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2D91D-B233-E095-E0D4-AB6C981602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8A286-9955-84DF-1755-E58F4C307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CBB79-3BE4-55CE-2F67-0DB58FBE2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740-05D1-D895-787D-9E183BBEA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EA028-6919-4E16-0461-07216E294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9668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928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2C6E1A-9A7B-A78C-A9F4-6136BA0D9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1ADCB-981E-2523-0313-27AF52D79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78004-4448-65D1-DBD5-820C09EBE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3040E-88A8-46C6-8D76-6118CC54D71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4E2DC-672E-3343-E7BE-39F17CA9E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D33C5-EB60-A57E-D9A6-242D19B55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170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8338" y="239649"/>
            <a:ext cx="4291384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Clahan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 Academy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49421" y="797044"/>
            <a:ext cx="6445157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Cloud‑Native Microservices Platform &amp; GitOps CI/CD Lifecycle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A59562-577A-44AE-2403-0EF4CC1F3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1" y="1288916"/>
            <a:ext cx="7945379" cy="3532267"/>
          </a:xfrm>
          <a:prstGeom prst="rect">
            <a:avLst/>
          </a:prstGeom>
          <a:effectLst>
            <a:outerShdw dist="50800" dir="5400000" algn="ctr" rotWithShape="0">
              <a:srgbClr val="000000"/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60DDE8ED-8814-5DEA-6D8A-75C77A68FF0B}"/>
              </a:ext>
            </a:extLst>
          </p:cNvPr>
          <p:cNvSpPr txBox="1"/>
          <p:nvPr/>
        </p:nvSpPr>
        <p:spPr>
          <a:xfrm>
            <a:off x="2171700" y="266700"/>
            <a:ext cx="41278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Clahan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Academy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D80E536-A9E8-6B34-4684-D583F015A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3" t="18274" r="913"/>
          <a:stretch>
            <a:fillRect/>
          </a:stretch>
        </p:blipFill>
        <p:spPr>
          <a:xfrm>
            <a:off x="271026" y="1126043"/>
            <a:ext cx="8568173" cy="37507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9803F7-E133-C3E8-9370-8C7137EBF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" y="60960"/>
            <a:ext cx="9014460" cy="501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93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27E1644-25D5-E9FC-21D6-56A92C8CAF63}"/>
              </a:ext>
            </a:extLst>
          </p:cNvPr>
          <p:cNvSpPr/>
          <p:nvPr/>
        </p:nvSpPr>
        <p:spPr>
          <a:xfrm>
            <a:off x="606242" y="228691"/>
            <a:ext cx="7268021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Application Architecture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92C34-0B0E-7126-F979-6141F95BED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54" b="8120"/>
          <a:stretch>
            <a:fillRect/>
          </a:stretch>
        </p:blipFill>
        <p:spPr>
          <a:xfrm>
            <a:off x="220980" y="801007"/>
            <a:ext cx="8717279" cy="411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168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4755"/>
            <a:ext cx="4761309" cy="383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Microservices Catalog Map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1044401"/>
            <a:ext cx="3973041" cy="11460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3837" y="1584201"/>
            <a:ext cx="171249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Vite / React Frontend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93837" y="1846734"/>
            <a:ext cx="3665116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interface, exam flows, editor &amp; proctoring client.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1010" y="1044401"/>
            <a:ext cx="3973116" cy="11460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84973" y="1584201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Auth Service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784973" y="1846734"/>
            <a:ext cx="3665190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Authentication, JWT, session validation, 2FA hooks.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2308547"/>
            <a:ext cx="3973041" cy="11460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3837" y="2848347"/>
            <a:ext cx="2633142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Student / Admin / Exam Services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93837" y="3110880"/>
            <a:ext cx="3665116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business logic and exam orchestration.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1010" y="2308547"/>
            <a:ext cx="3973116" cy="114605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84973" y="2848347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Proctoring Service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84973" y="3110880"/>
            <a:ext cx="3665190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WebSocket handler for video frame ingestion.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3572694"/>
            <a:ext cx="3973041" cy="114605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3837" y="4112493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Service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93837" y="4375026"/>
            <a:ext cx="3665116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YOLOv8 &amp; InsightFace inference on GPU nodes.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1010" y="3572694"/>
            <a:ext cx="3973116" cy="114605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784973" y="4112493"/>
            <a:ext cx="1577876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Notification Service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4784973" y="4375026"/>
            <a:ext cx="3665190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Background worker using BullMQ to send emails via SMTP.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33685"/>
            <a:ext cx="6337474" cy="321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Student Test‑Taking Journey (Step‑by‑Step)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64856" y="921916"/>
            <a:ext cx="14288" cy="3787899"/>
          </a:xfrm>
          <a:prstGeom prst="roundRect">
            <a:avLst>
              <a:gd name="adj" fmla="val 118937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4119004" y="1042169"/>
            <a:ext cx="339849" cy="14288"/>
          </a:xfrm>
          <a:prstGeom prst="roundRect">
            <a:avLst>
              <a:gd name="adj" fmla="val 118937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444566" y="921916"/>
            <a:ext cx="254868" cy="25486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4494721" y="952760"/>
            <a:ext cx="154484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18197" y="960834"/>
            <a:ext cx="1287363" cy="16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 • Login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874" y="1171575"/>
            <a:ext cx="3465686" cy="14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 authenticates via Auth Service; session recorded.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85147" y="1661666"/>
            <a:ext cx="339849" cy="14288"/>
          </a:xfrm>
          <a:prstGeom prst="roundRect">
            <a:avLst>
              <a:gd name="adj" fmla="val 118937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4444566" y="1541413"/>
            <a:ext cx="254868" cy="25486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494721" y="1572258"/>
            <a:ext cx="154484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38440" y="1580331"/>
            <a:ext cx="1287363" cy="16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 • Start Exam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38440" y="1791072"/>
            <a:ext cx="3465686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 begins; WebSocket to Proctoring Service established; camera streams start.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9004" y="2217465"/>
            <a:ext cx="339849" cy="14288"/>
          </a:xfrm>
          <a:prstGeom prst="roundRect">
            <a:avLst>
              <a:gd name="adj" fmla="val 118937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4444566" y="2097212"/>
            <a:ext cx="254868" cy="25486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4494721" y="2128056"/>
            <a:ext cx="154484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18197" y="2136130"/>
            <a:ext cx="1287363" cy="16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 • Code Work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9874" y="2346871"/>
            <a:ext cx="3465686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 writes code; submissions compiled/executed via Judge0 sandbox.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85147" y="2773263"/>
            <a:ext cx="339849" cy="14288"/>
          </a:xfrm>
          <a:prstGeom prst="roundRect">
            <a:avLst>
              <a:gd name="adj" fmla="val 118937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4444566" y="2653010"/>
            <a:ext cx="254868" cy="25486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4494721" y="2683855"/>
            <a:ext cx="154484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38440" y="2691929"/>
            <a:ext cx="1310953" cy="16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 • Submit Answers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38440" y="2902669"/>
            <a:ext cx="3465686" cy="14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answers sent to Exam Service (code &amp; descriptive).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9004" y="3329062"/>
            <a:ext cx="339849" cy="14288"/>
          </a:xfrm>
          <a:prstGeom prst="roundRect">
            <a:avLst>
              <a:gd name="adj" fmla="val 118937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4444566" y="3208809"/>
            <a:ext cx="254868" cy="25486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4494721" y="3239653"/>
            <a:ext cx="154484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74863" y="3247727"/>
            <a:ext cx="1530697" cy="16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 • Automated Grading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9874" y="3458468"/>
            <a:ext cx="3465686" cy="14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Ollama 'phi3' evaluates descriptive responses; exam scoring finalised.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85147" y="3884861"/>
            <a:ext cx="339849" cy="14288"/>
          </a:xfrm>
          <a:prstGeom prst="roundRect">
            <a:avLst>
              <a:gd name="adj" fmla="val 118937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4444566" y="3764607"/>
            <a:ext cx="254868" cy="25486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31" name="Text 29"/>
          <p:cNvSpPr/>
          <p:nvPr/>
        </p:nvSpPr>
        <p:spPr>
          <a:xfrm>
            <a:off x="4494721" y="3795452"/>
            <a:ext cx="154484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38440" y="3803526"/>
            <a:ext cx="1287363" cy="16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 • Notification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38440" y="4014267"/>
            <a:ext cx="3465686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BullMQ enqueues the grade report; Notification Service emails results and stores audit records.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35546"/>
            <a:ext cx="5654278" cy="308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Real‑Time AI Proctoring — How it Works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63" y="896169"/>
            <a:ext cx="7997800" cy="34488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1199" y="3701335"/>
            <a:ext cx="1649384" cy="206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Send Alerts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11199" y="2902977"/>
            <a:ext cx="1649384" cy="206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Analysis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11199" y="2112684"/>
            <a:ext cx="1649384" cy="206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Receive Frames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11199" y="1314327"/>
            <a:ext cx="1649384" cy="206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Open WebSocket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39874" y="4430837"/>
            <a:ext cx="8064252" cy="277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browser opens a persistent WebSocket to the Proctoring Service; webcams stream frames to the AI Service which runs YOLOv8 and InsightFace on GPU nodes to detect anomalies and emit immediate alerts.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5112" y="532432"/>
            <a:ext cx="733462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Sandboxed Programming Workspace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5112" y="1149846"/>
            <a:ext cx="3421856" cy="1357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Students code inside the exam UI; submissions execute through an isolated judge API to ensure safety and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reproducibility.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02423" y="1147166"/>
            <a:ext cx="4265935" cy="1283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Everything runs in constrained containers; results and logs are returned to the Exam Service for scoring and audit trails.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5112" y="2771150"/>
            <a:ext cx="308521" cy="192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Times New Roman" panose="02020603050405020304" pitchFamily="18" charset="0"/>
                <a:ea typeface="Montserrat Light" pitchFamily="34" charset="-122"/>
                <a:cs typeface="Times New Roman" panose="02020603050405020304" pitchFamily="18" charset="0"/>
              </a:rPr>
              <a:t>01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5112" y="3014261"/>
            <a:ext cx="2585219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7" name="Text 5"/>
          <p:cNvSpPr/>
          <p:nvPr/>
        </p:nvSpPr>
        <p:spPr>
          <a:xfrm>
            <a:off x="535112" y="3129454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Editor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5112" y="3441100"/>
            <a:ext cx="2585219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In‑browser code editor with language support.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74591" y="2771150"/>
            <a:ext cx="308521" cy="192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Times New Roman" panose="02020603050405020304" pitchFamily="18" charset="0"/>
                <a:ea typeface="Montserrat Light" pitchFamily="34" charset="-122"/>
                <a:cs typeface="Times New Roman" panose="02020603050405020304" pitchFamily="18" charset="0"/>
              </a:rPr>
              <a:t>02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74591" y="3014261"/>
            <a:ext cx="2585219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1" name="Text 9"/>
          <p:cNvSpPr/>
          <p:nvPr/>
        </p:nvSpPr>
        <p:spPr>
          <a:xfrm>
            <a:off x="3274591" y="3129454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Judge0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74591" y="3441100"/>
            <a:ext cx="2585219" cy="1033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Exam Service forwards code to Judge0 for compilation/execution.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14071" y="2771150"/>
            <a:ext cx="308521" cy="192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Times New Roman" panose="02020603050405020304" pitchFamily="18" charset="0"/>
                <a:ea typeface="Montserrat Light" pitchFamily="34" charset="-122"/>
                <a:cs typeface="Times New Roman" panose="02020603050405020304" pitchFamily="18" charset="0"/>
              </a:rPr>
              <a:t>03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14071" y="3014261"/>
            <a:ext cx="2585219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5" name="Text 13"/>
          <p:cNvSpPr/>
          <p:nvPr/>
        </p:nvSpPr>
        <p:spPr>
          <a:xfrm>
            <a:off x="6014071" y="3129454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Sandbox limits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14071" y="3441100"/>
            <a:ext cx="2585219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CPU/memory/time quotas prevent escapes or resource abuse.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A2FCDC-0055-C2FA-19A5-752DF3680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" y="697128"/>
            <a:ext cx="8427720" cy="42369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9DDCAC-D7C1-4973-AFB3-8802DB3FC113}"/>
              </a:ext>
            </a:extLst>
          </p:cNvPr>
          <p:cNvSpPr txBox="1"/>
          <p:nvPr/>
        </p:nvSpPr>
        <p:spPr>
          <a:xfrm>
            <a:off x="1405890" y="127741"/>
            <a:ext cx="6332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Clahan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Academy Cloud Infrastructure Architecture</a:t>
            </a:r>
          </a:p>
        </p:txBody>
      </p:sp>
    </p:spTree>
    <p:extLst>
      <p:ext uri="{BB962C8B-B14F-4D97-AF65-F5344CB8AC3E}">
        <p14:creationId xmlns:p14="http://schemas.microsoft.com/office/powerpoint/2010/main" val="3258178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6D06588-AC31-D755-E540-1C9F66217F58}"/>
              </a:ext>
            </a:extLst>
          </p:cNvPr>
          <p:cNvSpPr txBox="1"/>
          <p:nvPr/>
        </p:nvSpPr>
        <p:spPr>
          <a:xfrm>
            <a:off x="400051" y="56079"/>
            <a:ext cx="7529512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/>
              <a:t>☁️ Azure Cloud Architecture &amp; Provisioned Resources </a:t>
            </a:r>
          </a:p>
          <a:p>
            <a:pPr>
              <a:buNone/>
            </a:pPr>
            <a:endParaRPr lang="en-IN" sz="1100" b="1" dirty="0"/>
          </a:p>
          <a:p>
            <a:pPr>
              <a:buNone/>
            </a:pPr>
            <a:r>
              <a:rPr lang="en-IN" sz="1100" b="1" dirty="0"/>
              <a:t>Compute &amp; Orchestration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Azure Kubernetes Service (AKS)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Dedicated Node Pools for Application &amp; AI Workloads </a:t>
            </a:r>
          </a:p>
          <a:p>
            <a:endParaRPr lang="en-IN" sz="1100" dirty="0"/>
          </a:p>
          <a:p>
            <a:pPr>
              <a:buNone/>
            </a:pPr>
            <a:r>
              <a:rPr lang="en-IN" sz="1100" b="1" dirty="0"/>
              <a:t>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Azure Database for PostgreSQL (Flexible Server)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Geo-Redundant Backups Enabled </a:t>
            </a:r>
          </a:p>
          <a:p>
            <a:endParaRPr lang="en-IN" sz="1100" dirty="0"/>
          </a:p>
          <a:p>
            <a:pPr>
              <a:buNone/>
            </a:pPr>
            <a:r>
              <a:rPr lang="en-IN" sz="1100" b="1" dirty="0"/>
              <a:t>Storage &amp; Container Registry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Azure Storage Account (Blob Storage)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Azure Container Registry (ACR) </a:t>
            </a:r>
          </a:p>
          <a:p>
            <a:endParaRPr lang="en-IN" sz="1100" dirty="0"/>
          </a:p>
          <a:p>
            <a:pPr>
              <a:buNone/>
            </a:pPr>
            <a:r>
              <a:rPr lang="en-IN" sz="1100" b="1" dirty="0"/>
              <a:t>Networking &amp; Ingress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Azure Virtual Network (</a:t>
            </a:r>
            <a:r>
              <a:rPr lang="en-IN" sz="1100" dirty="0" err="1"/>
              <a:t>VNet</a:t>
            </a:r>
            <a:r>
              <a:rPr lang="en-IN" sz="1100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Azure Application Gateway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Private Endpoints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Private DNS Zones </a:t>
            </a:r>
          </a:p>
          <a:p>
            <a:endParaRPr lang="en-IN" sz="1100" dirty="0"/>
          </a:p>
          <a:p>
            <a:pPr>
              <a:buNone/>
            </a:pPr>
            <a:r>
              <a:rPr lang="en-IN" sz="1100" b="1" dirty="0"/>
              <a:t>Security &amp; Identity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Azure Key Vault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Microsoft Entra ID Workload Identity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User Assigned Managed Identities </a:t>
            </a:r>
          </a:p>
          <a:p>
            <a:endParaRPr lang="en-IN" sz="1100" dirty="0"/>
          </a:p>
          <a:p>
            <a:pPr>
              <a:buNone/>
            </a:pPr>
            <a:r>
              <a:rPr lang="en-IN" sz="1100" b="1" dirty="0"/>
              <a:t>Monitoring &amp; Observability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Azure Log Analytics Workspace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Azure Application Insights</a:t>
            </a:r>
            <a:endParaRPr lang="en-IN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697D7B-B7F8-87DD-45A2-04C59B4403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59" t="11667" r="5624" b="13610"/>
          <a:stretch>
            <a:fillRect/>
          </a:stretch>
        </p:blipFill>
        <p:spPr>
          <a:xfrm>
            <a:off x="5579269" y="550069"/>
            <a:ext cx="3243261" cy="444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08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43F16C-4DFB-A008-97DF-8BB6A002F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71437"/>
            <a:ext cx="8522494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95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001316"/>
            <a:ext cx="6979518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Traffic Flow &amp; WAF Security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748135"/>
            <a:ext cx="2688059" cy="6170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134" y="2519437"/>
            <a:ext cx="2379538" cy="43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Path: HTTPS Client Requests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94134" y="3050232"/>
            <a:ext cx="2379538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 client requests → Public IP (pip-appgw) → App Gateway v2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933" y="1748135"/>
            <a:ext cx="2688059" cy="6170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82194" y="2519437"/>
            <a:ext cx="2224757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Decryption &amp; Inspection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82194" y="2831083"/>
            <a:ext cx="2379538" cy="115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SSL terminates at the gateway using Key Vault certificates. Web Application Firewall (WAF) runs OWASP 3.2 protection in Prevention mode.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5992" y="1748135"/>
            <a:ext cx="2688134" cy="6170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70253" y="2519437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Forwarding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70253" y="2831083"/>
            <a:ext cx="2379613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Gateway forwards clean HTTP traffic to internal kGateway (Envoy) on the private AKS subnet.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556543"/>
            <a:ext cx="6698010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Infrastructure as Code (Terraform)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1303362"/>
            <a:ext cx="3954959" cy="17959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24819" y="1419076"/>
            <a:ext cx="185068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13184" y="1920329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Modular Setup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3184" y="2231975"/>
            <a:ext cx="3608338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Code is divided into dedicated folders (networking, aks, postgres, keyvault, storage, identity)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9093" y="1303362"/>
            <a:ext cx="3955033" cy="17959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4038" y="1419076"/>
            <a:ext cx="185068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822403" y="1920329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Remote Backend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22403" y="2231975"/>
            <a:ext cx="3608412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Terraform state is stored securely in an Azure Storage Account container with blob leases for concurrency locking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874" y="3253606"/>
            <a:ext cx="8064252" cy="133327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79466" y="3369320"/>
            <a:ext cx="185068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713184" y="3870573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Parameters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713184" y="4182219"/>
            <a:ext cx="7717631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100% dry variables, tfvars files, and strict tagging conventions (Environment &amp; Owner)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877CC8-8B63-8D02-8EA9-F03E7097E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232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DE2A7C-5FE3-E1DF-24A4-385AC6E25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"/>
            <a:ext cx="91440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39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957DE-60A2-E3F9-E439-3803A92B7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96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94F5CF-AD6D-D44A-87EF-0EFDF8E17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4" y="85725"/>
            <a:ext cx="8986837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363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5888E6-7790-797B-FD6B-6CC5080FCF85}"/>
              </a:ext>
            </a:extLst>
          </p:cNvPr>
          <p:cNvSpPr txBox="1"/>
          <p:nvPr/>
        </p:nvSpPr>
        <p:spPr>
          <a:xfrm>
            <a:off x="243840" y="1367790"/>
            <a:ext cx="859536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AKS exposes an OIDC Issuer</a:t>
            </a:r>
          </a:p>
          <a:p>
            <a:pPr>
              <a:buNone/>
            </a:pPr>
            <a:r>
              <a:rPr lang="en-IN" sz="1400" dirty="0"/>
              <a:t>Azure Kubernetes Service (AKS) provides an OpenID Connect (OIDC) identity provider for workloads running inside the cluster.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400" b="1" dirty="0"/>
              <a:t>Entra ID creates User-Assigned Managed Identities</a:t>
            </a:r>
          </a:p>
          <a:p>
            <a:pPr>
              <a:buNone/>
            </a:pPr>
            <a:r>
              <a:rPr lang="en-IN" sz="1400" dirty="0"/>
              <a:t>Dedicated Managed Identities are created for </a:t>
            </a:r>
            <a:r>
              <a:rPr lang="en-IN" sz="1400" dirty="0" err="1"/>
              <a:t>Clahan</a:t>
            </a:r>
            <a:r>
              <a:rPr lang="en-IN" sz="1400" dirty="0"/>
              <a:t> Academy microservices such as Auth Service, Exam Service, Student Service, and Notification Service.</a:t>
            </a:r>
            <a:br>
              <a:rPr lang="en-IN" sz="1400" dirty="0"/>
            </a:br>
            <a:endParaRPr lang="en-IN" sz="1400" dirty="0"/>
          </a:p>
          <a:p>
            <a:pPr>
              <a:buNone/>
            </a:pPr>
            <a:r>
              <a:rPr lang="en-IN" sz="1400" b="1" dirty="0"/>
              <a:t>Federated Credentials bind Service Accounts</a:t>
            </a:r>
          </a:p>
          <a:p>
            <a:pPr>
              <a:buNone/>
            </a:pPr>
            <a:r>
              <a:rPr lang="en-IN" sz="1400" dirty="0"/>
              <a:t>Kubernetes Service Accounts are linked to Microsoft Entra ID identities using Federated Identity Credentials through Terraform.</a:t>
            </a:r>
            <a:br>
              <a:rPr lang="en-IN" sz="1400" dirty="0"/>
            </a:br>
            <a:endParaRPr lang="en-IN" sz="1400" dirty="0"/>
          </a:p>
          <a:p>
            <a:pPr>
              <a:buNone/>
            </a:pPr>
            <a:r>
              <a:rPr lang="en-IN" sz="1400" b="1" dirty="0"/>
              <a:t>Pods access Azure Services </a:t>
            </a:r>
            <a:r>
              <a:rPr lang="en-IN" sz="1400" b="1" dirty="0" err="1"/>
              <a:t>Passwordlessly</a:t>
            </a:r>
            <a:endParaRPr lang="en-IN" sz="1400" b="1" dirty="0"/>
          </a:p>
          <a:p>
            <a:pPr>
              <a:buNone/>
            </a:pPr>
            <a:r>
              <a:rPr lang="en-IN" sz="1400" dirty="0"/>
              <a:t>Pods exchange OIDC tokens for Azure access tokens and securely access Azure Key Vault and Azure Storage without secrets or access keys.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00D83B0-4E9F-A53A-32FD-95F3F212F9D6}"/>
              </a:ext>
            </a:extLst>
          </p:cNvPr>
          <p:cNvSpPr/>
          <p:nvPr/>
        </p:nvSpPr>
        <p:spPr>
          <a:xfrm>
            <a:off x="311274" y="287075"/>
            <a:ext cx="8064252" cy="8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Microsoft Entra ID Workload Identity (Passwordless Pods)</a:t>
            </a:r>
            <a:endParaRPr lang="en-US" sz="26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7D7E8F-001D-737B-5A8B-0DC464F12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560" y="287075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469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027573-B9F4-D275-5033-D0F0F77CAE5A}"/>
              </a:ext>
            </a:extLst>
          </p:cNvPr>
          <p:cNvSpPr txBox="1"/>
          <p:nvPr/>
        </p:nvSpPr>
        <p:spPr>
          <a:xfrm>
            <a:off x="285750" y="228690"/>
            <a:ext cx="6807994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Multi-Tiered Disaster Recovery &amp; Data Resiliency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Protection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Flexible Server with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Backups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Geo-Redundant Backup Storage (GRS)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copies are replicated to a secondary Azure region to ensure business continuity during regional failures. 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Protection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Storage Accounts use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Blob Versioning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Delete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AI models, student documents, and profile data from accidental deletion or corruption.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retention period: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Days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Key Protection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Key Vault configured with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Delete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Purge Protection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permanent loss of secrets, certificates, and encryption keys.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retention period: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 Days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E2BF9E-62B8-CCD2-E59C-BC22F975C7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3" t="24028" r="3904" b="1807"/>
          <a:stretch>
            <a:fillRect/>
          </a:stretch>
        </p:blipFill>
        <p:spPr>
          <a:xfrm>
            <a:off x="6836569" y="64293"/>
            <a:ext cx="2214562" cy="492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755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860896"/>
            <a:ext cx="8064252" cy="87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Observability: Prometheus, Grafana &amp; Network Routing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2046015"/>
            <a:ext cx="2688059" cy="6170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134" y="2817316"/>
            <a:ext cx="2379538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Metrics: Prometheus scrapes AKS nodes, Kubernetes API, and pod metrics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933" y="2046015"/>
            <a:ext cx="2688059" cy="6170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82194" y="2817316"/>
            <a:ext cx="2379538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Subdomain: Grafana dashboard is exposed via grafana.clahaanacademy.online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5992" y="2046015"/>
            <a:ext cx="2688134" cy="61704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70253" y="2817316"/>
            <a:ext cx="2379613" cy="115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Routing: Envoy (kGateway) routes traffic to Grafana namespace. We updated the NetworkPolicy (gateway-netpol) to allow outbound traffic to the monitoring namespace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26DFE3F-1C77-C7DA-8B04-34ABD485B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1" y="175260"/>
            <a:ext cx="8763000" cy="482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356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F7BF0B-7FB9-CAAC-21FD-E2F6C8FC4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175260"/>
            <a:ext cx="8785860" cy="481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14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14655A-A1AD-16B6-967D-A7386B597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7640"/>
            <a:ext cx="8785860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103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7D277B-AB1D-A800-42C8-F754AEF172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2"/>
          <a:stretch>
            <a:fillRect/>
          </a:stretch>
        </p:blipFill>
        <p:spPr>
          <a:xfrm>
            <a:off x="152400" y="167640"/>
            <a:ext cx="8839199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71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A46C6F-6C1F-67EC-92F3-E9CF74D0F622}"/>
              </a:ext>
            </a:extLst>
          </p:cNvPr>
          <p:cNvSpPr txBox="1"/>
          <p:nvPr/>
        </p:nvSpPr>
        <p:spPr>
          <a:xfrm>
            <a:off x="1911422" y="1848475"/>
            <a:ext cx="542328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8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32312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1031</TotalTime>
  <Words>870</Words>
  <Application>Microsoft Office PowerPoint</Application>
  <PresentationFormat>On-screen Show (16:9)</PresentationFormat>
  <Paragraphs>140</Paragraphs>
  <Slides>25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Times New Roman</vt:lpstr>
      <vt:lpstr>Arial</vt:lpstr>
      <vt:lpstr>Calibri</vt:lpstr>
      <vt:lpstr>Source Sans 3</vt:lpstr>
      <vt:lpstr>Calibri Light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Vignesh M</dc:creator>
  <cp:lastModifiedBy>Vignesh M</cp:lastModifiedBy>
  <cp:revision>10</cp:revision>
  <dcterms:created xsi:type="dcterms:W3CDTF">2026-06-23T10:10:22Z</dcterms:created>
  <dcterms:modified xsi:type="dcterms:W3CDTF">2026-06-28T12:43:49Z</dcterms:modified>
</cp:coreProperties>
</file>
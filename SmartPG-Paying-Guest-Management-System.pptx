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2" r:id="rId1"/>
  </p:sldMasterIdLst>
  <p:notesMasterIdLst>
    <p:notesMasterId r:id="rId15"/>
  </p:notesMasterIdLst>
  <p:sldIdLst>
    <p:sldId id="256" r:id="rId2"/>
    <p:sldId id="257" r:id="rId3"/>
    <p:sldId id="259" r:id="rId4"/>
    <p:sldId id="265" r:id="rId5"/>
    <p:sldId id="276" r:id="rId6"/>
    <p:sldId id="258" r:id="rId7"/>
    <p:sldId id="260" r:id="rId8"/>
    <p:sldId id="261" r:id="rId9"/>
    <p:sldId id="262" r:id="rId10"/>
    <p:sldId id="264" r:id="rId11"/>
    <p:sldId id="266" r:id="rId12"/>
    <p:sldId id="269" r:id="rId13"/>
    <p:sldId id="274" r:id="rId14"/>
  </p:sldIdLst>
  <p:sldSz cx="9144000" cy="5143500" type="screen16x9"/>
  <p:notesSz cx="5143500" cy="9144000"/>
  <p:embeddedFontLst>
    <p:embeddedFont>
      <p:font typeface="Montserrat Bold" panose="020B0604020202020204" charset="0"/>
      <p:regular r:id="rId16"/>
    </p:embeddedFont>
    <p:embeddedFont>
      <p:font typeface="Source Sans 3"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6240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34857-3545-F2A4-CD25-7A396D0025B0}"/>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2748B855-6617-C0A4-417D-88A1ED7D354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55DE7C-192E-FB5E-144B-5BEB8441B7BB}"/>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6DD44487-09E0-6863-7ED9-A2869573E5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0A78B-59A8-D20D-E64D-ECF6E07C4840}"/>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3127939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FDAB9-601C-7E1F-F797-F6D6D593D3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97FD42-4D40-BA1B-D308-FFC3887230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8D024D-AA26-FA60-C024-E35B57B0E84E}"/>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68F12D4A-80A6-5548-8804-B4BB2C66D0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D9554-9B25-92A7-035F-134A7D744FA1}"/>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237927256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7AC6-FEBD-7A7E-A220-BBEF4709C3D2}"/>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F653B7-E480-F64F-9ADF-23136F71E5E8}"/>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98D02-933F-85AE-049E-C2F479CC8D0F}"/>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A71E6485-A10C-1E55-C57D-9DE936EAF9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BA2A7-870C-CB20-3564-2CD7AD618648}"/>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143790363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3B406-D359-993E-0E8E-3C49B9348C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EA5462-BEE2-3578-B369-ED2EB67ED28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376423-DD7E-1143-AE1B-85495EA3AE3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9FF2F2-CEF4-F004-A077-9604D89BB290}"/>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6" name="Footer Placeholder 5">
            <a:extLst>
              <a:ext uri="{FF2B5EF4-FFF2-40B4-BE49-F238E27FC236}">
                <a16:creationId xmlns:a16="http://schemas.microsoft.com/office/drawing/2014/main" id="{F5FBCDB3-3D1D-7362-5AF2-A1EE9A54C1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1393DE-5EE6-4EEC-CBC1-DF35D7341CCB}"/>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16842974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6FCC-5774-907E-EB93-33EA08C32A36}"/>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F0C6A2-48DA-E8DB-F8F9-16FA7A1D458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8DCF3B2-4BE0-33E3-BDA4-365430E86FA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F6AB56-8C22-8699-6B6E-C37736B015D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45BD3A5-CD1F-510C-6C45-DB3224EAD59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C0B019-D133-7455-A56D-575B4D149F68}"/>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8" name="Footer Placeholder 7">
            <a:extLst>
              <a:ext uri="{FF2B5EF4-FFF2-40B4-BE49-F238E27FC236}">
                <a16:creationId xmlns:a16="http://schemas.microsoft.com/office/drawing/2014/main" id="{3A191B73-733D-4873-CBFF-D0026AF1FE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3D1FD0-AA42-FB3D-EDF9-94EBF9CA50B0}"/>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29324591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CB16F-0172-1A14-FAD0-7C60589A6A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7B1730-6463-08FC-2628-0634BC29A7CF}"/>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4" name="Footer Placeholder 3">
            <a:extLst>
              <a:ext uri="{FF2B5EF4-FFF2-40B4-BE49-F238E27FC236}">
                <a16:creationId xmlns:a16="http://schemas.microsoft.com/office/drawing/2014/main" id="{9D02DD2E-920A-E4A2-DF59-08EC9320E31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4EA124-E5C4-2601-1359-296EDAF90B14}"/>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28193745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BDCA0-D35B-1C07-9E1B-118DCA8D81F6}"/>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3" name="Footer Placeholder 2">
            <a:extLst>
              <a:ext uri="{FF2B5EF4-FFF2-40B4-BE49-F238E27FC236}">
                <a16:creationId xmlns:a16="http://schemas.microsoft.com/office/drawing/2014/main" id="{74DDB8EE-E7E2-C856-1FF7-EEAFB60CBF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C9EC11-D81B-13E3-0685-69CB7E54B995}"/>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61444253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1EC9B-3492-A6F9-D580-E68E3373AB2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A34DD7-1D36-7E42-6AF0-C92CE99C2F8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141070-BE6B-95BD-AD75-ED97EA4168D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54EFCA2-0260-43A5-4181-2A1E396D77A7}"/>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6" name="Footer Placeholder 5">
            <a:extLst>
              <a:ext uri="{FF2B5EF4-FFF2-40B4-BE49-F238E27FC236}">
                <a16:creationId xmlns:a16="http://schemas.microsoft.com/office/drawing/2014/main" id="{25A07FE8-1935-8754-FE63-CDB380141C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A3631A-53EC-3CD9-D4AC-035B102FF88E}"/>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263985801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BD55-3163-6B54-D2CC-D71376CFC5F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A574B2-BC76-540E-E342-E21ED97813D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116BBDDA-BB01-2DE5-4CD4-75EB8D77AAA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ABB69E7-64A4-AEC7-05DF-03918AF60674}"/>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6" name="Footer Placeholder 5">
            <a:extLst>
              <a:ext uri="{FF2B5EF4-FFF2-40B4-BE49-F238E27FC236}">
                <a16:creationId xmlns:a16="http://schemas.microsoft.com/office/drawing/2014/main" id="{EDF42D26-3423-3372-A074-34E73159B4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CB382F-ADCA-050B-6EF3-265114DA4C61}"/>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19370958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A5DB-8512-3EB4-5F21-7D829832EF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05895D-D948-3A1C-A96D-91A0B0351A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6D0E55-2D4F-C1CF-6606-95E6CDEA7BEB}"/>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C0435504-6CFD-28C0-3985-C47342FDD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113C8-A67F-DEA0-3B5C-AA2A1048ECD2}"/>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25468523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470A1B-5FB6-66B5-0F52-7AB24AB949E1}"/>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E67EA7-1419-B693-D0FB-EEEF3BAA564E}"/>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6D2396-4F40-38A9-B1FF-291E26594CAB}"/>
              </a:ext>
            </a:extLst>
          </p:cNvPr>
          <p:cNvSpPr>
            <a:spLocks noGrp="1"/>
          </p:cNvSpPr>
          <p:nvPr>
            <p:ph type="dt" sz="half" idx="10"/>
          </p:nvPr>
        </p:nvSpPr>
        <p:spPr/>
        <p:txBody>
          <a:body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EB9EC196-8B55-9078-0903-10E1F82981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830140-C97B-89B2-0625-D2C38EE05266}"/>
              </a:ext>
            </a:extLst>
          </p:cNvPr>
          <p:cNvSpPr>
            <a:spLocks noGrp="1"/>
          </p:cNvSpPr>
          <p:nvPr>
            <p:ph type="sldNum" sz="quarter" idx="12"/>
          </p:nvPr>
        </p:nvSpPr>
        <p:spPr/>
        <p:txBody>
          <a:bodyPr/>
          <a:lstStyle/>
          <a:p>
            <a:fld id="{B7DA0D9D-E918-4B12-92CC-EE484311DE91}" type="slidenum">
              <a:rPr lang="en-IN" smtClean="0"/>
              <a:t>‹#›</a:t>
            </a:fld>
            <a:endParaRPr lang="en-IN"/>
          </a:p>
        </p:txBody>
      </p:sp>
    </p:spTree>
    <p:extLst>
      <p:ext uri="{BB962C8B-B14F-4D97-AF65-F5344CB8AC3E}">
        <p14:creationId xmlns:p14="http://schemas.microsoft.com/office/powerpoint/2010/main" val="39723461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88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572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275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65221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37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5496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920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0575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776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810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927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79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2CAE5B-CF3E-B3C9-91E7-9712C0CDA7F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AE3D79-D010-FE4A-B82D-D051B791BF3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049B1-6D03-B74F-F18E-DE309F54395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AD6944F6-365D-411F-963D-55C1CDBABD85}" type="datetimeFigureOut">
              <a:rPr lang="en-IN" smtClean="0"/>
              <a:t>26-05-2026</a:t>
            </a:fld>
            <a:endParaRPr lang="en-IN"/>
          </a:p>
        </p:txBody>
      </p:sp>
      <p:sp>
        <p:nvSpPr>
          <p:cNvPr id="5" name="Footer Placeholder 4">
            <a:extLst>
              <a:ext uri="{FF2B5EF4-FFF2-40B4-BE49-F238E27FC236}">
                <a16:creationId xmlns:a16="http://schemas.microsoft.com/office/drawing/2014/main" id="{56394AA0-184B-8FE9-3705-6937DC4C9DB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609FA0D-41D0-2A19-3277-8932962DCAC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7DA0D9D-E918-4B12-92CC-EE484311DE91}" type="slidenum">
              <a:rPr lang="en-IN" smtClean="0"/>
              <a:t>‹#›</a:t>
            </a:fld>
            <a:endParaRPr lang="en-IN"/>
          </a:p>
        </p:txBody>
      </p:sp>
    </p:spTree>
    <p:extLst>
      <p:ext uri="{BB962C8B-B14F-4D97-AF65-F5344CB8AC3E}">
        <p14:creationId xmlns:p14="http://schemas.microsoft.com/office/powerpoint/2010/main" val="3457968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2" r:id="rId19"/>
    <p:sldLayoutId id="2147483693" r:id="rId20"/>
    <p:sldLayoutId id="2147483694" r:id="rId21"/>
    <p:sldLayoutId id="2147483697" r:id="rId22"/>
    <p:sldLayoutId id="2147483702" r:id="rId2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8.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343272" y="598737"/>
            <a:ext cx="7867650" cy="396924"/>
          </a:xfrm>
          <a:prstGeom prst="rect">
            <a:avLst/>
          </a:prstGeom>
          <a:noFill/>
          <a:ln/>
        </p:spPr>
        <p:txBody>
          <a:bodyPr wrap="none" lIns="0" tIns="0" rIns="0" bIns="0" rtlCol="0" anchor="t"/>
          <a:lstStyle/>
          <a:p>
            <a:pPr marL="0" indent="0" algn="l">
              <a:lnSpc>
                <a:spcPct val="104000"/>
              </a:lnSpc>
              <a:buNone/>
            </a:pPr>
            <a:r>
              <a:rPr lang="en-US" sz="2800" b="1" dirty="0">
                <a:solidFill>
                  <a:srgbClr val="000000"/>
                </a:solidFill>
                <a:latin typeface="Montserrat Bold" pitchFamily="34" charset="0"/>
                <a:ea typeface="Montserrat Bold" pitchFamily="34" charset="-122"/>
                <a:cs typeface="Montserrat Bold" pitchFamily="34" charset="-120"/>
              </a:rPr>
              <a:t>SmartPG – Paying Guest Management System</a:t>
            </a:r>
            <a:endParaRPr lang="en-US" sz="2800" dirty="0"/>
          </a:p>
        </p:txBody>
      </p:sp>
      <p:sp>
        <p:nvSpPr>
          <p:cNvPr id="5" name="Text 3"/>
          <p:cNvSpPr/>
          <p:nvPr/>
        </p:nvSpPr>
        <p:spPr>
          <a:xfrm>
            <a:off x="539874" y="1594991"/>
            <a:ext cx="8064252" cy="1117473"/>
          </a:xfrm>
          <a:prstGeom prst="rect">
            <a:avLst/>
          </a:prstGeom>
          <a:solidFill>
            <a:schemeClr val="bg1"/>
          </a:solidFill>
          <a:ln/>
        </p:spPr>
        <p:txBody>
          <a:bodyPr wrap="square" lIns="0" tIns="0" rIns="0" bIns="0" rtlCol="0" anchor="t"/>
          <a:lstStyle/>
          <a:p>
            <a:pPr marL="0" indent="0" algn="l">
              <a:lnSpc>
                <a:spcPct val="125000"/>
              </a:lnSpc>
              <a:spcAft>
                <a:spcPts val="1150"/>
              </a:spcAft>
              <a:buNone/>
            </a:pPr>
            <a:r>
              <a:rPr lang="en-US" sz="1600" b="1" dirty="0">
                <a:solidFill>
                  <a:srgbClr val="3D3838"/>
                </a:solidFill>
                <a:latin typeface="Source Sans 3" pitchFamily="34" charset="0"/>
                <a:ea typeface="Source Sans 3" pitchFamily="34" charset="-122"/>
                <a:cs typeface="Source Sans 3" pitchFamily="34" charset="-120"/>
              </a:rPr>
              <a:t>Production-Grade Cloud-Native PG Management Platform</a:t>
            </a:r>
            <a:endParaRPr lang="en-US" sz="1600" dirty="0"/>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A modern SaaS platform built on Azure Kubernetes, Terraform, React, Node.js, and MongoDB — designed to digitize and scale paying guest operations end-to-end.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686842"/>
            <a:ext cx="7548042" cy="364331"/>
          </a:xfrm>
          <a:prstGeom prst="rect">
            <a:avLst/>
          </a:prstGeom>
          <a:noFill/>
          <a:ln/>
        </p:spPr>
        <p:txBody>
          <a:bodyPr wrap="none" lIns="0" tIns="0" rIns="0" bIns="0" rtlCol="0" anchor="t"/>
          <a:lstStyle/>
          <a:p>
            <a:pPr marL="0" indent="0" algn="l">
              <a:lnSpc>
                <a:spcPct val="104000"/>
              </a:lnSpc>
              <a:buNone/>
            </a:pPr>
            <a:r>
              <a:rPr lang="en-US" sz="2000" b="1" dirty="0">
                <a:solidFill>
                  <a:srgbClr val="000000"/>
                </a:solidFill>
                <a:latin typeface="Times New Roman" panose="02020603050405020304" pitchFamily="18" charset="0"/>
                <a:ea typeface="Montserrat Bold" pitchFamily="34" charset="-122"/>
                <a:cs typeface="Times New Roman" panose="02020603050405020304" pitchFamily="18" charset="0"/>
              </a:rPr>
              <a:t>The Problem with Traditional PG Management</a:t>
            </a:r>
            <a:endParaRPr lang="en-US" sz="2000" dirty="0">
              <a:latin typeface="Times New Roman" panose="02020603050405020304" pitchFamily="18" charset="0"/>
              <a:cs typeface="Times New Roman" panose="02020603050405020304" pitchFamily="18" charset="0"/>
            </a:endParaRPr>
          </a:p>
        </p:txBody>
      </p:sp>
      <p:sp>
        <p:nvSpPr>
          <p:cNvPr id="3" name="Text 1"/>
          <p:cNvSpPr/>
          <p:nvPr/>
        </p:nvSpPr>
        <p:spPr>
          <a:xfrm>
            <a:off x="539874" y="1294804"/>
            <a:ext cx="8064252" cy="496715"/>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Paying guest facilities still rely on manual, paper-based processes — creating friction for tenants, operators, and staff. There is no centralized, scalable digital platform to manage day-to-day operations.</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447526" y="2035150"/>
            <a:ext cx="4060403" cy="2773070"/>
          </a:xfrm>
          <a:prstGeom prst="roundRect">
            <a:avLst>
              <a:gd name="adj" fmla="val 1062"/>
            </a:avLst>
          </a:prstGeom>
          <a:solidFill>
            <a:srgbClr val="2D2E3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575742" y="2166748"/>
            <a:ext cx="1914376" cy="18685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400" b="1" dirty="0">
                <a:solidFill>
                  <a:srgbClr val="FFFFFF"/>
                </a:solidFill>
                <a:latin typeface="Times New Roman" panose="02020603050405020304" pitchFamily="18" charset="0"/>
                <a:ea typeface="Montserrat Bold" pitchFamily="34" charset="-122"/>
                <a:cs typeface="Times New Roman" panose="02020603050405020304" pitchFamily="18" charset="0"/>
              </a:rPr>
              <a:t> Before SmartPG</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539874" y="2410380"/>
            <a:ext cx="3803972" cy="2161620"/>
          </a:xfrm>
          <a:prstGeom prst="rect">
            <a:avLst/>
          </a:prstGeom>
          <a:noFill/>
          <a:ln/>
        </p:spPr>
        <p:txBody>
          <a:bodyPr wrap="square" lIns="0" tIns="0" rIns="0" bIns="0" rtlCol="0" anchor="t">
            <a:noAutofit/>
          </a:bodyPr>
          <a:lstStyle/>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Manual rent tracking with spreadsheets</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No structured complaint management</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Food/mess coordination via phone calls</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No centralized tenant communication</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Zero scalability or digital audit trail</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FFFFFF"/>
                </a:solidFill>
                <a:latin typeface="Times New Roman" panose="02020603050405020304" pitchFamily="18" charset="0"/>
                <a:ea typeface="Source Sans 3" pitchFamily="34" charset="-122"/>
                <a:cs typeface="Times New Roman" panose="02020603050405020304" pitchFamily="18" charset="0"/>
              </a:rPr>
              <a:t>No security monitoring or alerting</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756659" y="2166748"/>
            <a:ext cx="1914376" cy="18685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Montserrat Bold" pitchFamily="34" charset="-122"/>
                <a:cs typeface="Times New Roman" panose="02020603050405020304" pitchFamily="18" charset="0"/>
              </a:rPr>
              <a:t>✅ After SmartPG</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733181" y="2508200"/>
            <a:ext cx="3875708" cy="2063799"/>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Automated rent &amp; payment tracking</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Digital complaint ticketing system</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Real-time meal opt-in/opt-out portal</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Unified notification &amp; alert engine</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Cloud-native, horizontally scalable</a:t>
            </a:r>
            <a:endParaRPr lang="en-US" sz="1600" dirty="0">
              <a:latin typeface="Times New Roman" panose="02020603050405020304" pitchFamily="18" charset="0"/>
              <a:cs typeface="Times New Roman" panose="02020603050405020304" pitchFamily="18" charset="0"/>
            </a:endParaRPr>
          </a:p>
          <a:p>
            <a:pPr marL="342900" indent="-342900" algn="l">
              <a:lnSpc>
                <a:spcPct val="12200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WAF</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507356"/>
            <a:ext cx="3710508" cy="364331"/>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Times New Roman" panose="02020603050405020304" pitchFamily="18" charset="0"/>
                <a:ea typeface="Montserrat Bold" pitchFamily="34" charset="-122"/>
                <a:cs typeface="Times New Roman" panose="02020603050405020304" pitchFamily="18" charset="0"/>
              </a:rPr>
              <a:t>Introducing SmartPG</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39874" y="1025501"/>
            <a:ext cx="8064252" cy="374898"/>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SmartPG is a </a:t>
            </a:r>
            <a:r>
              <a:rPr lang="en-US" sz="1200" b="1" dirty="0">
                <a:solidFill>
                  <a:srgbClr val="3D3838"/>
                </a:solidFill>
                <a:latin typeface="Times New Roman" panose="02020603050405020304" pitchFamily="18" charset="0"/>
                <a:ea typeface="Source Sans 3" pitchFamily="34" charset="-122"/>
                <a:cs typeface="Times New Roman" panose="02020603050405020304" pitchFamily="18" charset="0"/>
              </a:rPr>
              <a:t>cloud-native, microservices-based SaaS platform</a:t>
            </a: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 that digitizes every aspect of paying guest management — from tenant onboarding to payment tracking, mess management, and real-time notifications. Built for production, deployed on Azure, and engineered to scale.</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539874" y="1759818"/>
            <a:ext cx="3971181" cy="1258238"/>
          </a:xfrm>
          <a:prstGeom prst="roundRect">
            <a:avLst>
              <a:gd name="adj" fmla="val 2158"/>
            </a:avLst>
          </a:prstGeom>
          <a:solidFill>
            <a:srgbClr val="F2EEEE"/>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5" name="Text 3"/>
          <p:cNvSpPr/>
          <p:nvPr/>
        </p:nvSpPr>
        <p:spPr>
          <a:xfrm>
            <a:off x="668089" y="1888034"/>
            <a:ext cx="1815182" cy="186854"/>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 Tenant Management</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668089" y="2147961"/>
            <a:ext cx="3714750" cy="631329"/>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End-to-end registration, room allocation, and profile management with secure authentication.</a:t>
            </a:r>
            <a:endParaRPr lang="en-US" sz="1200" dirty="0">
              <a:latin typeface="Times New Roman" panose="02020603050405020304" pitchFamily="18" charset="0"/>
              <a:cs typeface="Times New Roman" panose="02020603050405020304" pitchFamily="18" charset="0"/>
            </a:endParaRPr>
          </a:p>
        </p:txBody>
      </p:sp>
      <p:sp>
        <p:nvSpPr>
          <p:cNvPr id="7" name="Shape 5"/>
          <p:cNvSpPr/>
          <p:nvPr/>
        </p:nvSpPr>
        <p:spPr>
          <a:xfrm>
            <a:off x="4632871" y="1759818"/>
            <a:ext cx="3971255" cy="1258238"/>
          </a:xfrm>
          <a:prstGeom prst="roundRect">
            <a:avLst>
              <a:gd name="adj" fmla="val 2158"/>
            </a:avLst>
          </a:prstGeom>
          <a:solidFill>
            <a:srgbClr val="F2EEEE"/>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8" name="Text 6"/>
          <p:cNvSpPr/>
          <p:nvPr/>
        </p:nvSpPr>
        <p:spPr>
          <a:xfrm>
            <a:off x="4761086" y="1888034"/>
            <a:ext cx="1616720" cy="186854"/>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 Payment Tracking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761086" y="2147962"/>
            <a:ext cx="3714824" cy="631328"/>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Automated rent billing, payment history, and receipt generation with audit trails.</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539874" y="3146271"/>
            <a:ext cx="3971181" cy="1258238"/>
          </a:xfrm>
          <a:prstGeom prst="roundRect">
            <a:avLst>
              <a:gd name="adj" fmla="val 2158"/>
            </a:avLst>
          </a:prstGeom>
          <a:solidFill>
            <a:srgbClr val="F2EEEE"/>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11" name="Text 9"/>
          <p:cNvSpPr/>
          <p:nvPr/>
        </p:nvSpPr>
        <p:spPr>
          <a:xfrm>
            <a:off x="668089" y="3274487"/>
            <a:ext cx="1672456" cy="186854"/>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 Mess Management</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668089" y="3534415"/>
            <a:ext cx="3714750" cy="583584"/>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Real-time meal opt-in/opt-out, menu publishing, and food preference tracking.</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4632871" y="3146271"/>
            <a:ext cx="3971255" cy="1258238"/>
          </a:xfrm>
          <a:prstGeom prst="roundRect">
            <a:avLst>
              <a:gd name="adj" fmla="val 2158"/>
            </a:avLst>
          </a:prstGeom>
          <a:solidFill>
            <a:srgbClr val="F2EEEE"/>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14" name="Text 12"/>
          <p:cNvSpPr/>
          <p:nvPr/>
        </p:nvSpPr>
        <p:spPr>
          <a:xfrm>
            <a:off x="4679164" y="3283453"/>
            <a:ext cx="2041676" cy="250961"/>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 Notifications &amp; Alerts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4761086" y="3534415"/>
            <a:ext cx="3714824" cy="583584"/>
          </a:xfrm>
          <a:prstGeom prst="rect">
            <a:avLst/>
          </a:prstGeom>
          <a:noFill/>
          <a:ln/>
        </p:spPr>
        <p:txBody>
          <a:bodyPr wrap="square" lIns="0" tIns="0" rIns="0" bIns="0" rtlCol="0" anchor="t">
            <a:noAutofit/>
          </a:bodyPr>
          <a:lstStyle/>
          <a:p>
            <a:pPr marL="0" indent="0" algn="l">
              <a:lnSpc>
                <a:spcPct val="122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Automated alerts for dues, complaints, meal deadlines, and system events.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18112" y="207469"/>
            <a:ext cx="2094459" cy="414938"/>
          </a:xfrm>
          <a:prstGeom prst="rect">
            <a:avLst/>
          </a:prstGeom>
          <a:noFill/>
          <a:ln/>
        </p:spPr>
        <p:txBody>
          <a:bodyPr wrap="none" lIns="0" tIns="0" rIns="0" bIns="0" rtlCol="0" anchor="t"/>
          <a:lstStyle/>
          <a:p>
            <a:pPr marL="0" indent="0" algn="l">
              <a:lnSpc>
                <a:spcPct val="104000"/>
              </a:lnSpc>
              <a:buNone/>
            </a:pPr>
            <a:r>
              <a:rPr lang="en-US" sz="2800" b="1" dirty="0">
                <a:solidFill>
                  <a:srgbClr val="000000"/>
                </a:solidFill>
                <a:latin typeface="Times New Roman" panose="02020603050405020304" pitchFamily="18" charset="0"/>
                <a:ea typeface="Montserrat Bold" pitchFamily="34" charset="-122"/>
                <a:cs typeface="Times New Roman" panose="02020603050405020304" pitchFamily="18" charset="0"/>
              </a:rPr>
              <a:t>Architecture</a:t>
            </a:r>
            <a:r>
              <a:rPr lang="en-US" b="1" dirty="0">
                <a:solidFill>
                  <a:srgbClr val="000000"/>
                </a:solidFill>
                <a:latin typeface="Montserrat Bold" pitchFamily="34" charset="0"/>
                <a:ea typeface="Montserrat Bold" pitchFamily="34" charset="-122"/>
                <a:cs typeface="Montserrat Bold" pitchFamily="34" charset="-120"/>
              </a:rPr>
              <a:t> </a:t>
            </a:r>
            <a:endParaRPr lang="en-US" dirty="0"/>
          </a:p>
        </p:txBody>
      </p:sp>
      <p:pic>
        <p:nvPicPr>
          <p:cNvPr id="19" name="Picture 18">
            <a:extLst>
              <a:ext uri="{FF2B5EF4-FFF2-40B4-BE49-F238E27FC236}">
                <a16:creationId xmlns:a16="http://schemas.microsoft.com/office/drawing/2014/main" id="{2B0F01B8-8270-ED24-DD92-7D50F0976329}"/>
              </a:ext>
            </a:extLst>
          </p:cNvPr>
          <p:cNvPicPr>
            <a:picLocks noChangeAspect="1"/>
          </p:cNvPicPr>
          <p:nvPr/>
        </p:nvPicPr>
        <p:blipFill>
          <a:blip r:embed="rId3"/>
          <a:srcRect r="19931"/>
          <a:stretch>
            <a:fillRect/>
          </a:stretch>
        </p:blipFill>
        <p:spPr>
          <a:xfrm>
            <a:off x="518112" y="681531"/>
            <a:ext cx="8058622" cy="4254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295275" y="255463"/>
            <a:ext cx="2867918" cy="188714"/>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Times New Roman" panose="02020603050405020304" pitchFamily="18" charset="0"/>
                <a:ea typeface="Montserrat Bold" pitchFamily="34" charset="-122"/>
                <a:cs typeface="Times New Roman" panose="02020603050405020304" pitchFamily="18" charset="0"/>
              </a:rPr>
              <a:t>System Architecture Overview</a:t>
            </a:r>
            <a:endParaRPr lang="en-US" sz="24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637775" y="976387"/>
            <a:ext cx="7476564" cy="3657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69900" y="300261"/>
            <a:ext cx="3565550" cy="191691"/>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Times New Roman" panose="02020603050405020304" pitchFamily="18" charset="0"/>
                <a:ea typeface="Montserrat Bold" pitchFamily="34" charset="-122"/>
                <a:cs typeface="Times New Roman" panose="02020603050405020304" pitchFamily="18" charset="0"/>
              </a:rPr>
              <a:t>Virtual Network &amp; Subnet Architecture</a:t>
            </a:r>
            <a:endParaRPr lang="en-US"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618589" y="804075"/>
            <a:ext cx="65532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60375" y="122013"/>
            <a:ext cx="3869393" cy="375706"/>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Times New Roman" panose="02020603050405020304" pitchFamily="18" charset="0"/>
                <a:ea typeface="Montserrat Bold" pitchFamily="34" charset="-122"/>
                <a:cs typeface="Times New Roman" panose="02020603050405020304" pitchFamily="18" charset="0"/>
              </a:rPr>
              <a:t>Application Gateway &amp; WAF</a:t>
            </a:r>
            <a:endParaRPr lang="en-US"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474007" y="444322"/>
            <a:ext cx="7039856" cy="3130262"/>
          </a:xfrm>
          <a:prstGeom prst="rect">
            <a:avLst/>
          </a:prstGeom>
        </p:spPr>
      </p:pic>
      <p:sp>
        <p:nvSpPr>
          <p:cNvPr id="11" name="Text 7"/>
          <p:cNvSpPr/>
          <p:nvPr/>
        </p:nvSpPr>
        <p:spPr>
          <a:xfrm>
            <a:off x="368722" y="3755840"/>
            <a:ext cx="690265" cy="91083"/>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050" b="1" dirty="0">
                <a:solidFill>
                  <a:srgbClr val="3D3838"/>
                </a:solidFill>
                <a:latin typeface="Times New Roman" panose="02020603050405020304" pitchFamily="18" charset="0"/>
                <a:ea typeface="Montserrat Bold" pitchFamily="34" charset="-122"/>
                <a:cs typeface="Times New Roman" panose="02020603050405020304" pitchFamily="18" charset="0"/>
              </a:rPr>
              <a:t> WAF Protection</a:t>
            </a:r>
            <a:endParaRPr lang="en-US" sz="1050" dirty="0">
              <a:latin typeface="Times New Roman" panose="02020603050405020304" pitchFamily="18" charset="0"/>
              <a:cs typeface="Times New Roman" panose="02020603050405020304" pitchFamily="18" charset="0"/>
            </a:endParaRPr>
          </a:p>
        </p:txBody>
      </p:sp>
      <p:sp>
        <p:nvSpPr>
          <p:cNvPr id="12" name="Text 8"/>
          <p:cNvSpPr/>
          <p:nvPr/>
        </p:nvSpPr>
        <p:spPr>
          <a:xfrm>
            <a:off x="368722" y="3954377"/>
            <a:ext cx="4119339" cy="372694"/>
          </a:xfrm>
          <a:prstGeom prst="rect">
            <a:avLst/>
          </a:prstGeom>
          <a:noFill/>
          <a:ln/>
        </p:spPr>
        <p:txBody>
          <a:bodyPr wrap="none" lIns="0" tIns="0" rIns="0" bIns="0" rtlCol="0" anchor="t"/>
          <a:lstStyle/>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Defends against common web vulnerabilities like SQL injection and </a:t>
            </a:r>
          </a:p>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cross-site scripting.</a:t>
            </a:r>
            <a:endParaRPr lang="en-US" sz="1050" dirty="0">
              <a:latin typeface="Times New Roman" panose="02020603050405020304" pitchFamily="18" charset="0"/>
              <a:cs typeface="Times New Roman" panose="02020603050405020304" pitchFamily="18" charset="0"/>
            </a:endParaRPr>
          </a:p>
        </p:txBody>
      </p:sp>
      <p:sp>
        <p:nvSpPr>
          <p:cNvPr id="15" name="Text 11"/>
          <p:cNvSpPr/>
          <p:nvPr/>
        </p:nvSpPr>
        <p:spPr>
          <a:xfrm>
            <a:off x="4684440" y="3716389"/>
            <a:ext cx="851818" cy="221618"/>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050" b="1" dirty="0">
                <a:solidFill>
                  <a:srgbClr val="3D3838"/>
                </a:solidFill>
                <a:latin typeface="Times New Roman" panose="02020603050405020304" pitchFamily="18" charset="0"/>
                <a:ea typeface="Montserrat Bold" pitchFamily="34" charset="-122"/>
                <a:cs typeface="Times New Roman" panose="02020603050405020304" pitchFamily="18" charset="0"/>
              </a:rPr>
              <a:t> SSL/TLS Termination</a:t>
            </a:r>
            <a:endParaRPr lang="en-US" sz="1050" dirty="0">
              <a:latin typeface="Times New Roman" panose="02020603050405020304" pitchFamily="18" charset="0"/>
              <a:cs typeface="Times New Roman" panose="02020603050405020304" pitchFamily="18" charset="0"/>
            </a:endParaRPr>
          </a:p>
        </p:txBody>
      </p:sp>
      <p:sp>
        <p:nvSpPr>
          <p:cNvPr id="16" name="Text 12"/>
          <p:cNvSpPr/>
          <p:nvPr/>
        </p:nvSpPr>
        <p:spPr>
          <a:xfrm>
            <a:off x="4684440" y="3954377"/>
            <a:ext cx="4119414" cy="372694"/>
          </a:xfrm>
          <a:prstGeom prst="rect">
            <a:avLst/>
          </a:prstGeom>
          <a:noFill/>
          <a:ln/>
        </p:spPr>
        <p:txBody>
          <a:bodyPr wrap="none" lIns="0" tIns="0" rIns="0" bIns="0" rtlCol="0" anchor="t"/>
          <a:lstStyle/>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Encrypts traffic between clients and the gateway, offloading encryption</a:t>
            </a:r>
          </a:p>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n for backend services.</a:t>
            </a:r>
            <a:endParaRPr lang="en-US" sz="1050" dirty="0">
              <a:latin typeface="Times New Roman" panose="02020603050405020304" pitchFamily="18" charset="0"/>
              <a:cs typeface="Times New Roman" panose="02020603050405020304" pitchFamily="18" charset="0"/>
            </a:endParaRPr>
          </a:p>
        </p:txBody>
      </p:sp>
      <p:sp>
        <p:nvSpPr>
          <p:cNvPr id="19" name="Text 15"/>
          <p:cNvSpPr/>
          <p:nvPr/>
        </p:nvSpPr>
        <p:spPr>
          <a:xfrm>
            <a:off x="368722" y="4339827"/>
            <a:ext cx="834851" cy="91083"/>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050" b="1" dirty="0">
                <a:solidFill>
                  <a:srgbClr val="3D3838"/>
                </a:solidFill>
                <a:latin typeface="Times New Roman" panose="02020603050405020304" pitchFamily="18" charset="0"/>
                <a:ea typeface="Montserrat Bold" pitchFamily="34" charset="-122"/>
                <a:cs typeface="Times New Roman" panose="02020603050405020304" pitchFamily="18" charset="0"/>
              </a:rPr>
              <a:t> Path-Based Routing</a:t>
            </a:r>
            <a:endParaRPr lang="en-US" sz="1050" dirty="0">
              <a:latin typeface="Times New Roman" panose="02020603050405020304" pitchFamily="18" charset="0"/>
              <a:cs typeface="Times New Roman" panose="02020603050405020304" pitchFamily="18" charset="0"/>
            </a:endParaRPr>
          </a:p>
        </p:txBody>
      </p:sp>
      <p:sp>
        <p:nvSpPr>
          <p:cNvPr id="20" name="Text 16"/>
          <p:cNvSpPr/>
          <p:nvPr/>
        </p:nvSpPr>
        <p:spPr>
          <a:xfrm>
            <a:off x="368722" y="4565059"/>
            <a:ext cx="4119339" cy="354849"/>
          </a:xfrm>
          <a:prstGeom prst="rect">
            <a:avLst/>
          </a:prstGeom>
          <a:noFill/>
          <a:ln/>
        </p:spPr>
        <p:txBody>
          <a:bodyPr wrap="none" lIns="0" tIns="0" rIns="0" bIns="0" rtlCol="0" anchor="t"/>
          <a:lstStyle/>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Directs requests based on URL paths: </a:t>
            </a:r>
            <a:r>
              <a:rPr lang="en-US" sz="1050" dirty="0">
                <a:solidFill>
                  <a:srgbClr val="3D3838"/>
                </a:solidFill>
                <a:highlight>
                  <a:srgbClr val="F2F2F2"/>
                </a:highlight>
                <a:latin typeface="Times New Roman" panose="02020603050405020304" pitchFamily="18" charset="0"/>
                <a:ea typeface="Consolas" pitchFamily="34" charset="-122"/>
                <a:cs typeface="Times New Roman" panose="02020603050405020304" pitchFamily="18" charset="0"/>
              </a:rPr>
              <a:t>/</a:t>
            </a: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 and static assets to</a:t>
            </a:r>
          </a:p>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 </a:t>
            </a:r>
            <a:r>
              <a:rPr lang="en-US" sz="1050" b="1" dirty="0">
                <a:solidFill>
                  <a:srgbClr val="3D3838"/>
                </a:solidFill>
                <a:latin typeface="Times New Roman" panose="02020603050405020304" pitchFamily="18" charset="0"/>
                <a:ea typeface="Source Sans 3" pitchFamily="34" charset="-122"/>
                <a:cs typeface="Times New Roman" panose="02020603050405020304" pitchFamily="18" charset="0"/>
              </a:rPr>
              <a:t>Frontend (React)</a:t>
            </a: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 </a:t>
            </a:r>
            <a:r>
              <a:rPr lang="en-US" sz="1050" dirty="0">
                <a:solidFill>
                  <a:srgbClr val="3D3838"/>
                </a:solidFill>
                <a:highlight>
                  <a:srgbClr val="F2F2F2"/>
                </a:highlight>
                <a:latin typeface="Times New Roman" panose="02020603050405020304" pitchFamily="18" charset="0"/>
                <a:ea typeface="Consolas" pitchFamily="34" charset="-122"/>
                <a:cs typeface="Times New Roman" panose="02020603050405020304" pitchFamily="18" charset="0"/>
              </a:rPr>
              <a:t>/api/*</a:t>
            </a: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 to </a:t>
            </a:r>
            <a:r>
              <a:rPr lang="en-US" sz="1050" b="1" dirty="0">
                <a:solidFill>
                  <a:srgbClr val="3D3838"/>
                </a:solidFill>
                <a:latin typeface="Times New Roman" panose="02020603050405020304" pitchFamily="18" charset="0"/>
                <a:ea typeface="Source Sans 3" pitchFamily="34" charset="-122"/>
                <a:cs typeface="Times New Roman" panose="02020603050405020304" pitchFamily="18" charset="0"/>
              </a:rPr>
              <a:t>Backend (Node.js)</a:t>
            </a: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a:t>
            </a:r>
            <a:endParaRPr lang="en-US" sz="1050" dirty="0">
              <a:latin typeface="Times New Roman" panose="02020603050405020304" pitchFamily="18" charset="0"/>
              <a:cs typeface="Times New Roman" panose="02020603050405020304" pitchFamily="18" charset="0"/>
            </a:endParaRPr>
          </a:p>
        </p:txBody>
      </p:sp>
      <p:sp>
        <p:nvSpPr>
          <p:cNvPr id="23" name="Text 19"/>
          <p:cNvSpPr/>
          <p:nvPr/>
        </p:nvSpPr>
        <p:spPr>
          <a:xfrm>
            <a:off x="4684440" y="4343442"/>
            <a:ext cx="690265" cy="205248"/>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Times New Roman" panose="02020603050405020304" pitchFamily="18" charset="0"/>
                <a:ea typeface="Montserrat Bold" pitchFamily="34" charset="-122"/>
                <a:cs typeface="Times New Roman" panose="02020603050405020304" pitchFamily="18" charset="0"/>
              </a:rPr>
              <a:t>⚖️</a:t>
            </a:r>
            <a:r>
              <a:rPr lang="en-US" sz="1050" b="1" dirty="0">
                <a:solidFill>
                  <a:srgbClr val="3D3838"/>
                </a:solidFill>
                <a:latin typeface="Times New Roman" panose="02020603050405020304" pitchFamily="18" charset="0"/>
                <a:ea typeface="Montserrat Bold" pitchFamily="34" charset="-122"/>
                <a:cs typeface="Times New Roman" panose="02020603050405020304" pitchFamily="18" charset="0"/>
              </a:rPr>
              <a:t> Load Balancing</a:t>
            </a:r>
            <a:endParaRPr lang="en-US" sz="1050" dirty="0">
              <a:latin typeface="Times New Roman" panose="02020603050405020304" pitchFamily="18" charset="0"/>
              <a:cs typeface="Times New Roman" panose="02020603050405020304" pitchFamily="18" charset="0"/>
            </a:endParaRPr>
          </a:p>
        </p:txBody>
      </p:sp>
      <p:sp>
        <p:nvSpPr>
          <p:cNvPr id="24" name="Text 20"/>
          <p:cNvSpPr/>
          <p:nvPr/>
        </p:nvSpPr>
        <p:spPr>
          <a:xfrm>
            <a:off x="4684440" y="4565060"/>
            <a:ext cx="4119414" cy="354848"/>
          </a:xfrm>
          <a:prstGeom prst="rect">
            <a:avLst/>
          </a:prstGeom>
          <a:noFill/>
          <a:ln/>
        </p:spPr>
        <p:txBody>
          <a:bodyPr wrap="none" lIns="0" tIns="0" rIns="0" bIns="0" rtlCol="0" anchor="t"/>
          <a:lstStyle/>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Distributes incoming traffic across multiple instances of backend services for</a:t>
            </a:r>
          </a:p>
          <a:p>
            <a:pPr marL="0" indent="0" algn="l">
              <a:lnSpc>
                <a:spcPct val="91000"/>
              </a:lnSpc>
              <a:buNone/>
            </a:pPr>
            <a:r>
              <a:rPr lang="en-US" sz="1050" dirty="0">
                <a:solidFill>
                  <a:srgbClr val="3D3838"/>
                </a:solidFill>
                <a:latin typeface="Times New Roman" panose="02020603050405020304" pitchFamily="18" charset="0"/>
                <a:ea typeface="Source Sans 3" pitchFamily="34" charset="-122"/>
                <a:cs typeface="Times New Roman" panose="02020603050405020304" pitchFamily="18" charset="0"/>
              </a:rPr>
              <a:t> high availability and performance.</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490835"/>
            <a:ext cx="3426916" cy="287610"/>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Montserrat Bold" pitchFamily="34" charset="0"/>
                <a:ea typeface="Montserrat Bold" pitchFamily="34" charset="-122"/>
                <a:cs typeface="Montserrat Bold" pitchFamily="34" charset="-120"/>
              </a:rPr>
              <a:t>Key Features at a Glance</a:t>
            </a:r>
            <a:endParaRPr lang="en-US" sz="24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148432"/>
            <a:ext cx="202406" cy="202406"/>
          </a:xfrm>
          <a:prstGeom prst="rect">
            <a:avLst/>
          </a:prstGeom>
        </p:spPr>
      </p:pic>
      <p:sp>
        <p:nvSpPr>
          <p:cNvPr id="5" name="Text 2"/>
          <p:cNvSpPr/>
          <p:nvPr/>
        </p:nvSpPr>
        <p:spPr>
          <a:xfrm>
            <a:off x="539874" y="1445716"/>
            <a:ext cx="1632347"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Tenant Registration &amp; Auth</a:t>
            </a:r>
            <a:endParaRPr lang="en-US" sz="1050" dirty="0"/>
          </a:p>
        </p:txBody>
      </p:sp>
      <p:sp>
        <p:nvSpPr>
          <p:cNvPr id="6" name="Text 3"/>
          <p:cNvSpPr/>
          <p:nvPr/>
        </p:nvSpPr>
        <p:spPr>
          <a:xfrm>
            <a:off x="539874" y="1635026"/>
            <a:ext cx="3984650"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Secure onboarding with JWT-based authentication and role-based access control.</a:t>
            </a:r>
            <a:endParaRPr lang="en-US" sz="9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402" y="1148432"/>
            <a:ext cx="202406" cy="202406"/>
          </a:xfrm>
          <a:prstGeom prst="rect">
            <a:avLst/>
          </a:prstGeom>
        </p:spPr>
      </p:pic>
      <p:sp>
        <p:nvSpPr>
          <p:cNvPr id="8" name="Text 4"/>
          <p:cNvSpPr/>
          <p:nvPr/>
        </p:nvSpPr>
        <p:spPr>
          <a:xfrm>
            <a:off x="4619402" y="1445716"/>
            <a:ext cx="1150441"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Room Allocation</a:t>
            </a:r>
            <a:endParaRPr lang="en-US" sz="1050" dirty="0"/>
          </a:p>
        </p:txBody>
      </p:sp>
      <p:sp>
        <p:nvSpPr>
          <p:cNvPr id="9" name="Text 5"/>
          <p:cNvSpPr/>
          <p:nvPr/>
        </p:nvSpPr>
        <p:spPr>
          <a:xfrm>
            <a:off x="4619402" y="1635026"/>
            <a:ext cx="3984724"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Real-time room availability, assignment, and transfer management.</a:t>
            </a:r>
            <a:endParaRPr lang="en-US" sz="9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4" y="1919660"/>
            <a:ext cx="202406" cy="202406"/>
          </a:xfrm>
          <a:prstGeom prst="rect">
            <a:avLst/>
          </a:prstGeom>
        </p:spPr>
      </p:pic>
      <p:sp>
        <p:nvSpPr>
          <p:cNvPr id="11" name="Text 6"/>
          <p:cNvSpPr/>
          <p:nvPr/>
        </p:nvSpPr>
        <p:spPr>
          <a:xfrm>
            <a:off x="539874" y="2216944"/>
            <a:ext cx="1535906"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Rent &amp; Payment Tracking</a:t>
            </a:r>
            <a:endParaRPr lang="en-US" sz="1050" dirty="0"/>
          </a:p>
        </p:txBody>
      </p:sp>
      <p:sp>
        <p:nvSpPr>
          <p:cNvPr id="12" name="Text 7"/>
          <p:cNvSpPr/>
          <p:nvPr/>
        </p:nvSpPr>
        <p:spPr>
          <a:xfrm>
            <a:off x="539874" y="2406253"/>
            <a:ext cx="3984650"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Automated billing cycles, payment status, and digital receipts.</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19402" y="1919660"/>
            <a:ext cx="202406" cy="202406"/>
          </a:xfrm>
          <a:prstGeom prst="rect">
            <a:avLst/>
          </a:prstGeom>
        </p:spPr>
      </p:pic>
      <p:sp>
        <p:nvSpPr>
          <p:cNvPr id="14" name="Text 8"/>
          <p:cNvSpPr/>
          <p:nvPr/>
        </p:nvSpPr>
        <p:spPr>
          <a:xfrm>
            <a:off x="4619402" y="2216944"/>
            <a:ext cx="1287587"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Meal Opt-in / Opt-out</a:t>
            </a:r>
            <a:endParaRPr lang="en-US" sz="1050" dirty="0"/>
          </a:p>
        </p:txBody>
      </p:sp>
      <p:sp>
        <p:nvSpPr>
          <p:cNvPr id="15" name="Text 9"/>
          <p:cNvSpPr/>
          <p:nvPr/>
        </p:nvSpPr>
        <p:spPr>
          <a:xfrm>
            <a:off x="4619402" y="2406253"/>
            <a:ext cx="3984724"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Flexible daily meal preferences with deadline-based cutoff logic.</a:t>
            </a:r>
            <a:endParaRPr lang="en-US" sz="9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9874" y="2690887"/>
            <a:ext cx="202406" cy="202406"/>
          </a:xfrm>
          <a:prstGeom prst="rect">
            <a:avLst/>
          </a:prstGeom>
        </p:spPr>
      </p:pic>
      <p:sp>
        <p:nvSpPr>
          <p:cNvPr id="17" name="Text 10"/>
          <p:cNvSpPr/>
          <p:nvPr/>
        </p:nvSpPr>
        <p:spPr>
          <a:xfrm>
            <a:off x="539874" y="2988171"/>
            <a:ext cx="1182365"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Complaint Tracking</a:t>
            </a:r>
            <a:endParaRPr lang="en-US" sz="1050" dirty="0"/>
          </a:p>
        </p:txBody>
      </p:sp>
      <p:sp>
        <p:nvSpPr>
          <p:cNvPr id="18" name="Text 11"/>
          <p:cNvSpPr/>
          <p:nvPr/>
        </p:nvSpPr>
        <p:spPr>
          <a:xfrm>
            <a:off x="539874" y="3177480"/>
            <a:ext cx="3984650"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Ticket-based system with status updates and resolution workflows.</a:t>
            </a:r>
            <a:endParaRPr lang="en-US" sz="9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19402" y="2690887"/>
            <a:ext cx="202406" cy="202406"/>
          </a:xfrm>
          <a:prstGeom prst="rect">
            <a:avLst/>
          </a:prstGeom>
        </p:spPr>
      </p:pic>
      <p:sp>
        <p:nvSpPr>
          <p:cNvPr id="20" name="Text 12"/>
          <p:cNvSpPr/>
          <p:nvPr/>
        </p:nvSpPr>
        <p:spPr>
          <a:xfrm>
            <a:off x="4619402" y="2988171"/>
            <a:ext cx="1278062"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Notifications &amp; Alerts</a:t>
            </a:r>
            <a:endParaRPr lang="en-US" sz="1050" dirty="0"/>
          </a:p>
        </p:txBody>
      </p:sp>
      <p:sp>
        <p:nvSpPr>
          <p:cNvPr id="21" name="Text 13"/>
          <p:cNvSpPr/>
          <p:nvPr/>
        </p:nvSpPr>
        <p:spPr>
          <a:xfrm>
            <a:off x="4619402" y="3177480"/>
            <a:ext cx="3984724"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Push and in-app notifications for dues, updates, and deadlines.</a:t>
            </a:r>
            <a:endParaRPr lang="en-US" sz="9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9874" y="3462114"/>
            <a:ext cx="202406" cy="202406"/>
          </a:xfrm>
          <a:prstGeom prst="rect">
            <a:avLst/>
          </a:prstGeom>
        </p:spPr>
      </p:pic>
      <p:sp>
        <p:nvSpPr>
          <p:cNvPr id="23" name="Text 14"/>
          <p:cNvSpPr/>
          <p:nvPr/>
        </p:nvSpPr>
        <p:spPr>
          <a:xfrm>
            <a:off x="539874" y="3759398"/>
            <a:ext cx="1282601"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Secure Infrastructure</a:t>
            </a:r>
            <a:endParaRPr lang="en-US" sz="1050" dirty="0"/>
          </a:p>
        </p:txBody>
      </p:sp>
      <p:sp>
        <p:nvSpPr>
          <p:cNvPr id="24" name="Text 15"/>
          <p:cNvSpPr/>
          <p:nvPr/>
        </p:nvSpPr>
        <p:spPr>
          <a:xfrm>
            <a:off x="539874" y="3948708"/>
            <a:ext cx="3984650"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WAF v2,and private endpoints.</a:t>
            </a:r>
            <a:endParaRPr lang="en-US" sz="900" dirty="0"/>
          </a:p>
        </p:txBody>
      </p:sp>
      <p:pic>
        <p:nvPicPr>
          <p:cNvPr id="2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19402" y="3462114"/>
            <a:ext cx="202406" cy="202406"/>
          </a:xfrm>
          <a:prstGeom prst="rect">
            <a:avLst/>
          </a:prstGeom>
        </p:spPr>
      </p:pic>
      <p:sp>
        <p:nvSpPr>
          <p:cNvPr id="26" name="Text 16"/>
          <p:cNvSpPr/>
          <p:nvPr/>
        </p:nvSpPr>
        <p:spPr>
          <a:xfrm>
            <a:off x="4619402" y="3759398"/>
            <a:ext cx="1587550" cy="143768"/>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Autoscaling Infrastructure</a:t>
            </a:r>
            <a:endParaRPr lang="en-US" sz="1050" dirty="0"/>
          </a:p>
        </p:txBody>
      </p:sp>
      <p:sp>
        <p:nvSpPr>
          <p:cNvPr id="27" name="Text 17"/>
          <p:cNvSpPr/>
          <p:nvPr/>
        </p:nvSpPr>
        <p:spPr>
          <a:xfrm>
            <a:off x="4619402" y="3948708"/>
            <a:ext cx="3984724" cy="132829"/>
          </a:xfrm>
          <a:prstGeom prst="rect">
            <a:avLst/>
          </a:prstGeom>
          <a:noFill/>
          <a:ln/>
        </p:spPr>
        <p:txBody>
          <a:bodyPr wrap="none" lIns="0" tIns="0" rIns="0" bIns="0" rtlCol="0" anchor="t"/>
          <a:lstStyle/>
          <a:p>
            <a:pPr marL="0" indent="0" algn="l">
              <a:lnSpc>
                <a:spcPct val="109000"/>
              </a:lnSpc>
              <a:buNone/>
            </a:pPr>
            <a:r>
              <a:rPr lang="en-US" sz="900" dirty="0">
                <a:solidFill>
                  <a:srgbClr val="3D3838"/>
                </a:solidFill>
                <a:latin typeface="Source Sans 3" pitchFamily="34" charset="0"/>
                <a:ea typeface="Source Sans 3" pitchFamily="34" charset="-122"/>
                <a:cs typeface="Source Sans 3" pitchFamily="34" charset="-120"/>
              </a:rPr>
              <a:t>automatically scales services under load.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39874" y="437108"/>
            <a:ext cx="884337" cy="211262"/>
          </a:xfrm>
          <a:prstGeom prst="roundRect">
            <a:avLst>
              <a:gd name="adj" fmla="val 6901"/>
            </a:avLst>
          </a:prstGeom>
          <a:solidFill>
            <a:srgbClr val="E4E4E7"/>
          </a:solidFill>
          <a:ln/>
        </p:spPr>
        <p:txBody>
          <a:bodyPr/>
          <a:lstStyle/>
          <a:p>
            <a:endParaRPr lang="en-IN"/>
          </a:p>
        </p:txBody>
      </p:sp>
      <p:sp>
        <p:nvSpPr>
          <p:cNvPr id="3" name="Text 1"/>
          <p:cNvSpPr/>
          <p:nvPr/>
        </p:nvSpPr>
        <p:spPr>
          <a:xfrm>
            <a:off x="612725" y="473497"/>
            <a:ext cx="1195834" cy="138485"/>
          </a:xfrm>
          <a:prstGeom prst="rect">
            <a:avLst/>
          </a:prstGeom>
          <a:noFill/>
          <a:ln/>
        </p:spPr>
        <p:txBody>
          <a:bodyPr wrap="none" lIns="0" tIns="0" rIns="0" bIns="0" rtlCol="0" anchor="t"/>
          <a:lstStyle/>
          <a:p>
            <a:pPr marL="0" indent="0" algn="l">
              <a:lnSpc>
                <a:spcPct val="119000"/>
              </a:lnSpc>
              <a:buNone/>
            </a:pPr>
            <a:r>
              <a:rPr lang="en-US" sz="750" dirty="0">
                <a:solidFill>
                  <a:srgbClr val="3D3838"/>
                </a:solidFill>
                <a:latin typeface="Source Sans 3" pitchFamily="34" charset="0"/>
                <a:ea typeface="Source Sans 3" pitchFamily="34" charset="-122"/>
                <a:cs typeface="Source Sans 3" pitchFamily="34" charset="-120"/>
              </a:rPr>
              <a:t>INFRASTRUCTURE</a:t>
            </a:r>
            <a:endParaRPr lang="en-US" sz="750" dirty="0"/>
          </a:p>
        </p:txBody>
      </p:sp>
      <p:sp>
        <p:nvSpPr>
          <p:cNvPr id="4" name="Text 2"/>
          <p:cNvSpPr/>
          <p:nvPr/>
        </p:nvSpPr>
        <p:spPr>
          <a:xfrm>
            <a:off x="539874" y="692051"/>
            <a:ext cx="6945064" cy="345058"/>
          </a:xfrm>
          <a:prstGeom prst="rect">
            <a:avLst/>
          </a:prstGeom>
          <a:noFill/>
          <a:ln/>
        </p:spPr>
        <p:txBody>
          <a:bodyPr wrap="none" lIns="0" tIns="0" rIns="0" bIns="0" rtlCol="0" anchor="t"/>
          <a:lstStyle/>
          <a:p>
            <a:pPr marL="0" indent="0" algn="l">
              <a:lnSpc>
                <a:spcPct val="104000"/>
              </a:lnSpc>
              <a:buNone/>
            </a:pPr>
            <a:r>
              <a:rPr lang="en-US" sz="2150" b="1" dirty="0">
                <a:solidFill>
                  <a:srgbClr val="000000"/>
                </a:solidFill>
                <a:latin typeface="Montserrat Bold" pitchFamily="34" charset="0"/>
                <a:ea typeface="Montserrat Bold" pitchFamily="34" charset="-122"/>
                <a:cs typeface="Montserrat Bold" pitchFamily="34" charset="-120"/>
              </a:rPr>
              <a:t>Frontend VM Scale Set: Powering Scalable UI</a:t>
            </a:r>
            <a:endParaRPr lang="en-US" sz="2150" dirty="0"/>
          </a:p>
        </p:txBody>
      </p:sp>
      <p:sp>
        <p:nvSpPr>
          <p:cNvPr id="5" name="Text 3"/>
          <p:cNvSpPr/>
          <p:nvPr/>
        </p:nvSpPr>
        <p:spPr>
          <a:xfrm>
            <a:off x="539874" y="1201043"/>
            <a:ext cx="8064252" cy="346323"/>
          </a:xfrm>
          <a:prstGeom prst="rect">
            <a:avLst/>
          </a:prstGeom>
          <a:noFill/>
          <a:ln/>
        </p:spPr>
        <p:txBody>
          <a:bodyPr wrap="square" lIns="0" tIns="0" rIns="0" bIns="0" rtlCol="0" anchor="t">
            <a:normAutofit/>
          </a:bodyPr>
          <a:lstStyle/>
          <a:p>
            <a:pPr marL="0" indent="0" algn="l">
              <a:lnSpc>
                <a:spcPct val="119000"/>
              </a:lnSpc>
              <a:buNone/>
            </a:pPr>
            <a:r>
              <a:rPr lang="en-US" sz="950" dirty="0">
                <a:solidFill>
                  <a:srgbClr val="3D3838"/>
                </a:solidFill>
                <a:latin typeface="Source Sans 3" pitchFamily="34" charset="0"/>
                <a:ea typeface="Source Sans 3" pitchFamily="34" charset="-122"/>
                <a:cs typeface="Source Sans 3" pitchFamily="34" charset="-120"/>
              </a:rPr>
              <a:t>SmartPG's frontend leverages Azure Virtual Machine Scale Sets (VMSS) to ensure high availability, automatic scaling, and resilient hosting for our React Single Page Application (SPA).</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670298"/>
            <a:ext cx="303684" cy="303684"/>
          </a:xfrm>
          <a:prstGeom prst="rect">
            <a:avLst/>
          </a:prstGeom>
        </p:spPr>
      </p:pic>
      <p:sp>
        <p:nvSpPr>
          <p:cNvPr id="7" name="Text 4"/>
          <p:cNvSpPr/>
          <p:nvPr/>
        </p:nvSpPr>
        <p:spPr>
          <a:xfrm>
            <a:off x="539874" y="2110606"/>
            <a:ext cx="1380530" cy="172492"/>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High Availability</a:t>
            </a:r>
            <a:endParaRPr lang="en-US" sz="1050" dirty="0"/>
          </a:p>
        </p:txBody>
      </p:sp>
      <p:sp>
        <p:nvSpPr>
          <p:cNvPr id="8" name="Text 5"/>
          <p:cNvSpPr/>
          <p:nvPr/>
        </p:nvSpPr>
        <p:spPr>
          <a:xfrm>
            <a:off x="539874" y="2348657"/>
            <a:ext cx="3963814" cy="346323"/>
          </a:xfrm>
          <a:prstGeom prst="rect">
            <a:avLst/>
          </a:prstGeom>
          <a:noFill/>
          <a:ln/>
        </p:spPr>
        <p:txBody>
          <a:bodyPr wrap="square" lIns="0" tIns="0" rIns="0" bIns="0" rtlCol="0" anchor="t">
            <a:normAutofit/>
          </a:bodyPr>
          <a:lstStyle/>
          <a:p>
            <a:pPr marL="0" indent="0" algn="l">
              <a:lnSpc>
                <a:spcPct val="119000"/>
              </a:lnSpc>
              <a:buNone/>
            </a:pPr>
            <a:r>
              <a:rPr lang="en-US" sz="950" dirty="0">
                <a:solidFill>
                  <a:srgbClr val="3D3838"/>
                </a:solidFill>
                <a:latin typeface="Source Sans 3" pitchFamily="34" charset="0"/>
                <a:ea typeface="Source Sans 3" pitchFamily="34" charset="-122"/>
                <a:cs typeface="Source Sans 3" pitchFamily="34" charset="-120"/>
              </a:rPr>
              <a:t>Distributes instances across Azure Availability Zones for fault tolerance and continuous service.</a:t>
            </a:r>
            <a:endParaRPr lang="en-US" sz="9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0312" y="1670298"/>
            <a:ext cx="303684" cy="303684"/>
          </a:xfrm>
          <a:prstGeom prst="rect">
            <a:avLst/>
          </a:prstGeom>
        </p:spPr>
      </p:pic>
      <p:sp>
        <p:nvSpPr>
          <p:cNvPr id="10" name="Text 6"/>
          <p:cNvSpPr/>
          <p:nvPr/>
        </p:nvSpPr>
        <p:spPr>
          <a:xfrm>
            <a:off x="4640312" y="2110606"/>
            <a:ext cx="1380530" cy="172492"/>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Auto-scaling</a:t>
            </a:r>
            <a:endParaRPr lang="en-US" sz="1050" dirty="0"/>
          </a:p>
        </p:txBody>
      </p:sp>
      <p:sp>
        <p:nvSpPr>
          <p:cNvPr id="11" name="Text 7"/>
          <p:cNvSpPr/>
          <p:nvPr/>
        </p:nvSpPr>
        <p:spPr>
          <a:xfrm>
            <a:off x="4640312" y="2348657"/>
            <a:ext cx="3963814" cy="346323"/>
          </a:xfrm>
          <a:prstGeom prst="rect">
            <a:avLst/>
          </a:prstGeom>
          <a:noFill/>
          <a:ln/>
        </p:spPr>
        <p:txBody>
          <a:bodyPr wrap="square" lIns="0" tIns="0" rIns="0" bIns="0" rtlCol="0" anchor="t">
            <a:normAutofit/>
          </a:bodyPr>
          <a:lstStyle/>
          <a:p>
            <a:pPr marL="0" indent="0" algn="l">
              <a:lnSpc>
                <a:spcPct val="119000"/>
              </a:lnSpc>
              <a:buNone/>
            </a:pPr>
            <a:r>
              <a:rPr lang="en-US" sz="950" dirty="0">
                <a:solidFill>
                  <a:srgbClr val="3D3838"/>
                </a:solidFill>
                <a:latin typeface="Source Sans 3" pitchFamily="34" charset="0"/>
                <a:ea typeface="Source Sans 3" pitchFamily="34" charset="-122"/>
                <a:cs typeface="Source Sans 3" pitchFamily="34" charset="-120"/>
              </a:rPr>
              <a:t>Automatically adjusts instance count based on real-time CPU and memory metrics to handle traffic spikes.</a:t>
            </a:r>
            <a:endParaRPr lang="en-US" sz="9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4" y="2913608"/>
            <a:ext cx="303684" cy="303684"/>
          </a:xfrm>
          <a:prstGeom prst="rect">
            <a:avLst/>
          </a:prstGeom>
        </p:spPr>
      </p:pic>
      <p:sp>
        <p:nvSpPr>
          <p:cNvPr id="13" name="Text 8"/>
          <p:cNvSpPr/>
          <p:nvPr/>
        </p:nvSpPr>
        <p:spPr>
          <a:xfrm>
            <a:off x="539874" y="3353916"/>
            <a:ext cx="1677516" cy="172492"/>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React SPA Deployment</a:t>
            </a:r>
            <a:endParaRPr lang="en-US" sz="1050" dirty="0"/>
          </a:p>
        </p:txBody>
      </p:sp>
      <p:sp>
        <p:nvSpPr>
          <p:cNvPr id="14" name="Text 9"/>
          <p:cNvSpPr/>
          <p:nvPr/>
        </p:nvSpPr>
        <p:spPr>
          <a:xfrm>
            <a:off x="539874" y="3591967"/>
            <a:ext cx="3963814" cy="346323"/>
          </a:xfrm>
          <a:prstGeom prst="rect">
            <a:avLst/>
          </a:prstGeom>
          <a:noFill/>
          <a:ln/>
        </p:spPr>
        <p:txBody>
          <a:bodyPr wrap="square" lIns="0" tIns="0" rIns="0" bIns="0" rtlCol="0" anchor="t">
            <a:normAutofit/>
          </a:bodyPr>
          <a:lstStyle/>
          <a:p>
            <a:pPr marL="0" indent="0" algn="l">
              <a:lnSpc>
                <a:spcPct val="119000"/>
              </a:lnSpc>
              <a:buNone/>
            </a:pPr>
            <a:r>
              <a:rPr lang="en-US" sz="950" dirty="0">
                <a:solidFill>
                  <a:srgbClr val="3D3838"/>
                </a:solidFill>
                <a:latin typeface="Source Sans 3" pitchFamily="34" charset="0"/>
                <a:ea typeface="Source Sans 3" pitchFamily="34" charset="-122"/>
                <a:cs typeface="Source Sans 3" pitchFamily="34" charset="-120"/>
              </a:rPr>
              <a:t>Hosts our modern, responsive React frontend, delivering a seamless user experience.</a:t>
            </a:r>
            <a:endParaRPr lang="en-US" sz="9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0312" y="2913608"/>
            <a:ext cx="303684" cy="303684"/>
          </a:xfrm>
          <a:prstGeom prst="rect">
            <a:avLst/>
          </a:prstGeom>
        </p:spPr>
      </p:pic>
      <p:sp>
        <p:nvSpPr>
          <p:cNvPr id="16" name="Text 10"/>
          <p:cNvSpPr/>
          <p:nvPr/>
        </p:nvSpPr>
        <p:spPr>
          <a:xfrm>
            <a:off x="4640312" y="3353916"/>
            <a:ext cx="1486570" cy="172492"/>
          </a:xfrm>
          <a:prstGeom prst="rect">
            <a:avLst/>
          </a:prstGeom>
          <a:noFill/>
          <a:ln/>
        </p:spPr>
        <p:txBody>
          <a:bodyPr wrap="none" lIns="0" tIns="0" rIns="0" bIns="0" rtlCol="0" anchor="t"/>
          <a:lstStyle/>
          <a:p>
            <a:pPr marL="0" indent="0" algn="l">
              <a:lnSpc>
                <a:spcPct val="104000"/>
              </a:lnSpc>
              <a:buNone/>
            </a:pPr>
            <a:r>
              <a:rPr lang="en-US" sz="1050" b="1" dirty="0">
                <a:solidFill>
                  <a:srgbClr val="3D3838"/>
                </a:solidFill>
                <a:latin typeface="Montserrat Bold" pitchFamily="34" charset="0"/>
                <a:ea typeface="Montserrat Bold" pitchFamily="34" charset="-122"/>
                <a:cs typeface="Montserrat Bold" pitchFamily="34" charset="-120"/>
              </a:rPr>
              <a:t>Nginx Reverse Proxy</a:t>
            </a:r>
            <a:endParaRPr lang="en-US" sz="1050" dirty="0"/>
          </a:p>
        </p:txBody>
      </p:sp>
      <p:sp>
        <p:nvSpPr>
          <p:cNvPr id="17" name="Text 11"/>
          <p:cNvSpPr/>
          <p:nvPr/>
        </p:nvSpPr>
        <p:spPr>
          <a:xfrm>
            <a:off x="4640312" y="3591967"/>
            <a:ext cx="3963814" cy="346323"/>
          </a:xfrm>
          <a:prstGeom prst="rect">
            <a:avLst/>
          </a:prstGeom>
          <a:noFill/>
          <a:ln/>
        </p:spPr>
        <p:txBody>
          <a:bodyPr wrap="square" lIns="0" tIns="0" rIns="0" bIns="0" rtlCol="0" anchor="t">
            <a:normAutofit/>
          </a:bodyPr>
          <a:lstStyle/>
          <a:p>
            <a:pPr marL="0" indent="0" algn="l">
              <a:lnSpc>
                <a:spcPct val="119000"/>
              </a:lnSpc>
              <a:buNone/>
            </a:pPr>
            <a:r>
              <a:rPr lang="en-US" sz="950" dirty="0">
                <a:solidFill>
                  <a:srgbClr val="3D3838"/>
                </a:solidFill>
                <a:latin typeface="Source Sans 3" pitchFamily="34" charset="0"/>
                <a:ea typeface="Source Sans 3" pitchFamily="34" charset="-122"/>
                <a:cs typeface="Source Sans 3" pitchFamily="34" charset="-120"/>
              </a:rPr>
              <a:t>Serves static files, manages SSL termination, and acts as a robust reverse proxy for efficient content delivery.</a:t>
            </a:r>
            <a:endParaRPr lang="en-US" sz="950" dirty="0"/>
          </a:p>
        </p:txBody>
      </p:sp>
      <p:sp>
        <p:nvSpPr>
          <p:cNvPr id="18" name="Shape 12"/>
          <p:cNvSpPr/>
          <p:nvPr/>
        </p:nvSpPr>
        <p:spPr>
          <a:xfrm>
            <a:off x="539874" y="4061222"/>
            <a:ext cx="8064252" cy="645096"/>
          </a:xfrm>
          <a:prstGeom prst="roundRect">
            <a:avLst>
              <a:gd name="adj" fmla="val 2825"/>
            </a:avLst>
          </a:prstGeom>
          <a:solidFill>
            <a:srgbClr val="D6D7DC"/>
          </a:solidFill>
          <a:ln/>
        </p:spPr>
        <p:txBody>
          <a:bodyPr/>
          <a:lstStyle/>
          <a:p>
            <a:endParaRPr lang="en-IN"/>
          </a:p>
        </p:txBody>
      </p:sp>
      <p:pic>
        <p:nvPicPr>
          <p:cNvPr id="19" name="Image 4" descr="preencoded.png"/>
          <p:cNvPicPr>
            <a:picLocks noChangeAspect="1"/>
          </p:cNvPicPr>
          <p:nvPr/>
        </p:nvPicPr>
        <p:blipFill>
          <a:blip r:embed="rId7"/>
          <a:stretch>
            <a:fillRect/>
          </a:stretch>
        </p:blipFill>
        <p:spPr>
          <a:xfrm>
            <a:off x="661318" y="4230588"/>
            <a:ext cx="151805" cy="121444"/>
          </a:xfrm>
          <a:prstGeom prst="rect">
            <a:avLst/>
          </a:prstGeom>
        </p:spPr>
      </p:pic>
      <p:sp>
        <p:nvSpPr>
          <p:cNvPr id="20" name="Text 13"/>
          <p:cNvSpPr/>
          <p:nvPr/>
        </p:nvSpPr>
        <p:spPr>
          <a:xfrm>
            <a:off x="934566" y="4200897"/>
            <a:ext cx="7548116" cy="346323"/>
          </a:xfrm>
          <a:prstGeom prst="rect">
            <a:avLst/>
          </a:prstGeom>
          <a:noFill/>
          <a:ln/>
        </p:spPr>
        <p:txBody>
          <a:bodyPr wrap="square" lIns="0" tIns="0" rIns="0" bIns="0" rtlCol="0" anchor="t">
            <a:normAutofit/>
          </a:bodyPr>
          <a:lstStyle/>
          <a:p>
            <a:pPr marL="0" indent="0" algn="l">
              <a:lnSpc>
                <a:spcPct val="119000"/>
              </a:lnSpc>
              <a:buNone/>
            </a:pPr>
            <a:r>
              <a:rPr lang="en-US" sz="950" b="1" dirty="0">
                <a:solidFill>
                  <a:srgbClr val="000000"/>
                </a:solidFill>
                <a:latin typeface="Source Sans 3" pitchFamily="34" charset="0"/>
                <a:ea typeface="Source Sans 3" pitchFamily="34" charset="-122"/>
                <a:cs typeface="Source Sans 3" pitchFamily="34" charset="-120"/>
              </a:rPr>
              <a:t>Presenter Notes:</a:t>
            </a:r>
            <a:r>
              <a:rPr lang="en-US" sz="950" dirty="0">
                <a:solidFill>
                  <a:srgbClr val="000000"/>
                </a:solidFill>
                <a:latin typeface="Source Sans 3" pitchFamily="34" charset="0"/>
                <a:ea typeface="Source Sans 3" pitchFamily="34" charset="-122"/>
                <a:cs typeface="Source Sans 3" pitchFamily="34" charset="-120"/>
              </a:rPr>
              <a:t> Explain how VMSS is crucial for the frontend's reliability and performance. Highlight the benefits of high availability (no downtime) and autoscaling (handles traffic efficiently without manual intervention). Mention Nginx's role in serving the React app.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405602"/>
            <a:ext cx="5727799" cy="287610"/>
          </a:xfrm>
          <a:prstGeom prst="rect">
            <a:avLst/>
          </a:prstGeom>
          <a:noFill/>
          <a:ln/>
        </p:spPr>
        <p:txBody>
          <a:bodyPr wrap="none" lIns="0" tIns="0" rIns="0" bIns="0" rtlCol="0" anchor="t"/>
          <a:lstStyle/>
          <a:p>
            <a:pPr marL="0" indent="0" algn="l">
              <a:lnSpc>
                <a:spcPct val="104000"/>
              </a:lnSpc>
              <a:buNone/>
            </a:pPr>
            <a:r>
              <a:rPr lang="en-US" sz="2800" b="1" dirty="0">
                <a:solidFill>
                  <a:srgbClr val="000000"/>
                </a:solidFill>
                <a:latin typeface="Times New Roman" panose="02020603050405020304" pitchFamily="18" charset="0"/>
                <a:ea typeface="Montserrat Bold" pitchFamily="34" charset="-122"/>
                <a:cs typeface="Times New Roman" panose="02020603050405020304" pitchFamily="18" charset="0"/>
              </a:rPr>
              <a:t>Backend VM &amp; PM2: The Engine of SmartPG</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539874" y="904128"/>
            <a:ext cx="7953450" cy="351473"/>
          </a:xfrm>
          <a:prstGeom prst="rect">
            <a:avLst/>
          </a:prstGeom>
          <a:noFill/>
          <a:ln/>
        </p:spPr>
        <p:txBody>
          <a:bodyPr wrap="none" lIns="0" tIns="0" rIns="0" bIns="0" rtlCol="0" anchor="t"/>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SmartPG's backend runs on a single, efficient Azure VM, orchestrating microservices through PM2 for robust process management </a:t>
            </a:r>
          </a:p>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and Nginx for intelligent traffic routing.</a:t>
            </a:r>
            <a:endParaRPr lang="en-US" sz="1000" dirty="0">
              <a:latin typeface="Times New Roman" panose="02020603050405020304" pitchFamily="18" charset="0"/>
              <a:cs typeface="Times New Roman" panose="02020603050405020304" pitchFamily="18" charset="0"/>
            </a:endParaRPr>
          </a:p>
        </p:txBody>
      </p:sp>
      <p:sp>
        <p:nvSpPr>
          <p:cNvPr id="4" name="Text 2"/>
          <p:cNvSpPr/>
          <p:nvPr/>
        </p:nvSpPr>
        <p:spPr>
          <a:xfrm>
            <a:off x="500717" y="1311115"/>
            <a:ext cx="7992607" cy="351473"/>
          </a:xfrm>
          <a:prstGeom prst="rect">
            <a:avLst/>
          </a:prstGeom>
          <a:noFill/>
          <a:ln/>
        </p:spPr>
        <p:txBody>
          <a:bodyPr wrap="square" lIns="0" tIns="0" rIns="0" bIns="0" rtlCol="0" anchor="t">
            <a:normAutofit/>
          </a:bodyPr>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Our backend architecture is designed for maintainability and scalability, hosting </a:t>
            </a:r>
            <a:r>
              <a:rPr lang="en-US" sz="1000" b="1" dirty="0">
                <a:solidFill>
                  <a:srgbClr val="3D3838"/>
                </a:solidFill>
                <a:latin typeface="Times New Roman" panose="02020603050405020304" pitchFamily="18" charset="0"/>
                <a:ea typeface="Source Sans 3" pitchFamily="34" charset="-122"/>
                <a:cs typeface="Times New Roman" panose="02020603050405020304" pitchFamily="18" charset="0"/>
              </a:rPr>
              <a:t>five independent microservices</a:t>
            </a: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 on distinct ports, each managed for optimal performance and resilience.</a:t>
            </a:r>
            <a:endParaRPr lang="en-US" sz="10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539874" y="2011828"/>
            <a:ext cx="3554760" cy="2438460"/>
          </a:xfrm>
          <a:prstGeom prst="rect">
            <a:avLst/>
          </a:prstGeom>
        </p:spPr>
      </p:pic>
      <p:sp>
        <p:nvSpPr>
          <p:cNvPr id="7" name="Text 3"/>
          <p:cNvSpPr/>
          <p:nvPr/>
        </p:nvSpPr>
        <p:spPr>
          <a:xfrm>
            <a:off x="5531272" y="1718102"/>
            <a:ext cx="1832521" cy="143768"/>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Times New Roman" panose="02020603050405020304" pitchFamily="18" charset="0"/>
                <a:ea typeface="Montserrat Bold" pitchFamily="34" charset="-122"/>
                <a:cs typeface="Times New Roman" panose="02020603050405020304" pitchFamily="18" charset="0"/>
              </a:rPr>
              <a:t>Key Backend Features:</a:t>
            </a:r>
            <a:endParaRPr lang="en-US" sz="1100" dirty="0">
              <a:latin typeface="Times New Roman" panose="02020603050405020304" pitchFamily="18" charset="0"/>
              <a:cs typeface="Times New Roman" panose="02020603050405020304" pitchFamily="18" charset="0"/>
            </a:endParaRPr>
          </a:p>
        </p:txBody>
      </p:sp>
      <p:sp>
        <p:nvSpPr>
          <p:cNvPr id="8" name="Shape 4"/>
          <p:cNvSpPr/>
          <p:nvPr/>
        </p:nvSpPr>
        <p:spPr>
          <a:xfrm>
            <a:off x="5531272" y="1947223"/>
            <a:ext cx="3077542" cy="583481"/>
          </a:xfrm>
          <a:prstGeom prst="roundRect">
            <a:avLst>
              <a:gd name="adj" fmla="val 11754"/>
            </a:avLst>
          </a:prstGeom>
          <a:solidFill>
            <a:srgbClr val="FFFFFF"/>
          </a:solidFill>
          <a:ln w="14288">
            <a:solidFill>
              <a:srgbClr val="D8D4D4"/>
            </a:solidFill>
            <a:prstDash val="solid"/>
          </a:ln>
        </p:spPr>
        <p:txBody>
          <a:bodyPr/>
          <a:lstStyle/>
          <a:p>
            <a:endParaRPr lang="en-IN" sz="2800">
              <a:latin typeface="Times New Roman" panose="02020603050405020304" pitchFamily="18" charset="0"/>
              <a:cs typeface="Times New Roman" panose="02020603050405020304" pitchFamily="18" charset="0"/>
            </a:endParaRPr>
          </a:p>
        </p:txBody>
      </p:sp>
      <p:sp>
        <p:nvSpPr>
          <p:cNvPr id="9" name="Shape 5"/>
          <p:cNvSpPr/>
          <p:nvPr/>
        </p:nvSpPr>
        <p:spPr>
          <a:xfrm>
            <a:off x="5516984" y="1947223"/>
            <a:ext cx="57150" cy="583481"/>
          </a:xfrm>
          <a:prstGeom prst="roundRect">
            <a:avLst>
              <a:gd name="adj" fmla="val 26572"/>
            </a:avLst>
          </a:prstGeom>
          <a:solidFill>
            <a:srgbClr val="2D2E34"/>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10" name="Text 6"/>
          <p:cNvSpPr/>
          <p:nvPr/>
        </p:nvSpPr>
        <p:spPr>
          <a:xfrm>
            <a:off x="5689625" y="2009656"/>
            <a:ext cx="2185243" cy="143768"/>
          </a:xfrm>
          <a:prstGeom prst="rect">
            <a:avLst/>
          </a:prstGeom>
          <a:noFill/>
          <a:ln/>
        </p:spPr>
        <p:txBody>
          <a:bodyPr wrap="none" lIns="0" tIns="0" rIns="0" bIns="0" rtlCol="0" anchor="t"/>
          <a:lstStyle/>
          <a:p>
            <a:pPr marL="0" indent="0" algn="l">
              <a:lnSpc>
                <a:spcPct val="104000"/>
              </a:lnSpc>
              <a:buNone/>
            </a:pPr>
            <a:r>
              <a:rPr lang="en-US" sz="1100" b="1" dirty="0">
                <a:solidFill>
                  <a:srgbClr val="3D3838"/>
                </a:solidFill>
                <a:latin typeface="Times New Roman" panose="02020603050405020304" pitchFamily="18" charset="0"/>
                <a:ea typeface="Montserrat Bold" pitchFamily="34" charset="-122"/>
                <a:cs typeface="Times New Roman" panose="02020603050405020304" pitchFamily="18" charset="0"/>
              </a:rPr>
              <a:t>Process Monitoring &amp; Health Checks</a:t>
            </a:r>
            <a:endParaRPr lang="en-US" sz="1100" dirty="0">
              <a:latin typeface="Times New Roman" panose="02020603050405020304" pitchFamily="18" charset="0"/>
              <a:cs typeface="Times New Roman" panose="02020603050405020304" pitchFamily="18" charset="0"/>
            </a:endParaRPr>
          </a:p>
        </p:txBody>
      </p:sp>
      <p:sp>
        <p:nvSpPr>
          <p:cNvPr id="11" name="Text 7"/>
          <p:cNvSpPr/>
          <p:nvPr/>
        </p:nvSpPr>
        <p:spPr>
          <a:xfrm>
            <a:off x="5663297" y="2206722"/>
            <a:ext cx="2803699" cy="208733"/>
          </a:xfrm>
          <a:prstGeom prst="rect">
            <a:avLst/>
          </a:prstGeom>
          <a:noFill/>
          <a:ln/>
        </p:spPr>
        <p:txBody>
          <a:bodyPr wrap="none" lIns="0" tIns="0" rIns="0" bIns="0" rtlCol="0" anchor="t"/>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Real-time oversight of all microservice health and</a:t>
            </a:r>
          </a:p>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 performance.</a:t>
            </a:r>
            <a:endParaRPr lang="en-US" sz="1000" dirty="0">
              <a:latin typeface="Times New Roman" panose="02020603050405020304" pitchFamily="18" charset="0"/>
              <a:cs typeface="Times New Roman" panose="02020603050405020304" pitchFamily="18" charset="0"/>
            </a:endParaRPr>
          </a:p>
        </p:txBody>
      </p:sp>
      <p:sp>
        <p:nvSpPr>
          <p:cNvPr id="12" name="Shape 8"/>
          <p:cNvSpPr/>
          <p:nvPr/>
        </p:nvSpPr>
        <p:spPr>
          <a:xfrm>
            <a:off x="5531272" y="2606606"/>
            <a:ext cx="3077542" cy="716310"/>
          </a:xfrm>
          <a:prstGeom prst="roundRect">
            <a:avLst>
              <a:gd name="adj" fmla="val 9574"/>
            </a:avLst>
          </a:prstGeom>
          <a:solidFill>
            <a:srgbClr val="FFFFFF"/>
          </a:solidFill>
          <a:ln w="14288">
            <a:solidFill>
              <a:srgbClr val="D8D4D4"/>
            </a:solidFill>
            <a:prstDash val="solid"/>
          </a:ln>
        </p:spPr>
        <p:txBody>
          <a:bodyPr/>
          <a:lstStyle/>
          <a:p>
            <a:endParaRPr lang="en-IN" sz="2800">
              <a:latin typeface="Times New Roman" panose="02020603050405020304" pitchFamily="18" charset="0"/>
              <a:cs typeface="Times New Roman" panose="02020603050405020304" pitchFamily="18" charset="0"/>
            </a:endParaRPr>
          </a:p>
        </p:txBody>
      </p:sp>
      <p:sp>
        <p:nvSpPr>
          <p:cNvPr id="13" name="Shape 9"/>
          <p:cNvSpPr/>
          <p:nvPr/>
        </p:nvSpPr>
        <p:spPr>
          <a:xfrm>
            <a:off x="5516984" y="2606606"/>
            <a:ext cx="57150" cy="716310"/>
          </a:xfrm>
          <a:prstGeom prst="roundRect">
            <a:avLst>
              <a:gd name="adj" fmla="val 26572"/>
            </a:avLst>
          </a:prstGeom>
          <a:solidFill>
            <a:srgbClr val="2D2E34"/>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14" name="Text 10"/>
          <p:cNvSpPr/>
          <p:nvPr/>
        </p:nvSpPr>
        <p:spPr>
          <a:xfrm>
            <a:off x="5689625" y="2722096"/>
            <a:ext cx="1735931" cy="143768"/>
          </a:xfrm>
          <a:prstGeom prst="rect">
            <a:avLst/>
          </a:prstGeom>
          <a:noFill/>
          <a:ln/>
        </p:spPr>
        <p:txBody>
          <a:bodyPr wrap="none" lIns="0" tIns="0" rIns="0" bIns="0" rtlCol="0" anchor="t"/>
          <a:lstStyle/>
          <a:p>
            <a:pPr marL="0" indent="0" algn="l">
              <a:lnSpc>
                <a:spcPct val="104000"/>
              </a:lnSpc>
              <a:buNone/>
            </a:pPr>
            <a:r>
              <a:rPr lang="en-US" sz="1100" b="1" dirty="0">
                <a:solidFill>
                  <a:srgbClr val="3D3838"/>
                </a:solidFill>
                <a:latin typeface="Times New Roman" panose="02020603050405020304" pitchFamily="18" charset="0"/>
                <a:ea typeface="Montserrat Bold" pitchFamily="34" charset="-122"/>
                <a:cs typeface="Times New Roman" panose="02020603050405020304" pitchFamily="18" charset="0"/>
              </a:rPr>
              <a:t>Automatic Restart on Failure</a:t>
            </a:r>
            <a:endParaRPr lang="en-US" sz="1100" dirty="0">
              <a:latin typeface="Times New Roman" panose="02020603050405020304" pitchFamily="18" charset="0"/>
              <a:cs typeface="Times New Roman" panose="02020603050405020304" pitchFamily="18" charset="0"/>
            </a:endParaRPr>
          </a:p>
        </p:txBody>
      </p:sp>
      <p:sp>
        <p:nvSpPr>
          <p:cNvPr id="15" name="Text 11"/>
          <p:cNvSpPr/>
          <p:nvPr/>
        </p:nvSpPr>
        <p:spPr>
          <a:xfrm>
            <a:off x="5689625" y="2941766"/>
            <a:ext cx="2803699" cy="265658"/>
          </a:xfrm>
          <a:prstGeom prst="rect">
            <a:avLst/>
          </a:prstGeom>
          <a:noFill/>
          <a:ln/>
        </p:spPr>
        <p:txBody>
          <a:bodyPr wrap="square" lIns="0" tIns="0" rIns="0" bIns="0" rtlCol="0" anchor="t">
            <a:noAutofit/>
          </a:bodyPr>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PM2 ensures high availability by instantly restarting crashed processes.</a:t>
            </a:r>
            <a:endParaRPr lang="en-US" sz="1000" dirty="0">
              <a:latin typeface="Times New Roman" panose="02020603050405020304" pitchFamily="18" charset="0"/>
              <a:cs typeface="Times New Roman" panose="02020603050405020304" pitchFamily="18" charset="0"/>
            </a:endParaRPr>
          </a:p>
        </p:txBody>
      </p:sp>
      <p:sp>
        <p:nvSpPr>
          <p:cNvPr id="16" name="Shape 12"/>
          <p:cNvSpPr/>
          <p:nvPr/>
        </p:nvSpPr>
        <p:spPr>
          <a:xfrm>
            <a:off x="5531272" y="3398818"/>
            <a:ext cx="3077542" cy="716310"/>
          </a:xfrm>
          <a:prstGeom prst="roundRect">
            <a:avLst>
              <a:gd name="adj" fmla="val 9574"/>
            </a:avLst>
          </a:prstGeom>
          <a:solidFill>
            <a:srgbClr val="FFFFFF"/>
          </a:solidFill>
          <a:ln w="14288">
            <a:solidFill>
              <a:srgbClr val="D8D4D4"/>
            </a:solidFill>
            <a:prstDash val="solid"/>
          </a:ln>
        </p:spPr>
        <p:txBody>
          <a:bodyPr/>
          <a:lstStyle/>
          <a:p>
            <a:endParaRPr lang="en-IN" sz="2800">
              <a:latin typeface="Times New Roman" panose="02020603050405020304" pitchFamily="18" charset="0"/>
              <a:cs typeface="Times New Roman" panose="02020603050405020304" pitchFamily="18" charset="0"/>
            </a:endParaRPr>
          </a:p>
        </p:txBody>
      </p:sp>
      <p:sp>
        <p:nvSpPr>
          <p:cNvPr id="17" name="Shape 13"/>
          <p:cNvSpPr/>
          <p:nvPr/>
        </p:nvSpPr>
        <p:spPr>
          <a:xfrm>
            <a:off x="5516984" y="3398818"/>
            <a:ext cx="57150" cy="716310"/>
          </a:xfrm>
          <a:prstGeom prst="roundRect">
            <a:avLst>
              <a:gd name="adj" fmla="val 26572"/>
            </a:avLst>
          </a:prstGeom>
          <a:solidFill>
            <a:srgbClr val="2D2E34"/>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18" name="Text 14"/>
          <p:cNvSpPr/>
          <p:nvPr/>
        </p:nvSpPr>
        <p:spPr>
          <a:xfrm>
            <a:off x="5689625" y="3514308"/>
            <a:ext cx="1150441" cy="143768"/>
          </a:xfrm>
          <a:prstGeom prst="rect">
            <a:avLst/>
          </a:prstGeom>
          <a:noFill/>
          <a:ln/>
        </p:spPr>
        <p:txBody>
          <a:bodyPr wrap="none" lIns="0" tIns="0" rIns="0" bIns="0" rtlCol="0" anchor="t"/>
          <a:lstStyle/>
          <a:p>
            <a:pPr marL="0" indent="0" algn="l">
              <a:lnSpc>
                <a:spcPct val="104000"/>
              </a:lnSpc>
              <a:buNone/>
            </a:pPr>
            <a:r>
              <a:rPr lang="en-US" sz="1100" b="1" dirty="0">
                <a:solidFill>
                  <a:srgbClr val="3D3838"/>
                </a:solidFill>
                <a:latin typeface="Times New Roman" panose="02020603050405020304" pitchFamily="18" charset="0"/>
                <a:ea typeface="Montserrat Bold" pitchFamily="34" charset="-122"/>
                <a:cs typeface="Times New Roman" panose="02020603050405020304" pitchFamily="18" charset="0"/>
              </a:rPr>
              <a:t>Load Balancing</a:t>
            </a:r>
            <a:endParaRPr lang="en-US" sz="1100" dirty="0">
              <a:latin typeface="Times New Roman" panose="02020603050405020304" pitchFamily="18" charset="0"/>
              <a:cs typeface="Times New Roman" panose="02020603050405020304" pitchFamily="18" charset="0"/>
            </a:endParaRPr>
          </a:p>
        </p:txBody>
      </p:sp>
      <p:sp>
        <p:nvSpPr>
          <p:cNvPr id="19" name="Text 15"/>
          <p:cNvSpPr/>
          <p:nvPr/>
        </p:nvSpPr>
        <p:spPr>
          <a:xfrm>
            <a:off x="5689625" y="3733979"/>
            <a:ext cx="2803699" cy="265658"/>
          </a:xfrm>
          <a:prstGeom prst="rect">
            <a:avLst/>
          </a:prstGeom>
          <a:noFill/>
          <a:ln/>
        </p:spPr>
        <p:txBody>
          <a:bodyPr wrap="square" lIns="0" tIns="0" rIns="0" bIns="0" rtlCol="0" anchor="t">
            <a:noAutofit/>
          </a:bodyPr>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Efficient distribution of incoming requests across available Node.js processes.</a:t>
            </a:r>
            <a:endParaRPr lang="en-US" sz="1000" dirty="0">
              <a:latin typeface="Times New Roman" panose="02020603050405020304" pitchFamily="18" charset="0"/>
              <a:cs typeface="Times New Roman" panose="02020603050405020304" pitchFamily="18" charset="0"/>
            </a:endParaRPr>
          </a:p>
        </p:txBody>
      </p:sp>
      <p:sp>
        <p:nvSpPr>
          <p:cNvPr id="20" name="Shape 16"/>
          <p:cNvSpPr/>
          <p:nvPr/>
        </p:nvSpPr>
        <p:spPr>
          <a:xfrm>
            <a:off x="5516984" y="4230618"/>
            <a:ext cx="3077542" cy="583481"/>
          </a:xfrm>
          <a:prstGeom prst="roundRect">
            <a:avLst>
              <a:gd name="adj" fmla="val 11754"/>
            </a:avLst>
          </a:prstGeom>
          <a:solidFill>
            <a:srgbClr val="FFFFFF"/>
          </a:solidFill>
          <a:ln w="14288">
            <a:solidFill>
              <a:srgbClr val="D8D4D4"/>
            </a:solidFill>
            <a:prstDash val="solid"/>
          </a:ln>
        </p:spPr>
        <p:txBody>
          <a:bodyPr/>
          <a:lstStyle/>
          <a:p>
            <a:endParaRPr lang="en-IN" sz="2800">
              <a:latin typeface="Times New Roman" panose="02020603050405020304" pitchFamily="18" charset="0"/>
              <a:cs typeface="Times New Roman" panose="02020603050405020304" pitchFamily="18" charset="0"/>
            </a:endParaRPr>
          </a:p>
        </p:txBody>
      </p:sp>
      <p:sp>
        <p:nvSpPr>
          <p:cNvPr id="21" name="Shape 17"/>
          <p:cNvSpPr/>
          <p:nvPr/>
        </p:nvSpPr>
        <p:spPr>
          <a:xfrm>
            <a:off x="5516984" y="4191030"/>
            <a:ext cx="57150" cy="583481"/>
          </a:xfrm>
          <a:prstGeom prst="roundRect">
            <a:avLst>
              <a:gd name="adj" fmla="val 26572"/>
            </a:avLst>
          </a:prstGeom>
          <a:solidFill>
            <a:srgbClr val="2D2E34"/>
          </a:solidFill>
          <a:ln/>
        </p:spPr>
        <p:txBody>
          <a:bodyPr/>
          <a:lstStyle/>
          <a:p>
            <a:endParaRPr lang="en-IN" sz="2800">
              <a:latin typeface="Times New Roman" panose="02020603050405020304" pitchFamily="18" charset="0"/>
              <a:cs typeface="Times New Roman" panose="02020603050405020304" pitchFamily="18" charset="0"/>
            </a:endParaRPr>
          </a:p>
        </p:txBody>
      </p:sp>
      <p:sp>
        <p:nvSpPr>
          <p:cNvPr id="22" name="Text 18"/>
          <p:cNvSpPr/>
          <p:nvPr/>
        </p:nvSpPr>
        <p:spPr>
          <a:xfrm>
            <a:off x="5663297" y="4262914"/>
            <a:ext cx="1150441" cy="143768"/>
          </a:xfrm>
          <a:prstGeom prst="rect">
            <a:avLst/>
          </a:prstGeom>
          <a:noFill/>
          <a:ln/>
        </p:spPr>
        <p:txBody>
          <a:bodyPr wrap="none" lIns="0" tIns="0" rIns="0" bIns="0" rtlCol="0" anchor="t"/>
          <a:lstStyle/>
          <a:p>
            <a:pPr marL="0" indent="0" algn="l">
              <a:lnSpc>
                <a:spcPct val="104000"/>
              </a:lnSpc>
              <a:buNone/>
            </a:pPr>
            <a:r>
              <a:rPr lang="en-US" sz="1100" b="1" dirty="0">
                <a:solidFill>
                  <a:srgbClr val="3D3838"/>
                </a:solidFill>
                <a:latin typeface="Times New Roman" panose="02020603050405020304" pitchFamily="18" charset="0"/>
                <a:ea typeface="Montserrat Bold" pitchFamily="34" charset="-122"/>
                <a:cs typeface="Times New Roman" panose="02020603050405020304" pitchFamily="18" charset="0"/>
              </a:rPr>
              <a:t>Log Aggregation</a:t>
            </a:r>
            <a:endParaRPr lang="en-US" sz="1100" dirty="0">
              <a:latin typeface="Times New Roman" panose="02020603050405020304" pitchFamily="18" charset="0"/>
              <a:cs typeface="Times New Roman" panose="02020603050405020304" pitchFamily="18" charset="0"/>
            </a:endParaRPr>
          </a:p>
        </p:txBody>
      </p:sp>
      <p:sp>
        <p:nvSpPr>
          <p:cNvPr id="23" name="Text 19"/>
          <p:cNvSpPr/>
          <p:nvPr/>
        </p:nvSpPr>
        <p:spPr>
          <a:xfrm>
            <a:off x="5689625" y="4450288"/>
            <a:ext cx="2803699" cy="324223"/>
          </a:xfrm>
          <a:prstGeom prst="rect">
            <a:avLst/>
          </a:prstGeom>
          <a:noFill/>
          <a:ln/>
        </p:spPr>
        <p:txBody>
          <a:bodyPr wrap="none" lIns="0" tIns="0" rIns="0" bIns="0" rtlCol="0" anchor="t"/>
          <a:lstStyle/>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Centralized logging for easier debugging and </a:t>
            </a:r>
          </a:p>
          <a:p>
            <a:pPr marL="0" indent="0" algn="l">
              <a:lnSpc>
                <a:spcPct val="109000"/>
              </a:lnSpc>
              <a:buNone/>
            </a:pPr>
            <a:r>
              <a:rPr lang="en-US" sz="1000" dirty="0">
                <a:solidFill>
                  <a:srgbClr val="3D3838"/>
                </a:solidFill>
                <a:latin typeface="Times New Roman" panose="02020603050405020304" pitchFamily="18" charset="0"/>
                <a:ea typeface="Source Sans 3" pitchFamily="34" charset="-122"/>
                <a:cs typeface="Times New Roman" panose="02020603050405020304" pitchFamily="18" charset="0"/>
              </a:rPr>
              <a:t>operational insights.</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269900" y="185589"/>
            <a:ext cx="3820641" cy="172492"/>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Azure Cosmos DB: Secure &amp; Scalable Database</a:t>
            </a:r>
            <a:endParaRPr lang="en-US" sz="1600" dirty="0"/>
          </a:p>
        </p:txBody>
      </p:sp>
      <p:pic>
        <p:nvPicPr>
          <p:cNvPr id="4" name="Image 0" descr="preencoded.png"/>
          <p:cNvPicPr>
            <a:picLocks noChangeAspect="1"/>
          </p:cNvPicPr>
          <p:nvPr/>
        </p:nvPicPr>
        <p:blipFill>
          <a:blip r:embed="rId3"/>
          <a:stretch>
            <a:fillRect/>
          </a:stretch>
        </p:blipFill>
        <p:spPr>
          <a:xfrm>
            <a:off x="269900" y="409899"/>
            <a:ext cx="7513930" cy="3119661"/>
          </a:xfrm>
          <a:prstGeom prst="rect">
            <a:avLst/>
          </a:prstGeom>
        </p:spPr>
      </p:pic>
      <p:sp>
        <p:nvSpPr>
          <p:cNvPr id="6" name="Text 2"/>
          <p:cNvSpPr/>
          <p:nvPr/>
        </p:nvSpPr>
        <p:spPr>
          <a:xfrm>
            <a:off x="349672" y="3530532"/>
            <a:ext cx="1205731" cy="86320"/>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Montserrat Bold" pitchFamily="34" charset="0"/>
                <a:ea typeface="Montserrat Bold" pitchFamily="34" charset="-122"/>
                <a:cs typeface="Montserrat Bold" pitchFamily="34" charset="-120"/>
              </a:rPr>
              <a:t>Cosmos DB Features</a:t>
            </a:r>
            <a:endParaRPr lang="en-US" sz="1050" dirty="0"/>
          </a:p>
        </p:txBody>
      </p:sp>
      <p:sp>
        <p:nvSpPr>
          <p:cNvPr id="8" name="Text 4"/>
          <p:cNvSpPr/>
          <p:nvPr/>
        </p:nvSpPr>
        <p:spPr>
          <a:xfrm>
            <a:off x="349672" y="3780459"/>
            <a:ext cx="4148286" cy="216202"/>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Mongo API:</a:t>
            </a:r>
            <a:r>
              <a:rPr lang="en-US" sz="1050" dirty="0">
                <a:solidFill>
                  <a:srgbClr val="3D3838"/>
                </a:solidFill>
                <a:latin typeface="Source Sans 3" pitchFamily="34" charset="0"/>
                <a:ea typeface="Source Sans 3" pitchFamily="34" charset="-122"/>
                <a:cs typeface="Source Sans 3" pitchFamily="34" charset="-120"/>
              </a:rPr>
              <a:t> MongoDB-compatible interface for seamless integration.</a:t>
            </a:r>
            <a:endParaRPr lang="en-US" sz="1050" dirty="0"/>
          </a:p>
        </p:txBody>
      </p:sp>
      <p:sp>
        <p:nvSpPr>
          <p:cNvPr id="10" name="Text 6"/>
          <p:cNvSpPr/>
          <p:nvPr/>
        </p:nvSpPr>
        <p:spPr>
          <a:xfrm>
            <a:off x="349672" y="3967290"/>
            <a:ext cx="4148286" cy="14999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Serverless Database:</a:t>
            </a:r>
            <a:r>
              <a:rPr lang="en-US" sz="1050" dirty="0">
                <a:solidFill>
                  <a:srgbClr val="3D3838"/>
                </a:solidFill>
                <a:latin typeface="Source Sans 3" pitchFamily="34" charset="0"/>
                <a:ea typeface="Source Sans 3" pitchFamily="34" charset="-122"/>
                <a:cs typeface="Source Sans 3" pitchFamily="34" charset="-120"/>
              </a:rPr>
              <a:t> Pay-per-request pricing model for cost efficiency.</a:t>
            </a:r>
            <a:endParaRPr lang="en-US" sz="1050" dirty="0"/>
          </a:p>
        </p:txBody>
      </p:sp>
      <p:sp>
        <p:nvSpPr>
          <p:cNvPr id="12" name="Text 8"/>
          <p:cNvSpPr/>
          <p:nvPr/>
        </p:nvSpPr>
        <p:spPr>
          <a:xfrm>
            <a:off x="349672" y="4171905"/>
            <a:ext cx="4148286" cy="26409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Private Endpoint Integration:</a:t>
            </a:r>
            <a:r>
              <a:rPr lang="en-US" sz="1050" dirty="0">
                <a:solidFill>
                  <a:srgbClr val="3D3838"/>
                </a:solidFill>
                <a:latin typeface="Source Sans 3" pitchFamily="34" charset="0"/>
                <a:ea typeface="Source Sans 3" pitchFamily="34" charset="-122"/>
                <a:cs typeface="Source Sans 3" pitchFamily="34" charset="-120"/>
              </a:rPr>
              <a:t> Database accessible only from </a:t>
            </a:r>
          </a:p>
          <a:p>
            <a:pPr marL="0" indent="0" algn="l">
              <a:lnSpc>
                <a:spcPct val="91000"/>
              </a:lnSpc>
              <a:buNone/>
            </a:pPr>
            <a:r>
              <a:rPr lang="en-US" sz="1050" dirty="0">
                <a:solidFill>
                  <a:srgbClr val="3D3838"/>
                </a:solidFill>
                <a:latin typeface="Source Sans 3" pitchFamily="34" charset="0"/>
                <a:ea typeface="Source Sans 3" pitchFamily="34" charset="-122"/>
                <a:cs typeface="Source Sans 3" pitchFamily="34" charset="-120"/>
              </a:rPr>
              <a:t>the Virtual Network.</a:t>
            </a:r>
            <a:endParaRPr lang="en-US" sz="1050" dirty="0"/>
          </a:p>
        </p:txBody>
      </p:sp>
      <p:sp>
        <p:nvSpPr>
          <p:cNvPr id="14" name="Text 10"/>
          <p:cNvSpPr/>
          <p:nvPr/>
        </p:nvSpPr>
        <p:spPr>
          <a:xfrm>
            <a:off x="330622" y="4539100"/>
            <a:ext cx="4148286" cy="26409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No Public Exposure:</a:t>
            </a:r>
            <a:r>
              <a:rPr lang="en-US" sz="1050" dirty="0">
                <a:solidFill>
                  <a:srgbClr val="3D3838"/>
                </a:solidFill>
                <a:latin typeface="Source Sans 3" pitchFamily="34" charset="0"/>
                <a:ea typeface="Source Sans 3" pitchFamily="34" charset="-122"/>
                <a:cs typeface="Source Sans 3" pitchFamily="34" charset="-120"/>
              </a:rPr>
              <a:t> Enhanced security posture by eliminating </a:t>
            </a:r>
          </a:p>
          <a:p>
            <a:pPr marL="0" indent="0" algn="l">
              <a:lnSpc>
                <a:spcPct val="91000"/>
              </a:lnSpc>
              <a:buNone/>
            </a:pPr>
            <a:r>
              <a:rPr lang="en-US" sz="1050" dirty="0">
                <a:solidFill>
                  <a:srgbClr val="3D3838"/>
                </a:solidFill>
                <a:latin typeface="Source Sans 3" pitchFamily="34" charset="0"/>
                <a:ea typeface="Source Sans 3" pitchFamily="34" charset="-122"/>
                <a:cs typeface="Source Sans 3" pitchFamily="34" charset="-120"/>
              </a:rPr>
              <a:t>public internet access.</a:t>
            </a:r>
            <a:endParaRPr lang="en-US" sz="1050" dirty="0"/>
          </a:p>
        </p:txBody>
      </p:sp>
      <p:sp>
        <p:nvSpPr>
          <p:cNvPr id="15" name="Text 11"/>
          <p:cNvSpPr/>
          <p:nvPr/>
        </p:nvSpPr>
        <p:spPr>
          <a:xfrm>
            <a:off x="4730576" y="3530532"/>
            <a:ext cx="1147465" cy="86320"/>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Montserrat Bold" pitchFamily="34" charset="0"/>
                <a:ea typeface="Montserrat Bold" pitchFamily="34" charset="-122"/>
                <a:cs typeface="Montserrat Bold" pitchFamily="34" charset="-120"/>
              </a:rPr>
              <a:t>Security Benefits</a:t>
            </a:r>
            <a:endParaRPr lang="en-US" sz="1050" dirty="0"/>
          </a:p>
        </p:txBody>
      </p:sp>
      <p:sp>
        <p:nvSpPr>
          <p:cNvPr id="17" name="Text 13"/>
          <p:cNvSpPr/>
          <p:nvPr/>
        </p:nvSpPr>
        <p:spPr>
          <a:xfrm>
            <a:off x="4730576" y="3771767"/>
            <a:ext cx="4148286" cy="6600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Network Isolation:</a:t>
            </a:r>
            <a:r>
              <a:rPr lang="en-US" sz="1050" dirty="0">
                <a:solidFill>
                  <a:srgbClr val="3D3838"/>
                </a:solidFill>
                <a:latin typeface="Source Sans 3" pitchFamily="34" charset="0"/>
                <a:ea typeface="Source Sans 3" pitchFamily="34" charset="-122"/>
                <a:cs typeface="Source Sans 3" pitchFamily="34" charset="-120"/>
              </a:rPr>
              <a:t> Database traffic never traverses the public internet.</a:t>
            </a:r>
            <a:endParaRPr lang="en-US" sz="1050" dirty="0"/>
          </a:p>
        </p:txBody>
      </p:sp>
      <p:sp>
        <p:nvSpPr>
          <p:cNvPr id="19" name="Text 15"/>
          <p:cNvSpPr/>
          <p:nvPr/>
        </p:nvSpPr>
        <p:spPr>
          <a:xfrm>
            <a:off x="4730576" y="3976282"/>
            <a:ext cx="4148286" cy="6600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Private Connectivity:</a:t>
            </a:r>
            <a:r>
              <a:rPr lang="en-US" sz="1050" dirty="0">
                <a:solidFill>
                  <a:srgbClr val="3D3838"/>
                </a:solidFill>
                <a:latin typeface="Source Sans 3" pitchFamily="34" charset="0"/>
                <a:ea typeface="Source Sans 3" pitchFamily="34" charset="-122"/>
                <a:cs typeface="Source Sans 3" pitchFamily="34" charset="-120"/>
              </a:rPr>
              <a:t> Direct, secure connection within Azure VNet.</a:t>
            </a:r>
            <a:endParaRPr lang="en-US" sz="1050" dirty="0"/>
          </a:p>
        </p:txBody>
      </p:sp>
      <p:sp>
        <p:nvSpPr>
          <p:cNvPr id="21" name="Text 17"/>
          <p:cNvSpPr/>
          <p:nvPr/>
        </p:nvSpPr>
        <p:spPr>
          <a:xfrm>
            <a:off x="4730576" y="4171905"/>
            <a:ext cx="4148286" cy="66005"/>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Firewall Rules:</a:t>
            </a:r>
            <a:r>
              <a:rPr lang="en-US" sz="1050" dirty="0">
                <a:solidFill>
                  <a:srgbClr val="3D3838"/>
                </a:solidFill>
                <a:latin typeface="Source Sans 3" pitchFamily="34" charset="0"/>
                <a:ea typeface="Source Sans 3" pitchFamily="34" charset="-122"/>
                <a:cs typeface="Source Sans 3" pitchFamily="34" charset="-120"/>
              </a:rPr>
              <a:t> Restrict access to authorized subnets and applications only.</a:t>
            </a:r>
            <a:endParaRPr lang="en-US" sz="1050" dirty="0"/>
          </a:p>
        </p:txBody>
      </p:sp>
      <p:sp>
        <p:nvSpPr>
          <p:cNvPr id="23" name="Text 19"/>
          <p:cNvSpPr/>
          <p:nvPr/>
        </p:nvSpPr>
        <p:spPr>
          <a:xfrm>
            <a:off x="4730576" y="4539100"/>
            <a:ext cx="4148286" cy="330100"/>
          </a:xfrm>
          <a:prstGeom prst="rect">
            <a:avLst/>
          </a:prstGeom>
          <a:noFill/>
          <a:ln/>
        </p:spPr>
        <p:txBody>
          <a:bodyPr wrap="none" lIns="0" tIns="0" rIns="0" bIns="0" rtlCol="0" anchor="t"/>
          <a:lstStyle/>
          <a:p>
            <a:pPr marL="0" indent="0" algn="l">
              <a:lnSpc>
                <a:spcPct val="91000"/>
              </a:lnSpc>
              <a:buNone/>
            </a:pPr>
            <a:r>
              <a:rPr lang="en-US" sz="1050" b="1" dirty="0">
                <a:solidFill>
                  <a:srgbClr val="3D3838"/>
                </a:solidFill>
                <a:latin typeface="Source Sans 3" pitchFamily="34" charset="0"/>
                <a:ea typeface="Source Sans 3" pitchFamily="34" charset="-122"/>
                <a:cs typeface="Source Sans 3" pitchFamily="34" charset="-120"/>
              </a:rPr>
              <a:t>Encryption:</a:t>
            </a:r>
            <a:r>
              <a:rPr lang="en-US" sz="1050" dirty="0">
                <a:solidFill>
                  <a:srgbClr val="3D3838"/>
                </a:solidFill>
                <a:latin typeface="Source Sans 3" pitchFamily="34" charset="0"/>
                <a:ea typeface="Source Sans 3" pitchFamily="34" charset="-122"/>
                <a:cs typeface="Source Sans 3" pitchFamily="34" charset="-120"/>
              </a:rPr>
              <a:t> Data protected both in transit and at rest with </a:t>
            </a:r>
          </a:p>
          <a:p>
            <a:pPr marL="0" indent="0" algn="l">
              <a:lnSpc>
                <a:spcPct val="91000"/>
              </a:lnSpc>
              <a:buNone/>
            </a:pPr>
            <a:r>
              <a:rPr lang="en-US" sz="1050" dirty="0">
                <a:solidFill>
                  <a:srgbClr val="3D3838"/>
                </a:solidFill>
                <a:latin typeface="Source Sans 3" pitchFamily="34" charset="0"/>
                <a:ea typeface="Source Sans 3" pitchFamily="34" charset="-122"/>
                <a:cs typeface="Source Sans 3" pitchFamily="34" charset="-120"/>
              </a:rPr>
              <a:t>Azure's robust encryption.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312800"/>
            <a:ext cx="7292950" cy="325934"/>
          </a:xfrm>
          <a:prstGeom prst="rect">
            <a:avLst/>
          </a:prstGeom>
          <a:noFill/>
          <a:ln/>
        </p:spPr>
        <p:txBody>
          <a:bodyPr wrap="none" lIns="0" tIns="0" rIns="0" bIns="0" rtlCol="0" anchor="t"/>
          <a:lstStyle/>
          <a:p>
            <a:pPr marL="0" indent="0" algn="l">
              <a:lnSpc>
                <a:spcPct val="104000"/>
              </a:lnSpc>
              <a:buNone/>
            </a:pPr>
            <a:r>
              <a:rPr lang="en-US" sz="2000" b="1" dirty="0">
                <a:solidFill>
                  <a:srgbClr val="000000"/>
                </a:solidFill>
                <a:latin typeface="Times New Roman" panose="02020603050405020304" pitchFamily="18" charset="0"/>
                <a:ea typeface="Montserrat Bold" pitchFamily="34" charset="-122"/>
                <a:cs typeface="Times New Roman" panose="02020603050405020304" pitchFamily="18" charset="0"/>
              </a:rPr>
              <a:t>Database Design — MongoDB + Azure Cosmos DB</a:t>
            </a:r>
            <a:endParaRPr lang="en-US" sz="2000" dirty="0">
              <a:latin typeface="Times New Roman" panose="02020603050405020304" pitchFamily="18" charset="0"/>
              <a:cs typeface="Times New Roman" panose="02020603050405020304" pitchFamily="18" charset="0"/>
            </a:endParaRPr>
          </a:p>
        </p:txBody>
      </p:sp>
      <p:sp>
        <p:nvSpPr>
          <p:cNvPr id="3" name="Text 1"/>
          <p:cNvSpPr/>
          <p:nvPr/>
        </p:nvSpPr>
        <p:spPr>
          <a:xfrm>
            <a:off x="539874" y="815340"/>
            <a:ext cx="8064252" cy="722129"/>
          </a:xfrm>
          <a:prstGeom prst="rect">
            <a:avLst/>
          </a:prstGeom>
          <a:noFill/>
          <a:ln/>
        </p:spPr>
        <p:txBody>
          <a:bodyPr wrap="square" lIns="0" tIns="0" rIns="0" bIns="0" rtlCol="0" anchor="t">
            <a:noAutofit/>
          </a:bodyPr>
          <a:lstStyle/>
          <a:p>
            <a:pPr marL="0" indent="0" algn="l">
              <a:lnSpc>
                <a:spcPct val="116000"/>
              </a:lnSpc>
              <a:buNone/>
            </a:pP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SmartPG uses a </a:t>
            </a:r>
            <a:r>
              <a:rPr lang="en-US" sz="1200" b="1" dirty="0">
                <a:solidFill>
                  <a:srgbClr val="3D3838"/>
                </a:solidFill>
                <a:latin typeface="Times New Roman" panose="02020603050405020304" pitchFamily="18" charset="0"/>
                <a:ea typeface="Source Sans 3" pitchFamily="34" charset="-122"/>
                <a:cs typeface="Times New Roman" panose="02020603050405020304" pitchFamily="18" charset="0"/>
              </a:rPr>
              <a:t>shared database strategy</a:t>
            </a: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 with Azure Cosmos DB's Mongo API — combining MongoDB's flexible document model with Azure's globally distributed, high-availability infrastructure. All services connect through a </a:t>
            </a:r>
            <a:r>
              <a:rPr lang="en-US" sz="1200" b="1" dirty="0">
                <a:solidFill>
                  <a:srgbClr val="3D3838"/>
                </a:solidFill>
                <a:latin typeface="Times New Roman" panose="02020603050405020304" pitchFamily="18" charset="0"/>
                <a:ea typeface="Source Sans 3" pitchFamily="34" charset="-122"/>
                <a:cs typeface="Times New Roman" panose="02020603050405020304" pitchFamily="18" charset="0"/>
              </a:rPr>
              <a:t>private endpoint</a:t>
            </a:r>
            <a:r>
              <a:rPr lang="en-US" sz="1200" dirty="0">
                <a:solidFill>
                  <a:srgbClr val="3D3838"/>
                </a:solidFill>
                <a:latin typeface="Times New Roman" panose="02020603050405020304" pitchFamily="18" charset="0"/>
                <a:ea typeface="Source Sans 3" pitchFamily="34" charset="-122"/>
                <a:cs typeface="Times New Roman" panose="02020603050405020304" pitchFamily="18" charset="0"/>
              </a:rPr>
              <a:t>, ensuring zero public database exposure.</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457200" y="1647155"/>
            <a:ext cx="4057501" cy="2098997"/>
          </a:xfrm>
          <a:prstGeom prst="roundRect">
            <a:avLst>
              <a:gd name="adj" fmla="val 820"/>
            </a:avLst>
          </a:prstGeom>
          <a:solidFill>
            <a:srgbClr val="2D2E3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571872" y="1744638"/>
            <a:ext cx="1896889" cy="162967"/>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Times New Roman" panose="02020603050405020304" pitchFamily="18" charset="0"/>
                <a:ea typeface="Montserrat Bold" pitchFamily="34" charset="-122"/>
                <a:cs typeface="Times New Roman" panose="02020603050405020304" pitchFamily="18" charset="0"/>
              </a:rPr>
              <a:t>Collections Overview</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571873" y="2191941"/>
            <a:ext cx="3649608" cy="1480616"/>
          </a:xfrm>
          <a:prstGeom prst="rect">
            <a:avLst/>
          </a:prstGeom>
          <a:noFill/>
          <a:ln/>
        </p:spPr>
        <p:txBody>
          <a:bodyPr wrap="square" lIns="0" tIns="0" rIns="0" bIns="0" rtlCol="0" anchor="t">
            <a:noAutofit/>
          </a:bodyPr>
          <a:lstStyle/>
          <a:p>
            <a:pPr marL="342900" indent="-342900" algn="l">
              <a:lnSpc>
                <a:spcPct val="116000"/>
              </a:lnSpc>
              <a:buSzPct val="100000"/>
              <a:buChar char="•"/>
            </a:pPr>
            <a:r>
              <a:rPr lang="en-US" sz="1200" b="1" dirty="0">
                <a:solidFill>
                  <a:srgbClr val="FFFFFF"/>
                </a:solidFill>
                <a:latin typeface="Times New Roman" panose="02020603050405020304" pitchFamily="18" charset="0"/>
                <a:ea typeface="Source Sans 3" pitchFamily="34" charset="-122"/>
                <a:cs typeface="Times New Roman" panose="02020603050405020304" pitchFamily="18" charset="0"/>
              </a:rPr>
              <a:t>tenants</a:t>
            </a:r>
            <a:r>
              <a:rPr lang="en-US" sz="1200" dirty="0">
                <a:solidFill>
                  <a:srgbClr val="FFFFFF"/>
                </a:solidFill>
                <a:latin typeface="Times New Roman" panose="02020603050405020304" pitchFamily="18" charset="0"/>
                <a:ea typeface="Source Sans 3" pitchFamily="34" charset="-122"/>
                <a:cs typeface="Times New Roman" panose="02020603050405020304" pitchFamily="18" charset="0"/>
              </a:rPr>
              <a:t> — Profiles, room assignments, auth records</a:t>
            </a:r>
            <a:endParaRPr lang="en-US" sz="12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200" b="1" dirty="0">
                <a:solidFill>
                  <a:srgbClr val="FFFFFF"/>
                </a:solidFill>
                <a:latin typeface="Times New Roman" panose="02020603050405020304" pitchFamily="18" charset="0"/>
                <a:ea typeface="Source Sans 3" pitchFamily="34" charset="-122"/>
                <a:cs typeface="Times New Roman" panose="02020603050405020304" pitchFamily="18" charset="0"/>
              </a:rPr>
              <a:t>payments</a:t>
            </a:r>
            <a:r>
              <a:rPr lang="en-US" sz="1200" dirty="0">
                <a:solidFill>
                  <a:srgbClr val="FFFFFF"/>
                </a:solidFill>
                <a:latin typeface="Times New Roman" panose="02020603050405020304" pitchFamily="18" charset="0"/>
                <a:ea typeface="Source Sans 3" pitchFamily="34" charset="-122"/>
                <a:cs typeface="Times New Roman" panose="02020603050405020304" pitchFamily="18" charset="0"/>
              </a:rPr>
              <a:t> — Transactions, invoices, payment status</a:t>
            </a:r>
            <a:endParaRPr lang="en-US" sz="12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200" b="1" dirty="0">
                <a:solidFill>
                  <a:srgbClr val="FFFFFF"/>
                </a:solidFill>
                <a:latin typeface="Times New Roman" panose="02020603050405020304" pitchFamily="18" charset="0"/>
                <a:ea typeface="Source Sans 3" pitchFamily="34" charset="-122"/>
                <a:cs typeface="Times New Roman" panose="02020603050405020304" pitchFamily="18" charset="0"/>
              </a:rPr>
              <a:t>menu</a:t>
            </a:r>
            <a:r>
              <a:rPr lang="en-US" sz="1200" dirty="0">
                <a:solidFill>
                  <a:srgbClr val="FFFFFF"/>
                </a:solidFill>
                <a:latin typeface="Times New Roman" panose="02020603050405020304" pitchFamily="18" charset="0"/>
                <a:ea typeface="Source Sans 3" pitchFamily="34" charset="-122"/>
                <a:cs typeface="Times New Roman" panose="02020603050405020304" pitchFamily="18" charset="0"/>
              </a:rPr>
              <a:t> — Daily meals, pricing, availability</a:t>
            </a:r>
            <a:endParaRPr lang="en-US" sz="12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200" b="1" dirty="0">
                <a:solidFill>
                  <a:srgbClr val="FFFFFF"/>
                </a:solidFill>
                <a:latin typeface="Times New Roman" panose="02020603050405020304" pitchFamily="18" charset="0"/>
                <a:ea typeface="Source Sans 3" pitchFamily="34" charset="-122"/>
                <a:cs typeface="Times New Roman" panose="02020603050405020304" pitchFamily="18" charset="0"/>
              </a:rPr>
              <a:t>complaints</a:t>
            </a:r>
            <a:r>
              <a:rPr lang="en-US" sz="1200" dirty="0">
                <a:solidFill>
                  <a:srgbClr val="FFFFFF"/>
                </a:solidFill>
                <a:latin typeface="Times New Roman" panose="02020603050405020304" pitchFamily="18" charset="0"/>
                <a:ea typeface="Source Sans 3" pitchFamily="34" charset="-122"/>
                <a:cs typeface="Times New Roman" panose="02020603050405020304" pitchFamily="18" charset="0"/>
              </a:rPr>
              <a:t> — Tickets, status, resolution notes</a:t>
            </a:r>
            <a:endParaRPr lang="en-US" sz="12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200" b="1" dirty="0">
                <a:solidFill>
                  <a:srgbClr val="FFFFFF"/>
                </a:solidFill>
                <a:latin typeface="Times New Roman" panose="02020603050405020304" pitchFamily="18" charset="0"/>
                <a:ea typeface="Source Sans 3" pitchFamily="34" charset="-122"/>
                <a:cs typeface="Times New Roman" panose="02020603050405020304" pitchFamily="18" charset="0"/>
              </a:rPr>
              <a:t>notifications</a:t>
            </a:r>
            <a:r>
              <a:rPr lang="en-US" sz="1200" dirty="0">
                <a:solidFill>
                  <a:srgbClr val="FFFFFF"/>
                </a:solidFill>
                <a:latin typeface="Times New Roman" panose="02020603050405020304" pitchFamily="18" charset="0"/>
                <a:ea typeface="Source Sans 3" pitchFamily="34" charset="-122"/>
                <a:cs typeface="Times New Roman" panose="02020603050405020304" pitchFamily="18" charset="0"/>
              </a:rPr>
              <a:t> — Alert logs, delivery status</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4716735" y="1744638"/>
            <a:ext cx="2458120" cy="162967"/>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Montserrat Bold" pitchFamily="34" charset="-122"/>
                <a:cs typeface="Times New Roman" panose="02020603050405020304" pitchFamily="18" charset="0"/>
              </a:rPr>
              <a:t>Why Cosmos DB Mongo API?</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716735" y="2191954"/>
            <a:ext cx="3892153" cy="1600945"/>
          </a:xfrm>
          <a:prstGeom prst="rect">
            <a:avLst/>
          </a:prstGeom>
          <a:noFill/>
          <a:ln/>
        </p:spPr>
        <p:txBody>
          <a:bodyPr wrap="square" lIns="0" tIns="0" rIns="0" bIns="0" rtlCol="0" anchor="t">
            <a:noAutofit/>
          </a:bodyPr>
          <a:lstStyle/>
          <a:p>
            <a:pPr marL="342900" indent="-342900" algn="l">
              <a:lnSpc>
                <a:spcPct val="116000"/>
              </a:lnSpc>
              <a:buSzPct val="100000"/>
              <a:buChar char="•"/>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Native MongoDB wire protocol compatibility</a:t>
            </a:r>
            <a:endParaRPr lang="en-US" sz="14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Automatic multi-region replication</a:t>
            </a:r>
            <a:endParaRPr lang="en-US" sz="14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99.99% SLA-backed availability</a:t>
            </a:r>
            <a:endParaRPr lang="en-US" sz="14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Private endpoint connectivity — no public IP</a:t>
            </a:r>
            <a:endParaRPr lang="en-US" sz="1400" dirty="0">
              <a:latin typeface="Times New Roman" panose="02020603050405020304" pitchFamily="18" charset="0"/>
              <a:cs typeface="Times New Roman" panose="02020603050405020304" pitchFamily="18" charset="0"/>
            </a:endParaRPr>
          </a:p>
          <a:p>
            <a:pPr marL="342900" indent="-342900" algn="l">
              <a:lnSpc>
                <a:spcPct val="116000"/>
              </a:lnSpc>
              <a:buSzPct val="100000"/>
              <a:buChar char="•"/>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Horizontal scalability without downtime</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655320" y="4290939"/>
            <a:ext cx="7543800" cy="472752"/>
          </a:xfrm>
          <a:prstGeom prst="rect">
            <a:avLst/>
          </a:prstGeom>
          <a:noFill/>
          <a:ln/>
        </p:spPr>
        <p:txBody>
          <a:bodyPr wrap="square" lIns="0" tIns="0" rIns="0" bIns="0" rtlCol="0" anchor="t">
            <a:normAutofit/>
          </a:bodyPr>
          <a:lstStyle/>
          <a:p>
            <a:pPr marL="0" indent="0" algn="l">
              <a:lnSpc>
                <a:spcPct val="116000"/>
              </a:lnSpc>
              <a:buNone/>
            </a:pPr>
            <a:r>
              <a:rPr lang="en-US" sz="1100" dirty="0">
                <a:solidFill>
                  <a:srgbClr val="000000"/>
                </a:solidFill>
                <a:latin typeface="Times New Roman" panose="02020603050405020304" pitchFamily="18" charset="0"/>
                <a:ea typeface="Source Sans 3" pitchFamily="34" charset="-122"/>
                <a:cs typeface="Times New Roman" panose="02020603050405020304" pitchFamily="18" charset="0"/>
              </a:rPr>
              <a:t>All five microservices share a single Cosmos DB instance but operate on isolated collections — balancing simplicity with service boundaries.</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39874" y="2379985"/>
            <a:ext cx="3524994" cy="383456"/>
          </a:xfrm>
          <a:prstGeom prst="rect">
            <a:avLst/>
          </a:prstGeom>
          <a:noFill/>
          <a:ln/>
        </p:spPr>
        <p:txBody>
          <a:bodyPr wrap="none" lIns="0" tIns="0" rIns="0" bIns="0" rtlCol="0" anchor="t"/>
          <a:lstStyle/>
          <a:p>
            <a:pPr marL="0" indent="0" algn="l">
              <a:lnSpc>
                <a:spcPct val="104000"/>
              </a:lnSpc>
              <a:buNone/>
            </a:pPr>
            <a:endParaRPr lang="en-US" sz="2400" dirty="0"/>
          </a:p>
        </p:txBody>
      </p:sp>
      <p:sp>
        <p:nvSpPr>
          <p:cNvPr id="3" name="TextBox 2">
            <a:extLst>
              <a:ext uri="{FF2B5EF4-FFF2-40B4-BE49-F238E27FC236}">
                <a16:creationId xmlns:a16="http://schemas.microsoft.com/office/drawing/2014/main" id="{374D828E-97EA-1BEE-CA75-4E6C09226D75}"/>
              </a:ext>
            </a:extLst>
          </p:cNvPr>
          <p:cNvSpPr txBox="1"/>
          <p:nvPr/>
        </p:nvSpPr>
        <p:spPr>
          <a:xfrm>
            <a:off x="772460" y="1307845"/>
            <a:ext cx="7831666" cy="2215991"/>
          </a:xfrm>
          <a:prstGeom prst="rect">
            <a:avLst/>
          </a:prstGeom>
          <a:noFill/>
        </p:spPr>
        <p:txBody>
          <a:bodyPr wrap="square" rtlCol="0">
            <a:spAutoFit/>
          </a:bodyPr>
          <a:lstStyle/>
          <a:p>
            <a:r>
              <a:rPr lang="en-IN" sz="13800" i="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992</Words>
  <Application>Microsoft Office PowerPoint</Application>
  <PresentationFormat>On-screen Show (16:9)</PresentationFormat>
  <Paragraphs>132</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Montserrat Bold</vt:lpstr>
      <vt:lpstr>Source Sans 3</vt:lpstr>
      <vt:lpstr>Arial</vt:lpstr>
      <vt:lpstr>Aptos Display</vt:lpstr>
      <vt:lpstr>Times New Roman</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Vignesh MacHerla(UST,IN)</cp:lastModifiedBy>
  <cp:revision>2</cp:revision>
  <dcterms:created xsi:type="dcterms:W3CDTF">2026-05-26T05:36:18Z</dcterms:created>
  <dcterms:modified xsi:type="dcterms:W3CDTF">2026-05-26T06:35:22Z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2026-05-26T06:35:22Z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a322dfde-310c-4845-b815-b1df726b5e22</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